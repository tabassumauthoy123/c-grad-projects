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17" r:id="rId1"/>
  </p:sldMasterIdLst>
  <p:notesMasterIdLst>
    <p:notesMasterId r:id="rId17"/>
  </p:notesMasterIdLst>
  <p:sldIdLst>
    <p:sldId id="386" r:id="rId2"/>
    <p:sldId id="389" r:id="rId3"/>
    <p:sldId id="390" r:id="rId4"/>
    <p:sldId id="391" r:id="rId5"/>
    <p:sldId id="392" r:id="rId6"/>
    <p:sldId id="393" r:id="rId7"/>
    <p:sldId id="394" r:id="rId8"/>
    <p:sldId id="395" r:id="rId9"/>
    <p:sldId id="396" r:id="rId10"/>
    <p:sldId id="397" r:id="rId11"/>
    <p:sldId id="398" r:id="rId12"/>
    <p:sldId id="399" r:id="rId13"/>
    <p:sldId id="400" r:id="rId14"/>
    <p:sldId id="401" r:id="rId15"/>
    <p:sldId id="402" r:id="rId1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38DAD"/>
    <a:srgbClr val="3333FF"/>
    <a:srgbClr val="333399"/>
    <a:srgbClr val="B2B2B2"/>
    <a:srgbClr val="800000"/>
    <a:srgbClr val="996600"/>
    <a:srgbClr val="FF9999"/>
    <a:srgbClr val="33CC33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219" autoAdjust="0"/>
    <p:restoredTop sz="94737" autoAdjust="0"/>
  </p:normalViewPr>
  <p:slideViewPr>
    <p:cSldViewPr>
      <p:cViewPr varScale="1">
        <p:scale>
          <a:sx n="70" d="100"/>
          <a:sy n="70" d="100"/>
        </p:scale>
        <p:origin x="1152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214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1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6246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13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71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 dirty="0"/>
          </a:p>
        </p:txBody>
      </p:sp>
      <p:sp>
        <p:nvSpPr>
          <p:cNvPr id="271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Arial" charset="0"/>
              </a:defRPr>
            </a:lvl1pPr>
          </a:lstStyle>
          <a:p>
            <a:pPr>
              <a:defRPr/>
            </a:pPr>
            <a:fld id="{590402D7-0EF5-4A20-A27C-6908679009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11836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63491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 dirty="0">
              <a:latin typeface="Arial" pitchFamily="34" charset="0"/>
            </a:endParaRPr>
          </a:p>
        </p:txBody>
      </p:sp>
      <p:sp>
        <p:nvSpPr>
          <p:cNvPr id="63492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itchFamily="34" charset="0"/>
              </a:defRPr>
            </a:lvl9pPr>
          </a:lstStyle>
          <a:p>
            <a:pPr eaLnBrk="1" hangingPunct="1"/>
            <a:fld id="{626C4B93-EDC4-4CA5-B076-1807B35F35CC}" type="slidenum">
              <a:rPr lang="en-US" altLang="en-US" smtClean="0"/>
              <a:pPr eaLnBrk="1" hangingPunct="1"/>
              <a:t>1</a:t>
            </a:fld>
            <a:endParaRPr lang="en-US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8A000D80-46BA-4A8A-8918-2FB2F353F63C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2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6147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4565514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42DE8AE2-2CCA-4DFC-8336-AF7C3445A475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3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8195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205306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04779F69-E901-4C82-A600-1AF0949EDA9D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4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10243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0273030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063CCEC-7201-4A7B-B07F-10C6AA5B9E4A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5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12291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3991288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B88004EB-DF6E-4D43-930E-D979EADCF67A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7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15363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930467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AF270B35-340B-42B6-ABD2-9ACF4F260C58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8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17411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321847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6A5B6A9E-0D27-4CCB-AD8D-F581724BE74B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9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19459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386999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FEA12472-9863-4C36-8B79-6EBF67004727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10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21507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See pr7-01.cpp</a:t>
            </a:r>
          </a:p>
        </p:txBody>
      </p:sp>
    </p:spTree>
    <p:extLst>
      <p:ext uri="{BB962C8B-B14F-4D97-AF65-F5344CB8AC3E}">
        <p14:creationId xmlns:p14="http://schemas.microsoft.com/office/powerpoint/2010/main" val="19322508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11684867-BA5E-40C9-89A2-BC80EE7E738E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11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23555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26891380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3C27ADF-FCBB-4831-ABF7-BA81D0763C50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12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25603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 smtClean="0">
                <a:latin typeface="Times New Roman" panose="02020603050405020304" pitchFamily="18" charset="0"/>
                <a:ea typeface="ＭＳ Ｐゴシック" panose="020B0600070205080204" pitchFamily="34" charset="-128"/>
              </a:rPr>
              <a:t> See pr7-04.cpp and pr7-05.cpp</a:t>
            </a:r>
          </a:p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72058170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D5B01220-64F8-41B7-B89C-2B1516902F8E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13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27651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2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1054626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</a:pPr>
            <a:fld id="{71551E1C-A9B9-4C2B-B3C9-73E0CFB545D6}" type="slidenum">
              <a:rPr lang="en-US" altLang="en-US" smtClean="0">
                <a:latin typeface="Courier New" panose="02070309020205020404" pitchFamily="49" charset="0"/>
              </a:rPr>
              <a:pPr>
                <a:spcBef>
                  <a:spcPct val="0"/>
                </a:spcBef>
              </a:pPr>
              <a:t>14</a:t>
            </a:fld>
            <a:endParaRPr lang="en-US" altLang="en-US" smtClean="0">
              <a:latin typeface="Courier New" panose="02070309020205020404" pitchFamily="49" charset="0"/>
            </a:endParaRPr>
          </a:p>
        </p:txBody>
      </p:sp>
      <p:sp>
        <p:nvSpPr>
          <p:cNvPr id="29699" name="Rectangle 2"/>
          <p:cNvSpPr>
            <a:spLocks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700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9898456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2.png"/><Relationship Id="rId7" Type="http://schemas.openxmlformats.org/officeDocument/2006/relationships/image" Target="../media/image13.jpe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jpe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8500" y="3090672"/>
            <a:ext cx="7747000" cy="377026"/>
          </a:xfrm>
        </p:spPr>
        <p:txBody>
          <a:bodyPr anchor="b"/>
          <a:lstStyle>
            <a:lvl1pPr algn="ctr">
              <a:defRPr sz="2800">
                <a:solidFill>
                  <a:schemeClr val="accent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235962"/>
          </a:xfrm>
        </p:spPr>
        <p:txBody>
          <a:bodyPr/>
          <a:lstStyle>
            <a:lvl1pPr marL="0" indent="0" algn="ctr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11" name="Picture 10" descr="Title_Slide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134" y="254000"/>
            <a:ext cx="8713465" cy="6526752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482340" y="223520"/>
            <a:ext cx="2125980" cy="9855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627124" y="481304"/>
            <a:ext cx="10034016" cy="99113"/>
          </a:xfrm>
          <a:prstGeom prst="rect">
            <a:avLst/>
          </a:prstGeom>
        </p:spPr>
      </p:pic>
      <p:pic>
        <p:nvPicPr>
          <p:cNvPr id="8" name="Picture 7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80" y="6257889"/>
            <a:ext cx="634845" cy="26242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812283" y="4885106"/>
            <a:ext cx="2080291" cy="1926127"/>
          </a:xfrm>
          <a:custGeom>
            <a:avLst/>
            <a:gdLst>
              <a:gd name="connsiteX0" fmla="*/ 0 w 1973580"/>
              <a:gd name="connsiteY0" fmla="*/ 0 h 1389864"/>
              <a:gd name="connsiteX1" fmla="*/ 1973580 w 1973580"/>
              <a:gd name="connsiteY1" fmla="*/ 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0 h 1389864"/>
              <a:gd name="connsiteX1" fmla="*/ 1935480 w 1973580"/>
              <a:gd name="connsiteY1" fmla="*/ 60960 h 1389864"/>
              <a:gd name="connsiteX2" fmla="*/ 1973580 w 1973580"/>
              <a:gd name="connsiteY2" fmla="*/ 1389864 h 1389864"/>
              <a:gd name="connsiteX3" fmla="*/ 0 w 1973580"/>
              <a:gd name="connsiteY3" fmla="*/ 1389864 h 1389864"/>
              <a:gd name="connsiteX4" fmla="*/ 0 w 1973580"/>
              <a:gd name="connsiteY4" fmla="*/ 0 h 1389864"/>
              <a:gd name="connsiteX0" fmla="*/ 0 w 1973580"/>
              <a:gd name="connsiteY0" fmla="*/ 54731 h 1444595"/>
              <a:gd name="connsiteX1" fmla="*/ 1577340 w 1973580"/>
              <a:gd name="connsiteY1" fmla="*/ 1391 h 1444595"/>
              <a:gd name="connsiteX2" fmla="*/ 1935480 w 1973580"/>
              <a:gd name="connsiteY2" fmla="*/ 115691 h 1444595"/>
              <a:gd name="connsiteX3" fmla="*/ 1973580 w 1973580"/>
              <a:gd name="connsiteY3" fmla="*/ 1444595 h 1444595"/>
              <a:gd name="connsiteX4" fmla="*/ 0 w 1973580"/>
              <a:gd name="connsiteY4" fmla="*/ 1444595 h 1444595"/>
              <a:gd name="connsiteX5" fmla="*/ 0 w 1973580"/>
              <a:gd name="connsiteY5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0 w 2080291"/>
              <a:gd name="connsiteY6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60960 w 2080291"/>
              <a:gd name="connsiteY6" fmla="*/ 103009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144780 w 2080291"/>
              <a:gd name="connsiteY6" fmla="*/ 999612 h 1444595"/>
              <a:gd name="connsiteX7" fmla="*/ 0 w 2080291"/>
              <a:gd name="connsiteY7" fmla="*/ 54731 h 1444595"/>
              <a:gd name="connsiteX0" fmla="*/ 0 w 2080291"/>
              <a:gd name="connsiteY0" fmla="*/ 54731 h 1444595"/>
              <a:gd name="connsiteX1" fmla="*/ 1577340 w 2080291"/>
              <a:gd name="connsiteY1" fmla="*/ 1391 h 1444595"/>
              <a:gd name="connsiteX2" fmla="*/ 1935480 w 2080291"/>
              <a:gd name="connsiteY2" fmla="*/ 115691 h 1444595"/>
              <a:gd name="connsiteX3" fmla="*/ 2080260 w 2080291"/>
              <a:gd name="connsiteY3" fmla="*/ 428112 h 1444595"/>
              <a:gd name="connsiteX4" fmla="*/ 1973580 w 2080291"/>
              <a:gd name="connsiteY4" fmla="*/ 1444595 h 1444595"/>
              <a:gd name="connsiteX5" fmla="*/ 0 w 2080291"/>
              <a:gd name="connsiteY5" fmla="*/ 1444595 h 1444595"/>
              <a:gd name="connsiteX6" fmla="*/ 99060 w 2080291"/>
              <a:gd name="connsiteY6" fmla="*/ 991992 h 1444595"/>
              <a:gd name="connsiteX7" fmla="*/ 0 w 2080291"/>
              <a:gd name="connsiteY7" fmla="*/ 54731 h 14445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80291" h="1444595">
                <a:moveTo>
                  <a:pt x="0" y="54731"/>
                </a:moveTo>
                <a:cubicBezTo>
                  <a:pt x="520700" y="67431"/>
                  <a:pt x="1056640" y="-11309"/>
                  <a:pt x="1577340" y="1391"/>
                </a:cubicBezTo>
                <a:lnTo>
                  <a:pt x="1935480" y="115691"/>
                </a:lnTo>
                <a:cubicBezTo>
                  <a:pt x="1932940" y="209671"/>
                  <a:pt x="2082800" y="334132"/>
                  <a:pt x="2080260" y="428112"/>
                </a:cubicBezTo>
                <a:lnTo>
                  <a:pt x="1973580" y="1444595"/>
                </a:lnTo>
                <a:lnTo>
                  <a:pt x="0" y="1444595"/>
                </a:lnTo>
                <a:cubicBezTo>
                  <a:pt x="0" y="1319127"/>
                  <a:pt x="99060" y="1117460"/>
                  <a:pt x="99060" y="991992"/>
                </a:cubicBezTo>
                <a:lnTo>
                  <a:pt x="0" y="5473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Picture 9" descr="Audio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5369" y="5389519"/>
            <a:ext cx="987056" cy="1040948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8674488" y="5121741"/>
            <a:ext cx="275507" cy="710099"/>
          </a:xfrm>
          <a:prstGeom prst="rect">
            <a:avLst/>
          </a:prstGeom>
        </p:spPr>
      </p:pic>
      <p:pic>
        <p:nvPicPr>
          <p:cNvPr id="13" name="Picture 12" descr="Swirl_3.png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88654">
            <a:off x="7441068" y="6393019"/>
            <a:ext cx="386047" cy="285072"/>
          </a:xfrm>
          <a:prstGeom prst="rect">
            <a:avLst/>
          </a:prstGeom>
        </p:spPr>
      </p:pic>
      <p:pic>
        <p:nvPicPr>
          <p:cNvPr id="14" name="Picture 13" descr="Swirl_3.png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073124">
            <a:off x="7908376" y="5449329"/>
            <a:ext cx="591497" cy="245691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39373" y="5831840"/>
            <a:ext cx="672857" cy="745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15924" y="6222910"/>
            <a:ext cx="64008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dirty="0">
                <a:solidFill>
                  <a:schemeClr val="accent2"/>
                </a:solidFill>
              </a:rPr>
              <a:t>C++ Programming: From Problem Analysis to Program Design, Eighth</a:t>
            </a:r>
            <a:r>
              <a:rPr lang="en-US" sz="900" baseline="0" dirty="0">
                <a:solidFill>
                  <a:schemeClr val="accent2"/>
                </a:solidFill>
              </a:rPr>
              <a:t> </a:t>
            </a:r>
            <a:r>
              <a:rPr lang="en-US" sz="900" dirty="0">
                <a:solidFill>
                  <a:schemeClr val="accent2"/>
                </a:solidFill>
              </a:rPr>
              <a:t>Edition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1015922" y="6456817"/>
            <a:ext cx="6399830" cy="366183"/>
          </a:xfrm>
        </p:spPr>
        <p:txBody>
          <a:bodyPr/>
          <a:lstStyle>
            <a:lvl1pPr>
              <a:defRPr sz="600"/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5940843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41600" y="2228188"/>
            <a:ext cx="6172200" cy="377026"/>
          </a:xfrm>
        </p:spPr>
        <p:txBody>
          <a:bodyPr anchor="ctr"/>
          <a:lstStyle>
            <a:lvl1pPr algn="l">
              <a:defRPr sz="2800" b="0" cap="none" baseline="0">
                <a:solidFill>
                  <a:srgbClr val="055C9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41600" y="2942670"/>
            <a:ext cx="6172200" cy="265457"/>
          </a:xfrm>
        </p:spPr>
        <p:txBody>
          <a:bodyPr anchor="t"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CL_Logo_DRAWN.png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6" name="Picture 5" descr="Rules_Single_A.png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pic>
        <p:nvPicPr>
          <p:cNvPr id="4" name="Picture 3" descr="Audio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7" y="361953"/>
            <a:ext cx="1840495" cy="1940983"/>
          </a:xfrm>
          <a:prstGeom prst="rect">
            <a:avLst/>
          </a:prstGeom>
        </p:spPr>
      </p:pic>
      <p:pic>
        <p:nvPicPr>
          <p:cNvPr id="11" name="Picture 10" descr="Swirl_3.png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569126">
            <a:off x="1431691" y="1916271"/>
            <a:ext cx="908570" cy="670924"/>
          </a:xfrm>
          <a:prstGeom prst="rect">
            <a:avLst/>
          </a:prstGeom>
        </p:spPr>
      </p:pic>
      <p:pic>
        <p:nvPicPr>
          <p:cNvPr id="12" name="Picture 11" descr="Swirl_2.png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873741" flipH="1">
            <a:off x="218018" y="3551101"/>
            <a:ext cx="795867" cy="83325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879649" y="2604920"/>
            <a:ext cx="1101550" cy="1221097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0704" y="4534755"/>
            <a:ext cx="596838" cy="795784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476" r="23794"/>
          <a:stretch/>
        </p:blipFill>
        <p:spPr>
          <a:xfrm>
            <a:off x="737542" y="4804753"/>
            <a:ext cx="252342" cy="650393"/>
          </a:xfrm>
          <a:prstGeom prst="rect">
            <a:avLst/>
          </a:prstGeom>
        </p:spPr>
      </p:pic>
      <p:sp>
        <p:nvSpPr>
          <p:cNvPr id="7" name="Footer Placeholder 6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7067353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0246106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Split Content with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9" name="Content Placeholder 2"/>
          <p:cNvSpPr>
            <a:spLocks noGrp="1"/>
          </p:cNvSpPr>
          <p:nvPr>
            <p:ph idx="11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5330531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sp>
        <p:nvSpPr>
          <p:cNvPr id="9" name="Content Placeholder 2"/>
          <p:cNvSpPr>
            <a:spLocks noGrp="1"/>
          </p:cNvSpPr>
          <p:nvPr>
            <p:ph idx="12"/>
          </p:nvPr>
        </p:nvSpPr>
        <p:spPr>
          <a:xfrm>
            <a:off x="365125" y="3997249"/>
            <a:ext cx="8415338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849045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Fig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5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1066800" y="5102423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4153932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4"/>
          <p:cNvSpPr>
            <a:spLocks noGrp="1"/>
          </p:cNvSpPr>
          <p:nvPr>
            <p:ph type="body" sz="quarter" idx="11" hasCustomPrompt="1"/>
          </p:nvPr>
        </p:nvSpPr>
        <p:spPr>
          <a:xfrm>
            <a:off x="990600" y="1340048"/>
            <a:ext cx="6949440" cy="297004"/>
          </a:xfrm>
        </p:spPr>
        <p:txBody>
          <a:bodyPr lIns="45720" tIns="45720" rIns="45720" bIns="45720"/>
          <a:lstStyle>
            <a:lvl1pPr marL="0" indent="0">
              <a:buNone/>
              <a:defRPr sz="1400" b="0" baseline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&lt;TABLE #-# apply bold&gt; &lt;Table title normal&gt;</a:t>
            </a:r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2287905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Conten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125" y="1538818"/>
            <a:ext cx="3673475" cy="1412951"/>
          </a:xfrm>
        </p:spPr>
        <p:txBody>
          <a:bodyPr/>
          <a:lstStyle>
            <a:lvl1pPr marL="171450" indent="-171450"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Picture 6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17" name="Picture 16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18" name="Picture 17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11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4572000" y="5722796"/>
            <a:ext cx="4114800" cy="297004"/>
          </a:xfrm>
        </p:spPr>
        <p:txBody>
          <a:bodyPr lIns="91440" tIns="45720" rIns="91440" bIns="45720"/>
          <a:lstStyle>
            <a:lvl1pPr marL="0" indent="0">
              <a:buNone/>
              <a:defRPr sz="1400" b="0">
                <a:solidFill>
                  <a:srgbClr val="6A6466"/>
                </a:solidFill>
              </a:defRPr>
            </a:lvl1pPr>
          </a:lstStyle>
          <a:p>
            <a:pPr lvl="0"/>
            <a:r>
              <a:rPr lang="en-US" dirty="0"/>
              <a:t>&lt;FIGURE #-# apply bold&gt; &lt;Figure caption text normal&gt;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239122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406258"/>
            <a:ext cx="8026400" cy="2962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pic>
        <p:nvPicPr>
          <p:cNvPr id="8" name="Picture 7" descr="Rules_Single_B.png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4003" r="10006"/>
          <a:stretch/>
        </p:blipFill>
        <p:spPr>
          <a:xfrm>
            <a:off x="215900" y="948267"/>
            <a:ext cx="8586216" cy="44704"/>
          </a:xfrm>
          <a:prstGeom prst="rect">
            <a:avLst/>
          </a:prstGeom>
        </p:spPr>
      </p:pic>
      <p:pic>
        <p:nvPicPr>
          <p:cNvPr id="14" name="Picture 13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69" t="13753" r="6579" b="12460"/>
          <a:stretch/>
        </p:blipFill>
        <p:spPr>
          <a:xfrm>
            <a:off x="79668" y="222263"/>
            <a:ext cx="628992" cy="697255"/>
          </a:xfrm>
          <a:prstGeom prst="rect">
            <a:avLst/>
          </a:prstGeom>
        </p:spPr>
      </p:pic>
      <p:pic>
        <p:nvPicPr>
          <p:cNvPr id="21" name="Picture 20" descr="CL_Logo_DRAWN.png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2089" y="6236387"/>
            <a:ext cx="1215590" cy="502487"/>
          </a:xfrm>
          <a:prstGeom prst="rect">
            <a:avLst/>
          </a:prstGeom>
        </p:spPr>
      </p:pic>
      <p:pic>
        <p:nvPicPr>
          <p:cNvPr id="22" name="Picture 21" descr="Rules_Single_A.png"/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529" r="-57141"/>
          <a:stretch/>
        </p:blipFill>
        <p:spPr>
          <a:xfrm>
            <a:off x="1597682" y="6487629"/>
            <a:ext cx="11423745" cy="90835"/>
          </a:xfrm>
          <a:prstGeom prst="rect">
            <a:avLst/>
          </a:prstGeom>
        </p:spPr>
      </p:pic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>
          <a:xfrm>
            <a:off x="1597682" y="6578465"/>
            <a:ext cx="6781693" cy="244535"/>
          </a:xfrm>
        </p:spPr>
        <p:txBody>
          <a:bodyPr/>
          <a:lstStyle>
            <a:lvl1pPr>
              <a:defRPr sz="600"/>
            </a:lvl1pPr>
          </a:lstStyle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13363938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</p:spTree>
    <p:extLst>
      <p:ext uri="{BB962C8B-B14F-4D97-AF65-F5344CB8AC3E}">
        <p14:creationId xmlns:p14="http://schemas.microsoft.com/office/powerpoint/2010/main" val="36470330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65125" y="480785"/>
            <a:ext cx="8415338" cy="296235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5125" y="1538818"/>
            <a:ext cx="8415338" cy="141295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1014984" y="6455663"/>
            <a:ext cx="6400800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© 2018 Cengage Learning. All Rights Reserved. May not be copied, scanned, or duplicated, in whole or in part, except for use as permitted in a license distributed with a certain product or service or otherwise on a password-protected website for classroom</a:t>
            </a:r>
          </a:p>
        </p:txBody>
      </p:sp>
      <p:sp>
        <p:nvSpPr>
          <p:cNvPr id="7" name="Slide Number Placeholder 5"/>
          <p:cNvSpPr txBox="1">
            <a:spLocks/>
          </p:cNvSpPr>
          <p:nvPr/>
        </p:nvSpPr>
        <p:spPr>
          <a:xfrm>
            <a:off x="8376166" y="6513743"/>
            <a:ext cx="312906" cy="215444"/>
          </a:xfrm>
          <a:prstGeom prst="rect">
            <a:avLst/>
          </a:prstGeom>
        </p:spPr>
        <p:txBody>
          <a:bodyPr vert="horz" wrap="none" lIns="91440" tIns="45720" rIns="91440" bIns="45720" rtlCol="0" anchor="ctr">
            <a:sp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8B40067-BD2A-418A-98BB-08A98047DC47}" type="slidenum">
              <a:rPr kumimoji="0" lang="en-US" sz="8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tint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tint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216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8" r:id="rId1"/>
    <p:sldLayoutId id="2147484019" r:id="rId2"/>
    <p:sldLayoutId id="2147484020" r:id="rId3"/>
    <p:sldLayoutId id="2147484021" r:id="rId4"/>
    <p:sldLayoutId id="2147484022" r:id="rId5"/>
    <p:sldLayoutId id="2147484023" r:id="rId6"/>
    <p:sldLayoutId id="2147484024" r:id="rId7"/>
    <p:sldLayoutId id="2147484025" r:id="rId8"/>
    <p:sldLayoutId id="2147484026" r:id="rId9"/>
    <p:sldLayoutId id="2147484027" r:id="rId10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200" kern="1200">
          <a:solidFill>
            <a:schemeClr val="accent2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914400" rtl="0" eaLnBrk="1" latinLnBrk="0" hangingPunct="1">
        <a:lnSpc>
          <a:spcPct val="95000"/>
        </a:lnSpc>
        <a:spcBef>
          <a:spcPts val="12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95000"/>
        </a:lnSpc>
        <a:spcBef>
          <a:spcPts val="600"/>
        </a:spcBef>
        <a:buClr>
          <a:schemeClr val="accent1"/>
        </a:buClr>
        <a:buFont typeface="Arial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71500" indent="-114300" algn="l" defTabSz="914400" rtl="0" eaLnBrk="1" latinLnBrk="0" hangingPunct="1">
        <a:lnSpc>
          <a:spcPct val="95000"/>
        </a:lnSpc>
        <a:spcBef>
          <a:spcPct val="20000"/>
        </a:spcBef>
        <a:buClr>
          <a:schemeClr val="tx1">
            <a:lumMod val="75000"/>
            <a:lumOff val="25000"/>
          </a:schemeClr>
        </a:buClr>
        <a:buFont typeface="Arial" pitchFamily="34" charset="0"/>
        <a:buChar char="-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295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•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14400" indent="-114300" algn="l" defTabSz="914400" rtl="0" eaLnBrk="1" latinLnBrk="0" hangingPunct="1">
        <a:lnSpc>
          <a:spcPct val="95000"/>
        </a:lnSpc>
        <a:spcBef>
          <a:spcPct val="20000"/>
        </a:spcBef>
        <a:buFont typeface="Arial" pitchFamily="34" charset="0"/>
        <a:buChar char="-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ctrTitle"/>
          </p:nvPr>
        </p:nvSpPr>
        <p:spPr>
          <a:xfrm>
            <a:off x="698500" y="3098238"/>
            <a:ext cx="7747000" cy="369460"/>
          </a:xfrm>
        </p:spPr>
        <p:txBody>
          <a:bodyPr/>
          <a:lstStyle/>
          <a:p>
            <a:r>
              <a:rPr lang="en-US" altLang="en-US" dirty="0"/>
              <a:t>Chapter 8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98500" y="3730752"/>
            <a:ext cx="7747000" cy="409343"/>
          </a:xfrm>
        </p:spPr>
        <p:txBody>
          <a:bodyPr/>
          <a:lstStyle/>
          <a:p>
            <a:r>
              <a:rPr lang="en-US" altLang="en-US" sz="2800" dirty="0" smtClean="0">
                <a:solidFill>
                  <a:schemeClr val="tx2"/>
                </a:solidFill>
              </a:rPr>
              <a:t>Introduction to Object Oriented (OO)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590800" y="228600"/>
            <a:ext cx="5943600" cy="914400"/>
          </a:xfrm>
        </p:spPr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Topics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524000"/>
            <a:ext cx="8229600" cy="42672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Object-Oriented Programming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Introduction to Classes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Creating and Using Objects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Defining Member Functions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Constructors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Private Member Functions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dirty="0" smtClean="0">
                <a:ea typeface="ＭＳ Ｐゴシック" panose="020B0600070205080204" pitchFamily="34" charset="-128"/>
              </a:rPr>
              <a:t>Passing Objects to Functions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buFontTx/>
              <a:buNone/>
            </a:pPr>
            <a:endParaRPr lang="en-US" altLang="en-US" dirty="0" smtClean="0"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</a:pPr>
            <a:endParaRPr lang="en-US" altLang="en-US" sz="2400" dirty="0" smtClean="0">
              <a:ea typeface="ＭＳ Ｐゴシック" panose="020B0600070205080204" pitchFamily="34" charset="-128"/>
            </a:endParaRPr>
          </a:p>
        </p:txBody>
      </p:sp>
      <p:sp>
        <p:nvSpPr>
          <p:cNvPr id="51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8167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>
          <a:xfrm>
            <a:off x="1828800" y="228600"/>
            <a:ext cx="7010400" cy="1143000"/>
          </a:xfrm>
        </p:spPr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Object-Oriented Programming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752600"/>
            <a:ext cx="8153400" cy="3570208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en-US" sz="3200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Procedural programming</a:t>
            </a:r>
            <a:r>
              <a:rPr lang="en-US" altLang="en-US" sz="3200" dirty="0" smtClean="0">
                <a:ea typeface="ＭＳ Ｐゴシック" panose="020B0600070205080204" pitchFamily="34" charset="-128"/>
              </a:rPr>
              <a:t> uses variables to store data, and focuses on the processes/ functions that occur in a program.  Data and functions are separate and distinct.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 sz="3200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Object-oriented programming</a:t>
            </a:r>
            <a:r>
              <a:rPr lang="en-US" altLang="en-US" sz="3200" dirty="0" smtClean="0">
                <a:ea typeface="ＭＳ Ｐゴシック" panose="020B0600070205080204" pitchFamily="34" charset="-128"/>
              </a:rPr>
              <a:t> is based on objects that encapsulate the data and the functions that operate with and on the data. </a:t>
            </a:r>
            <a:endParaRPr lang="en-US" altLang="en-US" sz="3200" u="sng" dirty="0" smtClean="0">
              <a:ea typeface="ＭＳ Ｐゴシック" panose="020B0600070205080204" pitchFamily="34" charset="-128"/>
            </a:endParaRPr>
          </a:p>
        </p:txBody>
      </p:sp>
      <p:sp>
        <p:nvSpPr>
          <p:cNvPr id="717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 dirty="0">
                <a:solidFill>
                  <a:schemeClr val="tx1"/>
                </a:solidFill>
              </a:rPr>
              <a:t>7-</a:t>
            </a:r>
            <a:fld id="{8589CC02-8B1D-4D94-9687-64A501BC83FA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en-US" altLang="en-US" sz="1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2002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>
          <a:xfrm>
            <a:off x="762000" y="553261"/>
            <a:ext cx="8026400" cy="290336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Object-Oriented </a:t>
            </a:r>
            <a:r>
              <a:rPr lang="en-US" altLang="en-US" dirty="0" smtClean="0">
                <a:ea typeface="ＭＳ Ｐゴシック" panose="020B0600070205080204" pitchFamily="34" charset="-128"/>
              </a:rPr>
              <a:t>Programming Terminology</a:t>
            </a:r>
            <a:endParaRPr lang="en-US" altLang="en-US" dirty="0" smtClean="0">
              <a:ea typeface="ＭＳ Ｐゴシック" panose="020B0600070205080204" pitchFamily="34" charset="-128"/>
            </a:endParaRP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>
          <a:xfrm>
            <a:off x="546100" y="1371600"/>
            <a:ext cx="8458200" cy="4653582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en-US" sz="3600" b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object</a:t>
            </a:r>
            <a:r>
              <a:rPr lang="en-US" altLang="en-US" sz="3600" dirty="0" smtClean="0">
                <a:ea typeface="ＭＳ Ｐゴシック" panose="020B0600070205080204" pitchFamily="34" charset="-128"/>
              </a:rPr>
              <a:t>: software entity that combines data and functions that act on the data in a single unit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en-US" sz="3600" b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attributes</a:t>
            </a:r>
            <a:r>
              <a:rPr lang="en-US" altLang="en-US" sz="3600" dirty="0" smtClean="0">
                <a:ea typeface="ＭＳ Ｐゴシック" panose="020B0600070205080204" pitchFamily="34" charset="-128"/>
              </a:rPr>
              <a:t>:</a:t>
            </a:r>
            <a:r>
              <a:rPr lang="en-US" altLang="en-US" sz="3600" b="1" dirty="0" smtClean="0">
                <a:ea typeface="ＭＳ Ｐゴシック" panose="020B0600070205080204" pitchFamily="34" charset="-128"/>
              </a:rPr>
              <a:t> </a:t>
            </a:r>
            <a:r>
              <a:rPr lang="en-US" altLang="en-US" sz="3600" dirty="0" smtClean="0">
                <a:ea typeface="ＭＳ Ｐゴシック" panose="020B0600070205080204" pitchFamily="34" charset="-128"/>
              </a:rPr>
              <a:t>the data items of an object, stored in </a:t>
            </a:r>
            <a:r>
              <a:rPr lang="en-US" altLang="en-US" sz="3600" b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member variables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en-US" sz="3600" b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member functions (methods)</a:t>
            </a:r>
            <a:r>
              <a:rPr lang="en-US" altLang="en-US" sz="3600" dirty="0" smtClean="0">
                <a:ea typeface="ＭＳ Ｐゴシック" panose="020B0600070205080204" pitchFamily="34" charset="-128"/>
              </a:rPr>
              <a:t>: procedures/ functions that act on the attributes of the class</a:t>
            </a:r>
            <a:endParaRPr lang="en-US" altLang="en-US" sz="3600" b="1" dirty="0" smtClean="0">
              <a:ea typeface="ＭＳ Ｐゴシック" panose="020B0600070205080204" pitchFamily="34" charset="-128"/>
            </a:endParaRPr>
          </a:p>
        </p:txBody>
      </p:sp>
      <p:sp>
        <p:nvSpPr>
          <p:cNvPr id="922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6A736385-BDB2-4066-B196-3E31EE090530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8301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More Object-Oriented Programming Terminology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9200"/>
            <a:ext cx="8305800" cy="4279987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3600" b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data hiding</a:t>
            </a:r>
            <a:r>
              <a:rPr lang="en-US" altLang="en-US" sz="3600" dirty="0" smtClean="0">
                <a:ea typeface="ＭＳ Ｐゴシック" panose="020B0600070205080204" pitchFamily="34" charset="-128"/>
              </a:rPr>
              <a:t>: restricting data access to certain members of an object.  The intent is to allow only member functions to directly access and modify the object’s data</a:t>
            </a:r>
          </a:p>
          <a:p>
            <a:pPr eaLnBrk="1" hangingPunct="1">
              <a:lnSpc>
                <a:spcPct val="90000"/>
              </a:lnSpc>
              <a:spcBef>
                <a:spcPct val="40000"/>
              </a:spcBef>
            </a:pPr>
            <a:r>
              <a:rPr lang="en-US" altLang="en-US" sz="3600" b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encapsulation</a:t>
            </a:r>
            <a:r>
              <a:rPr lang="en-US" altLang="en-US" sz="3600" dirty="0" smtClean="0">
                <a:ea typeface="ＭＳ Ｐゴシック" panose="020B0600070205080204" pitchFamily="34" charset="-128"/>
              </a:rPr>
              <a:t>: the bundling of an object’s data and procedures into a single entity</a:t>
            </a:r>
          </a:p>
        </p:txBody>
      </p:sp>
      <p:sp>
        <p:nvSpPr>
          <p:cNvPr id="1126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1242B460-BA76-49BA-986E-D125E1F914C5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4429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Object Example</a:t>
            </a:r>
          </a:p>
        </p:txBody>
      </p:sp>
      <p:sp>
        <p:nvSpPr>
          <p:cNvPr id="13315" name="Content Placeholder 2"/>
          <p:cNvSpPr>
            <a:spLocks noGrp="1"/>
          </p:cNvSpPr>
          <p:nvPr>
            <p:ph idx="1"/>
          </p:nvPr>
        </p:nvSpPr>
        <p:spPr>
          <a:xfrm>
            <a:off x="-4114800" y="998538"/>
            <a:ext cx="8229600" cy="3992562"/>
          </a:xfrm>
        </p:spPr>
        <p:txBody>
          <a:bodyPr/>
          <a:lstStyle/>
          <a:p>
            <a:pPr eaLnBrk="1" hangingPunct="1">
              <a:buFontTx/>
              <a:buNone/>
            </a:pPr>
            <a:endParaRPr lang="en-US" altLang="en-US" smtClean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 smtClean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 smtClean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 smtClean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 smtClean="0">
              <a:ea typeface="ＭＳ Ｐゴシック" panose="020B0600070205080204" pitchFamily="34" charset="-128"/>
            </a:endParaRPr>
          </a:p>
          <a:p>
            <a:pPr eaLnBrk="1" hangingPunct="1">
              <a:buFontTx/>
              <a:buNone/>
            </a:pPr>
            <a:endParaRPr lang="en-US" altLang="en-US" smtClean="0">
              <a:ea typeface="ＭＳ Ｐゴシック" panose="020B0600070205080204" pitchFamily="34" charset="-128"/>
            </a:endParaRPr>
          </a:p>
        </p:txBody>
      </p:sp>
      <p:sp>
        <p:nvSpPr>
          <p:cNvPr id="1331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2CE25614-C327-473A-9710-869E3A45BE47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6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3317" name="Rectangle 4"/>
          <p:cNvSpPr>
            <a:spLocks noChangeArrowheads="1"/>
          </p:cNvSpPr>
          <p:nvPr/>
        </p:nvSpPr>
        <p:spPr bwMode="auto">
          <a:xfrm>
            <a:off x="2986088" y="1852613"/>
            <a:ext cx="3657600" cy="2362200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/>
            <a:tailEnd/>
          </a:ln>
        </p:spPr>
        <p:txBody>
          <a:bodyPr wrap="none"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97213" y="2278063"/>
            <a:ext cx="3581400" cy="58477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Member variables (attributes)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       </a:t>
            </a:r>
            <a:r>
              <a:rPr lang="en-US" sz="1600" dirty="0" err="1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 side;</a:t>
            </a:r>
            <a:endParaRPr lang="en-US" sz="1600" dirty="0">
              <a:solidFill>
                <a:srgbClr val="FFFF00"/>
              </a:solidFill>
              <a:latin typeface="+mn-lt"/>
            </a:endParaRPr>
          </a:p>
        </p:txBody>
      </p:sp>
      <p:cxnSp>
        <p:nvCxnSpPr>
          <p:cNvPr id="13319" name="Straight Connector 9"/>
          <p:cNvCxnSpPr>
            <a:cxnSpLocks noChangeShapeType="1"/>
          </p:cNvCxnSpPr>
          <p:nvPr/>
        </p:nvCxnSpPr>
        <p:spPr bwMode="auto">
          <a:xfrm>
            <a:off x="2986088" y="2913063"/>
            <a:ext cx="3657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" name="TextBox 10"/>
          <p:cNvSpPr txBox="1"/>
          <p:nvPr/>
        </p:nvSpPr>
        <p:spPr>
          <a:xfrm>
            <a:off x="3082925" y="3068638"/>
            <a:ext cx="3657600" cy="1323439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1600" dirty="0">
                <a:solidFill>
                  <a:srgbClr val="FFFF00"/>
                </a:solidFill>
                <a:latin typeface="+mn-lt"/>
              </a:rPr>
              <a:t>Member functions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   void </a:t>
            </a:r>
            <a:r>
              <a:rPr lang="en-US" sz="1600" dirty="0" err="1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setSide</a:t>
            </a: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sz="1600" dirty="0" err="1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 s)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   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   </a:t>
            </a:r>
            <a:r>
              <a:rPr lang="en-US" sz="1600" dirty="0" err="1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1600" dirty="0" err="1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getSide</a:t>
            </a: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()</a:t>
            </a:r>
          </a:p>
          <a:p>
            <a:pPr eaLnBrk="1" hangingPunct="1">
              <a:defRPr/>
            </a:pPr>
            <a:r>
              <a:rPr lang="en-US" sz="1600" dirty="0">
                <a:solidFill>
                  <a:srgbClr val="FFFF00"/>
                </a:solidFill>
                <a:latin typeface="Courier New" pitchFamily="49" charset="0"/>
                <a:cs typeface="Courier New" pitchFamily="49" charset="0"/>
              </a:rPr>
              <a:t>   </a:t>
            </a:r>
          </a:p>
        </p:txBody>
      </p:sp>
      <p:sp>
        <p:nvSpPr>
          <p:cNvPr id="13321" name="Rectangle 11"/>
          <p:cNvSpPr>
            <a:spLocks noChangeArrowheads="1"/>
          </p:cNvSpPr>
          <p:nvPr/>
        </p:nvSpPr>
        <p:spPr bwMode="auto">
          <a:xfrm>
            <a:off x="2362200" y="1371600"/>
            <a:ext cx="10668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052888" y="1781175"/>
            <a:ext cx="1447800" cy="4000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rgbClr val="FFFF00"/>
                </a:solidFill>
                <a:latin typeface="+mn-lt"/>
              </a:rPr>
              <a:t>Square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040188"/>
            <a:ext cx="7772400" cy="23082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hangingPunct="1">
              <a:defRPr/>
            </a:pPr>
            <a:endParaRPr lang="en-US" sz="2400" dirty="0">
              <a:latin typeface="+mn-lt"/>
            </a:endParaRPr>
          </a:p>
          <a:p>
            <a:pPr eaLnBrk="1" hangingPunct="1">
              <a:defRPr/>
            </a:pPr>
            <a:r>
              <a:rPr lang="en-US" sz="2400" dirty="0">
                <a:latin typeface="+mn-lt"/>
              </a:rPr>
              <a:t>Square object’s data item:  </a:t>
            </a:r>
            <a:r>
              <a:rPr lang="en-US" sz="2400" b="1" dirty="0">
                <a:latin typeface="Courier New" pitchFamily="49" charset="0"/>
                <a:cs typeface="Courier New" pitchFamily="49" charset="0"/>
              </a:rPr>
              <a:t>side</a:t>
            </a:r>
          </a:p>
          <a:p>
            <a:pPr eaLnBrk="1" hangingPunct="1">
              <a:defRPr/>
            </a:pPr>
            <a:r>
              <a:rPr lang="en-US" sz="2400" dirty="0">
                <a:latin typeface="+mn-lt"/>
              </a:rPr>
              <a:t>Square object’s functions: 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setSide</a:t>
            </a:r>
            <a:r>
              <a:rPr lang="en-US" sz="2400" dirty="0">
                <a:latin typeface="+mn-lt"/>
              </a:rPr>
              <a:t> - set the size of the side of the square,  </a:t>
            </a:r>
            <a:r>
              <a:rPr lang="en-US" sz="2400" b="1" dirty="0" err="1">
                <a:latin typeface="Courier New" pitchFamily="49" charset="0"/>
                <a:cs typeface="Courier New" pitchFamily="49" charset="0"/>
              </a:rPr>
              <a:t>getSide</a:t>
            </a:r>
            <a:r>
              <a:rPr lang="en-US" sz="2400" dirty="0">
                <a:latin typeface="+mn-lt"/>
              </a:rPr>
              <a:t> - return the size of the side of the square</a:t>
            </a:r>
          </a:p>
          <a:p>
            <a:pPr eaLnBrk="1" hangingPunct="1">
              <a:defRPr/>
            </a:pPr>
            <a:endParaRPr lang="en-US" sz="2400" dirty="0">
              <a:latin typeface="+mn-lt"/>
            </a:endParaRPr>
          </a:p>
        </p:txBody>
      </p:sp>
      <p:cxnSp>
        <p:nvCxnSpPr>
          <p:cNvPr id="13324" name="Straight Connector 9"/>
          <p:cNvCxnSpPr>
            <a:cxnSpLocks noChangeShapeType="1"/>
          </p:cNvCxnSpPr>
          <p:nvPr/>
        </p:nvCxnSpPr>
        <p:spPr bwMode="auto">
          <a:xfrm>
            <a:off x="2986088" y="2252663"/>
            <a:ext cx="3657600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</p:spTree>
    <p:extLst>
      <p:ext uri="{BB962C8B-B14F-4D97-AF65-F5344CB8AC3E}">
        <p14:creationId xmlns:p14="http://schemas.microsoft.com/office/powerpoint/2010/main" val="17714846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Introduction to Classes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>
          <a:xfrm>
            <a:off x="685800" y="1447800"/>
            <a:ext cx="7772400" cy="4419600"/>
          </a:xfrm>
        </p:spPr>
        <p:txBody>
          <a:bodyPr/>
          <a:lstStyle/>
          <a:p>
            <a:pPr eaLnBrk="1" hangingPunct="1">
              <a:lnSpc>
                <a:spcPct val="80000"/>
              </a:lnSpc>
              <a:spcBef>
                <a:spcPct val="30000"/>
              </a:spcBef>
            </a:pPr>
            <a:r>
              <a:rPr lang="en-US" altLang="en-US" dirty="0" smtClean="0">
                <a:ea typeface="ＭＳ Ｐゴシック" panose="020B0600070205080204" pitchFamily="34" charset="-128"/>
              </a:rPr>
              <a:t>Class declaration format:</a:t>
            </a:r>
          </a:p>
          <a:p>
            <a:pPr eaLnBrk="1" hangingPunct="1">
              <a:lnSpc>
                <a:spcPct val="80000"/>
              </a:lnSpc>
              <a:buFontTx/>
              <a:buNone/>
            </a:pPr>
            <a:r>
              <a:rPr lang="en-US" altLang="en-US" b="1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    class </a:t>
            </a:r>
            <a:r>
              <a:rPr lang="en-US" altLang="en-US" b="1" i="1" dirty="0" err="1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className</a:t>
            </a:r>
            <a:endParaRPr lang="en-US" altLang="en-US" b="1" dirty="0" smtClean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    {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i="1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       declaration;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i="1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       declaration;</a:t>
            </a:r>
          </a:p>
          <a:p>
            <a:pPr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b="1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    };</a:t>
            </a:r>
            <a:endParaRPr lang="en-US" altLang="en-US" b="1" dirty="0" smtClean="0">
              <a:ea typeface="ＭＳ Ｐゴシック" panose="020B0600070205080204" pitchFamily="34" charset="-128"/>
            </a:endParaRPr>
          </a:p>
        </p:txBody>
      </p:sp>
      <p:sp>
        <p:nvSpPr>
          <p:cNvPr id="1434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5DFE6556-41DC-405E-A738-43B067D1F22B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7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grpSp>
        <p:nvGrpSpPr>
          <p:cNvPr id="14341" name="Group 6"/>
          <p:cNvGrpSpPr>
            <a:grpSpLocks/>
          </p:cNvGrpSpPr>
          <p:nvPr/>
        </p:nvGrpSpPr>
        <p:grpSpPr bwMode="auto">
          <a:xfrm>
            <a:off x="5943600" y="2438400"/>
            <a:ext cx="1600200" cy="1143000"/>
            <a:chOff x="3984" y="2928"/>
            <a:chExt cx="1008" cy="720"/>
          </a:xfrm>
        </p:grpSpPr>
        <p:sp>
          <p:nvSpPr>
            <p:cNvPr id="14343" name="Oval 4"/>
            <p:cNvSpPr>
              <a:spLocks noChangeArrowheads="1"/>
            </p:cNvSpPr>
            <p:nvPr/>
          </p:nvSpPr>
          <p:spPr bwMode="auto">
            <a:xfrm>
              <a:off x="3984" y="2928"/>
              <a:ext cx="1008" cy="720"/>
            </a:xfrm>
            <a:prstGeom prst="ellips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q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–"/>
                <a:defRPr sz="26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solidFill>
                  <a:schemeClr val="tx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4344" name="Text Box 5"/>
            <p:cNvSpPr txBox="1">
              <a:spLocks noChangeArrowheads="1"/>
            </p:cNvSpPr>
            <p:nvPr/>
          </p:nvSpPr>
          <p:spPr bwMode="auto">
            <a:xfrm>
              <a:off x="4032" y="3024"/>
              <a:ext cx="960" cy="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00FF"/>
                </a:buClr>
                <a:buSzPct val="80000"/>
                <a:buFont typeface="Wingdings" panose="05000000000000000000" pitchFamily="2" charset="2"/>
                <a:buChar char="q"/>
                <a:defRPr sz="28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spcBef>
                  <a:spcPct val="20000"/>
                </a:spcBef>
                <a:buClr>
                  <a:srgbClr val="0000FF"/>
                </a:buClr>
                <a:buChar char="–"/>
                <a:defRPr sz="26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spcBef>
                  <a:spcPct val="20000"/>
                </a:spcBef>
                <a:buClr>
                  <a:srgbClr val="0000FF"/>
                </a:buClr>
                <a:buChar char="•"/>
                <a:defRPr sz="24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spcBef>
                  <a:spcPct val="20000"/>
                </a:spcBef>
                <a:buClr>
                  <a:srgbClr val="0000FF"/>
                </a:buClr>
                <a:buChar char="–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spcBef>
                  <a:spcPct val="20000"/>
                </a:spcBef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FF"/>
                </a:buClr>
                <a:buChar char="»"/>
                <a:defRPr sz="2000">
                  <a:solidFill>
                    <a:srgbClr val="000000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en-US" altLang="en-US" sz="2000" b="1">
                  <a:solidFill>
                    <a:schemeClr val="accent2"/>
                  </a:solidFill>
                </a:rPr>
                <a:t>Note the required </a:t>
              </a:r>
              <a:r>
                <a:rPr lang="en-US" altLang="en-US" sz="2400" b="1">
                  <a:solidFill>
                    <a:schemeClr val="accent2"/>
                  </a:solidFill>
                  <a:latin typeface="Courier New" panose="02070309020205020404" pitchFamily="49" charset="0"/>
                </a:rPr>
                <a:t>;</a:t>
              </a:r>
            </a:p>
          </p:txBody>
        </p:sp>
      </p:grpSp>
      <p:sp>
        <p:nvSpPr>
          <p:cNvPr id="14342" name="Line 7"/>
          <p:cNvSpPr>
            <a:spLocks noChangeShapeType="1"/>
          </p:cNvSpPr>
          <p:nvPr/>
        </p:nvSpPr>
        <p:spPr bwMode="auto">
          <a:xfrm flipH="1" flipV="1">
            <a:off x="1752600" y="2971800"/>
            <a:ext cx="4191000" cy="381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38753472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Access Specifiers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371600"/>
            <a:ext cx="8153400" cy="4114800"/>
          </a:xfrm>
        </p:spPr>
        <p:txBody>
          <a:bodyPr/>
          <a:lstStyle/>
          <a:p>
            <a:pPr eaLnBrk="1" hangingPunct="1"/>
            <a:r>
              <a:rPr lang="en-US" altLang="en-US" sz="2800" dirty="0" smtClean="0">
                <a:ea typeface="ＭＳ Ｐゴシック" panose="020B0600070205080204" pitchFamily="34" charset="-128"/>
              </a:rPr>
              <a:t>Used to control access to members of the class.</a:t>
            </a:r>
          </a:p>
          <a:p>
            <a:pPr eaLnBrk="1" hangingPunct="1"/>
            <a:r>
              <a:rPr lang="en-US" altLang="en-US" sz="2800" dirty="0" smtClean="0">
                <a:ea typeface="ＭＳ Ｐゴシック" panose="020B0600070205080204" pitchFamily="34" charset="-128"/>
              </a:rPr>
              <a:t>Each member is declared to be either</a:t>
            </a:r>
          </a:p>
          <a:p>
            <a:pPr lvl="1" eaLnBrk="1" hangingPunct="1">
              <a:buFontTx/>
              <a:buNone/>
            </a:pPr>
            <a:r>
              <a:rPr lang="en-US" altLang="en-US" sz="2800" b="1" dirty="0" smtClean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altLang="en-US" sz="2800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  <a:r>
              <a:rPr lang="en-US" altLang="en-US" sz="2800" dirty="0" smtClean="0">
                <a:ea typeface="ＭＳ Ｐゴシック" panose="020B0600070205080204" pitchFamily="34" charset="-128"/>
              </a:rPr>
              <a:t> can be accessed by functions </a:t>
            </a:r>
          </a:p>
          <a:p>
            <a:pPr lvl="1" eaLnBrk="1" hangingPunct="1">
              <a:lnSpc>
                <a:spcPct val="80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                outside  of the class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 smtClean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private</a:t>
            </a:r>
            <a:r>
              <a:rPr lang="en-US" altLang="en-US" sz="2800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  <a:r>
              <a:rPr lang="en-US" altLang="en-US" sz="2800" dirty="0" smtClean="0">
                <a:ea typeface="ＭＳ Ｐゴシック" panose="020B0600070205080204" pitchFamily="34" charset="-128"/>
              </a:rPr>
              <a:t> can only be called by or accessed 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                  by functions that are members of 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                  the class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r>
              <a:rPr lang="en-US" altLang="en-US" sz="2800" b="1" dirty="0" smtClean="0">
                <a:solidFill>
                  <a:schemeClr val="accent2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protected</a:t>
            </a:r>
            <a:r>
              <a:rPr lang="en-US" altLang="en-US" sz="2800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:</a:t>
            </a:r>
            <a:r>
              <a:rPr lang="en-US" altLang="en-US" sz="2800" dirty="0" smtClean="0">
                <a:ea typeface="ＭＳ Ｐゴシック" panose="020B0600070205080204" pitchFamily="34" charset="-128"/>
              </a:rPr>
              <a:t> accessible from outside the class BUT only in a class derived from it</a:t>
            </a:r>
          </a:p>
          <a:p>
            <a:pPr lvl="1" eaLnBrk="1" hangingPunct="1">
              <a:lnSpc>
                <a:spcPct val="85000"/>
              </a:lnSpc>
              <a:spcBef>
                <a:spcPct val="0"/>
              </a:spcBef>
              <a:buFontTx/>
              <a:buNone/>
            </a:pPr>
            <a:endParaRPr lang="en-US" altLang="en-US" sz="2800" dirty="0" smtClean="0">
              <a:latin typeface="Courier New" panose="02070309020205020404" pitchFamily="49" charset="0"/>
              <a:ea typeface="ＭＳ Ｐゴシック" panose="020B0600070205080204" pitchFamily="34" charset="-128"/>
            </a:endParaRPr>
          </a:p>
        </p:txBody>
      </p:sp>
      <p:sp>
        <p:nvSpPr>
          <p:cNvPr id="1638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A24E242A-192F-401D-82DD-2E92AEB8BD6A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8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844211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Class Example</a:t>
            </a:r>
          </a:p>
        </p:txBody>
      </p:sp>
      <p:sp>
        <p:nvSpPr>
          <p:cNvPr id="1843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   class Square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   {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    private: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  int side;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    public: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  void setSide(int s)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  { side = s; }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  int getSide()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		  { return side; }</a:t>
            </a:r>
          </a:p>
          <a:p>
            <a:pPr lvl="1" eaLnBrk="1" hangingPunct="1">
              <a:lnSpc>
                <a:spcPct val="75000"/>
              </a:lnSpc>
              <a:spcBef>
                <a:spcPct val="0"/>
              </a:spcBef>
              <a:buFontTx/>
              <a:buNone/>
            </a:pPr>
            <a:r>
              <a:rPr lang="en-US" altLang="en-US" sz="3200" b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   };</a:t>
            </a:r>
          </a:p>
        </p:txBody>
      </p:sp>
      <p:sp>
        <p:nvSpPr>
          <p:cNvPr id="1843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F4A044ED-CD99-4EFD-93B1-2B4BEC1D7112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9</a:t>
            </a:fld>
            <a:endParaRPr lang="en-US" altLang="en-US" sz="1200">
              <a:solidFill>
                <a:schemeClr val="tx1"/>
              </a:solidFill>
            </a:endParaRPr>
          </a:p>
        </p:txBody>
      </p:sp>
      <p:sp>
        <p:nvSpPr>
          <p:cNvPr id="18437" name="Oval 4"/>
          <p:cNvSpPr>
            <a:spLocks noChangeArrowheads="1"/>
          </p:cNvSpPr>
          <p:nvPr/>
        </p:nvSpPr>
        <p:spPr bwMode="auto">
          <a:xfrm>
            <a:off x="152400" y="2438400"/>
            <a:ext cx="1600200" cy="1066800"/>
          </a:xfrm>
          <a:prstGeom prst="ellipse">
            <a:avLst/>
          </a:prstGeom>
          <a:noFill/>
          <a:ln w="952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18438" name="Text Box 5"/>
          <p:cNvSpPr txBox="1">
            <a:spLocks noChangeArrowheads="1"/>
          </p:cNvSpPr>
          <p:nvPr/>
        </p:nvSpPr>
        <p:spPr bwMode="auto">
          <a:xfrm>
            <a:off x="241300" y="2620963"/>
            <a:ext cx="144780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en-US" altLang="en-US" sz="2000" b="1">
                <a:solidFill>
                  <a:schemeClr val="accent2"/>
                </a:solidFill>
              </a:rPr>
              <a:t>Access specifiers</a:t>
            </a:r>
          </a:p>
        </p:txBody>
      </p:sp>
      <p:sp>
        <p:nvSpPr>
          <p:cNvPr id="18439" name="Line 6"/>
          <p:cNvSpPr>
            <a:spLocks noChangeShapeType="1"/>
          </p:cNvSpPr>
          <p:nvPr/>
        </p:nvSpPr>
        <p:spPr bwMode="auto">
          <a:xfrm flipV="1">
            <a:off x="1752600" y="2590800"/>
            <a:ext cx="457200" cy="3048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  <p:sp>
        <p:nvSpPr>
          <p:cNvPr id="18440" name="Line 7"/>
          <p:cNvSpPr>
            <a:spLocks noChangeShapeType="1"/>
          </p:cNvSpPr>
          <p:nvPr/>
        </p:nvSpPr>
        <p:spPr bwMode="auto">
          <a:xfrm>
            <a:off x="1752600" y="3048000"/>
            <a:ext cx="457200" cy="228600"/>
          </a:xfrm>
          <a:prstGeom prst="line">
            <a:avLst/>
          </a:prstGeom>
          <a:noFill/>
          <a:ln w="9525">
            <a:solidFill>
              <a:schemeClr val="accent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MY"/>
          </a:p>
        </p:txBody>
      </p:sp>
    </p:spTree>
    <p:extLst>
      <p:ext uri="{BB962C8B-B14F-4D97-AF65-F5344CB8AC3E}">
        <p14:creationId xmlns:p14="http://schemas.microsoft.com/office/powerpoint/2010/main" val="565559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Creating and Using Objects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365125" y="1538818"/>
            <a:ext cx="8415338" cy="3703321"/>
          </a:xfrm>
        </p:spPr>
        <p:txBody>
          <a:bodyPr/>
          <a:lstStyle/>
          <a:p>
            <a:pPr eaLnBrk="1" hangingPunct="1"/>
            <a:r>
              <a:rPr lang="en-US" altLang="en-US" sz="3600" dirty="0" smtClean="0">
                <a:ea typeface="ＭＳ Ｐゴシック" panose="020B0600070205080204" pitchFamily="34" charset="-128"/>
              </a:rPr>
              <a:t>An </a:t>
            </a:r>
            <a:r>
              <a:rPr lang="en-US" altLang="en-US" sz="3600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object</a:t>
            </a:r>
            <a:r>
              <a:rPr lang="en-US" altLang="en-US" sz="3600" dirty="0" smtClean="0">
                <a:ea typeface="ＭＳ Ｐゴシック" panose="020B0600070205080204" pitchFamily="34" charset="-128"/>
              </a:rPr>
              <a:t> is an instance of a class</a:t>
            </a:r>
          </a:p>
          <a:p>
            <a:pPr eaLnBrk="1" hangingPunct="1"/>
            <a:r>
              <a:rPr lang="en-US" altLang="en-US" sz="3600" dirty="0" smtClean="0">
                <a:ea typeface="ＭＳ Ｐゴシック" panose="020B0600070205080204" pitchFamily="34" charset="-128"/>
              </a:rPr>
              <a:t>It is defined just like other variables </a:t>
            </a:r>
          </a:p>
          <a:p>
            <a:pPr lvl="1" eaLnBrk="1" hangingPunct="1">
              <a:buFontTx/>
              <a:buNone/>
            </a:pPr>
            <a:r>
              <a:rPr lang="en-US" altLang="en-US" sz="3600" dirty="0" smtClean="0">
                <a:ea typeface="ＭＳ Ｐゴシック" panose="020B0600070205080204" pitchFamily="34" charset="-128"/>
              </a:rPr>
              <a:t>	</a:t>
            </a:r>
            <a:r>
              <a:rPr lang="en-US" altLang="en-US" sz="3600" b="1" dirty="0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Square sq1, sq2;</a:t>
            </a:r>
          </a:p>
          <a:p>
            <a:pPr eaLnBrk="1" hangingPunct="1"/>
            <a:r>
              <a:rPr lang="en-US" altLang="en-US" sz="3600" dirty="0" smtClean="0">
                <a:ea typeface="ＭＳ Ｐゴシック" panose="020B0600070205080204" pitchFamily="34" charset="-128"/>
              </a:rPr>
              <a:t>It can access members using dot operator </a:t>
            </a:r>
          </a:p>
          <a:p>
            <a:pPr lvl="1" eaLnBrk="1" hangingPunct="1">
              <a:buFontTx/>
              <a:buNone/>
            </a:pPr>
            <a:r>
              <a:rPr lang="en-US" altLang="en-US" sz="3600" dirty="0" smtClean="0">
                <a:ea typeface="ＭＳ Ｐゴシック" panose="020B0600070205080204" pitchFamily="34" charset="-128"/>
              </a:rPr>
              <a:t>	</a:t>
            </a:r>
            <a:r>
              <a:rPr lang="en-US" altLang="en-US" sz="3600" b="1" dirty="0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sq1.setSide(5);</a:t>
            </a:r>
          </a:p>
          <a:p>
            <a:pPr lvl="1" eaLnBrk="1" hangingPunct="1">
              <a:buFontTx/>
              <a:buNone/>
            </a:pPr>
            <a:r>
              <a:rPr lang="en-US" altLang="en-US" sz="3600" b="1" dirty="0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	</a:t>
            </a:r>
            <a:r>
              <a:rPr lang="en-US" altLang="en-US" sz="3600" b="1" dirty="0" err="1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cout</a:t>
            </a:r>
            <a:r>
              <a:rPr lang="en-US" altLang="en-US" sz="3600" b="1" dirty="0" smtClean="0">
                <a:solidFill>
                  <a:srgbClr val="3D8963"/>
                </a:solidFill>
                <a:latin typeface="Courier New" panose="02070309020205020404" pitchFamily="49" charset="0"/>
                <a:ea typeface="ＭＳ Ｐゴシック" panose="020B0600070205080204" pitchFamily="34" charset="-128"/>
              </a:rPr>
              <a:t> &lt;&lt; sq1.getSide();</a:t>
            </a:r>
          </a:p>
        </p:txBody>
      </p:sp>
      <p:sp>
        <p:nvSpPr>
          <p:cNvPr id="2048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3E1B20FE-240E-41DB-812E-5FEDDDAF6382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10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983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7010400" cy="685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Defining Member Functions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371600"/>
            <a:ext cx="8229600" cy="3410164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sz="3200" dirty="0" smtClean="0">
                <a:ea typeface="ＭＳ Ｐゴシック" panose="020B0600070205080204" pitchFamily="34" charset="-128"/>
              </a:rPr>
              <a:t>Member functions are part of a class declaration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3200" dirty="0" smtClean="0">
                <a:ea typeface="ＭＳ Ｐゴシック" panose="020B0600070205080204" pitchFamily="34" charset="-128"/>
              </a:rPr>
              <a:t>You can place entire function definition inside the class declaration, </a:t>
            </a:r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altLang="en-US" sz="3200" dirty="0" smtClean="0">
                <a:ea typeface="ＭＳ Ｐゴシック" panose="020B0600070205080204" pitchFamily="34" charset="-128"/>
              </a:rPr>
              <a:t>	or</a:t>
            </a:r>
          </a:p>
          <a:p>
            <a:pPr eaLnBrk="1" hangingPunct="1">
              <a:lnSpc>
                <a:spcPct val="90000"/>
              </a:lnSpc>
              <a:spcBef>
                <a:spcPct val="0"/>
              </a:spcBef>
            </a:pPr>
            <a:r>
              <a:rPr lang="en-US" altLang="en-US" sz="3200" dirty="0" smtClean="0">
                <a:ea typeface="ＭＳ Ｐゴシック" panose="020B0600070205080204" pitchFamily="34" charset="-128"/>
              </a:rPr>
              <a:t>You can place just the prototype inside the class declaration and write the function definition after the class</a:t>
            </a:r>
          </a:p>
        </p:txBody>
      </p:sp>
      <p:sp>
        <p:nvSpPr>
          <p:cNvPr id="22532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9B1F72DB-8914-456C-98CA-DC06159129AE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11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62197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04800"/>
            <a:ext cx="6705600" cy="685800"/>
          </a:xfrm>
        </p:spPr>
        <p:txBody>
          <a:bodyPr/>
          <a:lstStyle/>
          <a:p>
            <a:pPr eaLnBrk="1" hangingPunct="1"/>
            <a:r>
              <a:rPr lang="en-US" altLang="en-US" dirty="0" smtClean="0">
                <a:ea typeface="ＭＳ Ｐゴシック" panose="020B0600070205080204" pitchFamily="34" charset="-128"/>
              </a:rPr>
              <a:t>Constructors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382000" cy="3810000"/>
          </a:xfrm>
        </p:spPr>
        <p:txBody>
          <a:bodyPr/>
          <a:lstStyle/>
          <a:p>
            <a:pPr eaLnBrk="1" hangingPunct="1">
              <a:lnSpc>
                <a:spcPct val="85000"/>
              </a:lnSpc>
              <a:spcBef>
                <a:spcPct val="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A </a:t>
            </a:r>
            <a:r>
              <a:rPr lang="en-US" altLang="en-US" sz="2800" b="1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constructor</a:t>
            </a:r>
            <a:r>
              <a:rPr lang="en-US" altLang="en-US" sz="2800" dirty="0" smtClean="0">
                <a:ea typeface="ＭＳ Ｐゴシック" panose="020B0600070205080204" pitchFamily="34" charset="-128"/>
              </a:rPr>
              <a:t> is a member function is automatically called when an object of the class is created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Is can be used to initialize data members 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It must be a </a:t>
            </a:r>
            <a:r>
              <a:rPr lang="en-US" altLang="en-US" sz="2800" b="1" dirty="0" smtClean="0">
                <a:latin typeface="Courier New" panose="02070309020205020404" pitchFamily="49" charset="0"/>
                <a:ea typeface="ＭＳ Ｐゴシック" panose="020B0600070205080204" pitchFamily="34" charset="-128"/>
              </a:rPr>
              <a:t>public</a:t>
            </a:r>
            <a:r>
              <a:rPr lang="en-US" altLang="en-US" sz="2800" dirty="0" smtClean="0">
                <a:ea typeface="ＭＳ Ｐゴシック" panose="020B0600070205080204" pitchFamily="34" charset="-128"/>
              </a:rPr>
              <a:t> member function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It must be named the same as the class </a:t>
            </a:r>
          </a:p>
          <a:p>
            <a:pPr eaLnBrk="1" hangingPunct="1">
              <a:spcBef>
                <a:spcPct val="4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It must have no return type</a:t>
            </a:r>
          </a:p>
        </p:txBody>
      </p:sp>
      <p:sp>
        <p:nvSpPr>
          <p:cNvPr id="24580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A547430C-3316-4594-B1E8-544DD2C64AFA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12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0238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Introduction to Object-Oriented Analysis and Design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143000"/>
            <a:ext cx="8153400" cy="4572000"/>
          </a:xfrm>
        </p:spPr>
        <p:txBody>
          <a:bodyPr/>
          <a:lstStyle/>
          <a:p>
            <a:pPr eaLnBrk="1" hangingPunct="1">
              <a:spcBef>
                <a:spcPct val="60000"/>
              </a:spcBef>
            </a:pPr>
            <a:r>
              <a:rPr lang="en-US" altLang="en-US" sz="2800" dirty="0" smtClean="0">
                <a:solidFill>
                  <a:schemeClr val="accent2"/>
                </a:solidFill>
                <a:ea typeface="ＭＳ Ｐゴシック" panose="020B0600070205080204" pitchFamily="34" charset="-128"/>
              </a:rPr>
              <a:t>Object-Oriented Analysis</a:t>
            </a:r>
            <a:r>
              <a:rPr lang="en-US" altLang="en-US" sz="2800" dirty="0" smtClean="0">
                <a:ea typeface="ＭＳ Ｐゴシック" panose="020B0600070205080204" pitchFamily="34" charset="-128"/>
              </a:rPr>
              <a:t>: that phase of program development when the program functionality is determined from the requirements</a:t>
            </a:r>
          </a:p>
          <a:p>
            <a:pPr eaLnBrk="1" hangingPunct="1"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It includes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identification of classes and objects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definition of each class's attributes 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definition of each class's behaviors</a:t>
            </a:r>
          </a:p>
          <a:p>
            <a:pPr lvl="1" eaLnBrk="1" hangingPunct="1"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definition of the relationship between classes</a:t>
            </a:r>
          </a:p>
        </p:txBody>
      </p:sp>
      <p:sp>
        <p:nvSpPr>
          <p:cNvPr id="26628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D5DE28D5-D5EC-4016-B5A3-AA466C13412D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13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69861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286000" y="152400"/>
            <a:ext cx="6629400" cy="992188"/>
          </a:xfrm>
        </p:spPr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Finding the Classes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idx="1"/>
          </p:nvPr>
        </p:nvSpPr>
        <p:spPr>
          <a:xfrm>
            <a:off x="381000" y="1524000"/>
            <a:ext cx="8153400" cy="40386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spcBef>
                <a:spcPct val="60000"/>
              </a:spcBef>
              <a:buFontTx/>
              <a:buNone/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Technique: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Write a description of the problem domain (objects, events, etc. related to the problem)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List the nouns, noun phrases, and pronouns.  These are all candidate objects</a:t>
            </a:r>
          </a:p>
          <a:p>
            <a:pPr eaLnBrk="1" hangingPunct="1">
              <a:lnSpc>
                <a:spcPct val="90000"/>
              </a:lnSpc>
              <a:spcBef>
                <a:spcPct val="60000"/>
              </a:spcBef>
            </a:pPr>
            <a:r>
              <a:rPr lang="en-US" altLang="en-US" sz="2800" dirty="0" smtClean="0">
                <a:ea typeface="ＭＳ Ｐゴシック" panose="020B0600070205080204" pitchFamily="34" charset="-128"/>
              </a:rPr>
              <a:t>Refine the list to include only those objects that are relevant to the problem</a:t>
            </a:r>
          </a:p>
        </p:txBody>
      </p:sp>
      <p:sp>
        <p:nvSpPr>
          <p:cNvPr id="28676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FB17F17F-14A0-4F25-B2B4-91B8F05C46B3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14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82111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/>
          <p:cNvSpPr>
            <a:spLocks noGrp="1"/>
          </p:cNvSpPr>
          <p:nvPr>
            <p:ph type="title"/>
          </p:nvPr>
        </p:nvSpPr>
        <p:spPr>
          <a:xfrm>
            <a:off x="2362200" y="228600"/>
            <a:ext cx="6553200" cy="992188"/>
          </a:xfrm>
        </p:spPr>
        <p:txBody>
          <a:bodyPr/>
          <a:lstStyle/>
          <a:p>
            <a:pPr eaLnBrk="1" hangingPunct="1"/>
            <a:r>
              <a:rPr lang="en-US" altLang="en-US" smtClean="0">
                <a:ea typeface="ＭＳ Ｐゴシック" panose="020B0600070205080204" pitchFamily="34" charset="-128"/>
              </a:rPr>
              <a:t>Summary Object-Oriented</a:t>
            </a:r>
          </a:p>
        </p:txBody>
      </p:sp>
      <p:sp>
        <p:nvSpPr>
          <p:cNvPr id="79875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94688" cy="2643801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en-US" sz="2400" dirty="0" smtClean="0"/>
              <a:t>A program that uses classes and objects is </a:t>
            </a:r>
            <a:r>
              <a:rPr lang="en-US" altLang="en-US" sz="2400" dirty="0" smtClean="0">
                <a:solidFill>
                  <a:srgbClr val="495899"/>
                </a:solidFill>
              </a:rPr>
              <a:t>object-based</a:t>
            </a:r>
            <a:r>
              <a:rPr lang="en-US" altLang="en-US" sz="2400" dirty="0" smtClean="0"/>
              <a:t>.</a:t>
            </a:r>
          </a:p>
          <a:p>
            <a:pPr eaLnBrk="1" hangingPunct="1">
              <a:defRPr/>
            </a:pPr>
            <a:r>
              <a:rPr lang="en-US" altLang="en-US" sz="2400" dirty="0" smtClean="0"/>
              <a:t>An object-based program that</a:t>
            </a:r>
          </a:p>
          <a:p>
            <a:pPr lvl="1" eaLnBrk="1" hangingPunct="1">
              <a:defRPr/>
            </a:pPr>
            <a:r>
              <a:rPr lang="en-US" altLang="en-US" sz="2400" dirty="0" smtClean="0"/>
              <a:t>defines relationships between classes of objects</a:t>
            </a:r>
          </a:p>
          <a:p>
            <a:pPr lvl="1" eaLnBrk="1" hangingPunct="1">
              <a:defRPr/>
            </a:pPr>
            <a:r>
              <a:rPr lang="en-US" altLang="en-US" sz="2400" dirty="0" smtClean="0"/>
              <a:t>creates classes from other classes</a:t>
            </a:r>
          </a:p>
          <a:p>
            <a:pPr lvl="1" eaLnBrk="1" hangingPunct="1">
              <a:defRPr/>
            </a:pPr>
            <a:r>
              <a:rPr lang="en-US" altLang="en-US" sz="2400" dirty="0" smtClean="0"/>
              <a:t>determines member function behavior based on the object</a:t>
            </a:r>
          </a:p>
          <a:p>
            <a:pPr marL="0" indent="0" eaLnBrk="1" hangingPunct="1">
              <a:buFontTx/>
              <a:buNone/>
              <a:defRPr/>
            </a:pPr>
            <a:r>
              <a:rPr lang="en-US" altLang="en-US" sz="2400" dirty="0"/>
              <a:t> </a:t>
            </a:r>
            <a:r>
              <a:rPr lang="en-US" altLang="en-US" sz="2400" dirty="0" smtClean="0"/>
              <a:t> </a:t>
            </a:r>
          </a:p>
        </p:txBody>
      </p:sp>
      <p:sp>
        <p:nvSpPr>
          <p:cNvPr id="30724" name="Slide Number Placeholder 3"/>
          <p:cNvSpPr>
            <a:spLocks noGrp="1"/>
          </p:cNvSpPr>
          <p:nvPr>
            <p:ph type="sldNum" sz="quarter" idx="4294967295"/>
          </p:nvPr>
        </p:nvSpPr>
        <p:spPr bwMode="auto">
          <a:xfrm>
            <a:off x="0" y="0"/>
            <a:ext cx="0" cy="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00FF"/>
              </a:buClr>
              <a:buSzPct val="80000"/>
              <a:buFont typeface="Wingdings" panose="05000000000000000000" pitchFamily="2" charset="2"/>
              <a:buChar char="q"/>
              <a:defRPr sz="28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spcBef>
                <a:spcPct val="20000"/>
              </a:spcBef>
              <a:buClr>
                <a:srgbClr val="0000FF"/>
              </a:buClr>
              <a:buChar char="–"/>
              <a:defRPr sz="26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spcBef>
                <a:spcPct val="20000"/>
              </a:spcBef>
              <a:buClr>
                <a:srgbClr val="0000FF"/>
              </a:buClr>
              <a:buChar char="•"/>
              <a:defRPr sz="24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spcBef>
                <a:spcPct val="20000"/>
              </a:spcBef>
              <a:buClr>
                <a:srgbClr val="0000FF"/>
              </a:buClr>
              <a:buChar char="–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spcBef>
                <a:spcPct val="20000"/>
              </a:spcBef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FF"/>
              </a:buClr>
              <a:buChar char="»"/>
              <a:defRPr sz="2000">
                <a:solidFill>
                  <a:srgbClr val="000000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200">
                <a:solidFill>
                  <a:schemeClr val="tx1"/>
                </a:solidFill>
              </a:rPr>
              <a:t>7-</a:t>
            </a:r>
            <a:fld id="{0C77DE58-24C0-4DE2-8E32-3CAB2A0DEBFF}" type="slidenum">
              <a:rPr lang="en-US" altLang="en-US" sz="1200">
                <a:solidFill>
                  <a:schemeClr val="tx1"/>
                </a:solidFill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15</a:t>
            </a:fld>
            <a:endParaRPr lang="en-US" altLang="en-US" sz="12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002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Malik_cpp">
  <a:themeElements>
    <a:clrScheme name="Cengage">
      <a:dk1>
        <a:srgbClr val="000000"/>
      </a:dk1>
      <a:lt1>
        <a:srgbClr val="FFFFFF"/>
      </a:lt1>
      <a:dk2>
        <a:srgbClr val="000000"/>
      </a:dk2>
      <a:lt2>
        <a:srgbClr val="AAAEB4"/>
      </a:lt2>
      <a:accent1>
        <a:srgbClr val="0D3857"/>
      </a:accent1>
      <a:accent2>
        <a:srgbClr val="055C91"/>
      </a:accent2>
      <a:accent3>
        <a:srgbClr val="81C0DA"/>
      </a:accent3>
      <a:accent4>
        <a:srgbClr val="B0D3DF"/>
      </a:accent4>
      <a:accent5>
        <a:srgbClr val="E0DCCD"/>
      </a:accent5>
      <a:accent6>
        <a:srgbClr val="7C7666"/>
      </a:accent6>
      <a:hlink>
        <a:srgbClr val="055C91"/>
      </a:hlink>
      <a:folHlink>
        <a:srgbClr val="81C0DA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1964</TotalTime>
  <Words>598</Words>
  <Application>Microsoft Office PowerPoint</Application>
  <PresentationFormat>On-screen Show (4:3)</PresentationFormat>
  <Paragraphs>139</Paragraphs>
  <Slides>15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2" baseType="lpstr">
      <vt:lpstr>ＭＳ Ｐゴシック</vt:lpstr>
      <vt:lpstr>Arial</vt:lpstr>
      <vt:lpstr>Calibri</vt:lpstr>
      <vt:lpstr>Calibri Light</vt:lpstr>
      <vt:lpstr>Courier New</vt:lpstr>
      <vt:lpstr>Times New Roman</vt:lpstr>
      <vt:lpstr>Malik_cpp</vt:lpstr>
      <vt:lpstr>Chapter 8</vt:lpstr>
      <vt:lpstr>Topics</vt:lpstr>
      <vt:lpstr>Object-Oriented Programming</vt:lpstr>
      <vt:lpstr>Object-Oriented Programming Terminology</vt:lpstr>
      <vt:lpstr>More Object-Oriented Programming Terminology</vt:lpstr>
      <vt:lpstr>Object Example</vt:lpstr>
      <vt:lpstr>Introduction to Classes</vt:lpstr>
      <vt:lpstr>Access Specifiers</vt:lpstr>
      <vt:lpstr>Class Example</vt:lpstr>
      <vt:lpstr>Creating and Using Objects</vt:lpstr>
      <vt:lpstr>Defining Member Functions</vt:lpstr>
      <vt:lpstr>Constructors</vt:lpstr>
      <vt:lpstr>Introduction to Object-Oriented Analysis and Design</vt:lpstr>
      <vt:lpstr>Finding the Classes</vt:lpstr>
      <vt:lpstr>Summary Object-Oriented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C++ Programming:   Program Design Including  Data Structures, Fifth Edition</dc:title>
  <dc:creator>Ang</dc:creator>
  <cp:lastModifiedBy>Windows User</cp:lastModifiedBy>
  <cp:revision>268</cp:revision>
  <cp:lastPrinted>2009-04-22T19:24:48Z</cp:lastPrinted>
  <dcterms:created xsi:type="dcterms:W3CDTF">2002-08-17T01:02:10Z</dcterms:created>
  <dcterms:modified xsi:type="dcterms:W3CDTF">2020-04-07T00:36:22Z</dcterms:modified>
</cp:coreProperties>
</file>