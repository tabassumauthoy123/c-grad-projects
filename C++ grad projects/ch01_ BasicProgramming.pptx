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34"/>
  </p:notesMasterIdLst>
  <p:handoutMasterIdLst>
    <p:handoutMasterId r:id="rId35"/>
  </p:handoutMasterIdLst>
  <p:sldIdLst>
    <p:sldId id="258" r:id="rId2"/>
    <p:sldId id="259" r:id="rId3"/>
    <p:sldId id="308" r:id="rId4"/>
    <p:sldId id="261" r:id="rId5"/>
    <p:sldId id="262" r:id="rId6"/>
    <p:sldId id="263" r:id="rId7"/>
    <p:sldId id="264" r:id="rId8"/>
    <p:sldId id="274" r:id="rId9"/>
    <p:sldId id="309" r:id="rId10"/>
    <p:sldId id="275" r:id="rId11"/>
    <p:sldId id="279" r:id="rId12"/>
    <p:sldId id="280" r:id="rId13"/>
    <p:sldId id="310" r:id="rId14"/>
    <p:sldId id="311" r:id="rId15"/>
    <p:sldId id="312"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13" r:id="rId29"/>
    <p:sldId id="282" r:id="rId30"/>
    <p:sldId id="284" r:id="rId31"/>
    <p:sldId id="327" r:id="rId32"/>
    <p:sldId id="328" r:id="rId33"/>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2E7D0"/>
    <a:srgbClr val="D1A70C"/>
    <a:srgbClr val="6A6466"/>
    <a:srgbClr val="FFFFFF"/>
    <a:srgbClr val="96CDEE"/>
    <a:srgbClr val="0F3F5D"/>
    <a:srgbClr val="01773A"/>
    <a:srgbClr val="156B1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3" autoAdjust="0"/>
    <p:restoredTop sz="99878" autoAdjust="0"/>
  </p:normalViewPr>
  <p:slideViewPr>
    <p:cSldViewPr>
      <p:cViewPr varScale="1">
        <p:scale>
          <a:sx n="70" d="100"/>
          <a:sy n="70" d="100"/>
        </p:scale>
        <p:origin x="402" y="60"/>
      </p:cViewPr>
      <p:guideLst>
        <p:guide orient="horz" pos="2160"/>
        <p:guide pos="2880"/>
      </p:guideLst>
    </p:cSldViewPr>
  </p:slideViewPr>
  <p:outlineViewPr>
    <p:cViewPr>
      <p:scale>
        <a:sx n="33" d="100"/>
        <a:sy n="33" d="100"/>
      </p:scale>
      <p:origin x="0" y="33594"/>
    </p:cViewPr>
  </p:outlineViewPr>
  <p:notesTextViewPr>
    <p:cViewPr>
      <p:scale>
        <a:sx n="50" d="100"/>
        <a:sy n="50" d="100"/>
      </p:scale>
      <p:origin x="0" y="0"/>
    </p:cViewPr>
  </p:notesTextViewPr>
  <p:sorterViewPr>
    <p:cViewPr>
      <p:scale>
        <a:sx n="200" d="100"/>
        <a:sy n="200" d="100"/>
      </p:scale>
      <p:origin x="0" y="119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2/10/2020</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2/10/2020</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324C8C7-9C22-4219-B752-E46A5DB5C617}" type="slidenum">
              <a:rPr lang="en-US" altLang="en-US" smtClean="0"/>
              <a:pPr eaLnBrk="1" hangingPunct="1"/>
              <a:t>4</a:t>
            </a:fld>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A412D10-8530-41D1-A3B2-62061FEA00B0}" type="slidenum">
              <a:rPr lang="en-US" altLang="en-US" smtClean="0"/>
              <a:pPr eaLnBrk="1" hangingPunct="1"/>
              <a:t>5</a:t>
            </a:fld>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4403EA4-60DF-41C5-84B6-1EA847F980CC}" type="slidenum">
              <a:rPr lang="en-US" altLang="en-US" smtClean="0"/>
              <a:pPr eaLnBrk="1" hangingPunct="1"/>
              <a:t>6</a:t>
            </a:fld>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388A7ED-9665-465C-9FB3-92B43E7152E7}" type="slidenum">
              <a:rPr lang="en-US" altLang="en-US" smtClean="0"/>
              <a:pPr eaLnBrk="1" hangingPunct="1"/>
              <a:t>7</a:t>
            </a:fld>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B767065-A387-4498-AB5D-57FD563E32EE}" type="slidenum">
              <a:rPr lang="en-US" altLang="en-US" smtClean="0"/>
              <a:pPr eaLnBrk="1" hangingPunct="1"/>
              <a:t>8</a:t>
            </a:fld>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3E7BCB9-AA77-4A8F-8EE1-1697DE7F971A}" type="slidenum">
              <a:rPr lang="en-US" altLang="en-US" smtClean="0"/>
              <a:pPr eaLnBrk="1" hangingPunct="1"/>
              <a:t>10</a:t>
            </a:fld>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D0B1E0F-73F1-4F1C-B2D3-7BCC6C4C75FD}" type="slidenum">
              <a:rPr lang="en-US" altLang="en-US" smtClean="0"/>
              <a:pPr eaLnBrk="1" hangingPunct="1"/>
              <a:t>11</a:t>
            </a:fld>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C9416E8-81DD-4929-9C10-51828BE1F84E}" type="slidenum">
              <a:rPr lang="en-US" altLang="en-US" smtClean="0"/>
              <a:pPr eaLnBrk="1" hangingPunct="1"/>
              <a:t>12</a:t>
            </a:fld>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C9416E8-81DD-4929-9C10-51828BE1F84E}" type="slidenum">
              <a:rPr lang="en-US" altLang="en-US" smtClean="0"/>
              <a:pPr eaLnBrk="1" hangingPunct="1"/>
              <a:t>13</a:t>
            </a:fld>
            <a:endParaRPr lang="en-US" altLang="en-US" dirty="0"/>
          </a:p>
        </p:txBody>
      </p:sp>
    </p:spTree>
    <p:extLst>
      <p:ext uri="{BB962C8B-B14F-4D97-AF65-F5344CB8AC3E}">
        <p14:creationId xmlns:p14="http://schemas.microsoft.com/office/powerpoint/2010/main" val="3052699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85ED9C8-1122-4CF4-9937-4D9DE63C6C85}" type="slidenum">
              <a:rPr lang="en-US" altLang="en-US" smtClean="0"/>
              <a:pPr eaLnBrk="1" hangingPunct="1"/>
              <a:t>29</a:t>
            </a:fld>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59CCDD7-F869-4DB1-B7B4-3C09E2AA5CEF}" type="slidenum">
              <a:rPr lang="en-US" altLang="en-US" smtClean="0"/>
              <a:pPr eaLnBrk="1" hangingPunct="1"/>
              <a:t>30</a:t>
            </a:fld>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3090672"/>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730752"/>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pic>
        <p:nvPicPr>
          <p:cNvPr id="8" name="Picture 7" descr="CL_Logo_DRAWN.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1080" y="6257889"/>
            <a:ext cx="634845" cy="262424"/>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6"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9"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015922" y="6456817"/>
            <a:ext cx="6399830" cy="366183"/>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9" name="TextBox 8"/>
          <p:cNvSpPr txBox="1"/>
          <p:nvPr userDrawn="1"/>
        </p:nvSpPr>
        <p:spPr>
          <a:xfrm>
            <a:off x="1015924" y="6222910"/>
            <a:ext cx="6400800" cy="230832"/>
          </a:xfrm>
          <a:prstGeom prst="rect">
            <a:avLst/>
          </a:prstGeom>
          <a:noFill/>
        </p:spPr>
        <p:txBody>
          <a:bodyPr wrap="square" rtlCol="0">
            <a:spAutoFit/>
          </a:bodyPr>
          <a:lstStyle/>
          <a:p>
            <a:pPr algn="ctr"/>
            <a:r>
              <a:rPr lang="en-US" sz="900" dirty="0">
                <a:solidFill>
                  <a:schemeClr val="accent2"/>
                </a:solidFill>
              </a:rPr>
              <a:t>C++ Programming: From Problem Analysis to Program Design, Eighth</a:t>
            </a:r>
            <a:r>
              <a:rPr lang="en-US" sz="900" baseline="0" dirty="0">
                <a:solidFill>
                  <a:schemeClr val="accent2"/>
                </a:solidFill>
              </a:rPr>
              <a:t> </a:t>
            </a:r>
            <a:r>
              <a:rPr lang="en-US" sz="900" dirty="0">
                <a:solidFill>
                  <a:schemeClr val="accent2"/>
                </a:solidFill>
              </a:rPr>
              <a:t>Edition</a:t>
            </a:r>
          </a:p>
        </p:txBody>
      </p:sp>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5" name="Picture 4" descr="CL_Logo_DRAWN.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6" name="Picture 5"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7"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9"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userDrawn="1"/>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Split Content with Object">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125" y="1538818"/>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dirty="0">
                <a:solidFill>
                  <a:srgbClr val="000000">
                    <a:tint val="75000"/>
                  </a:srgbClr>
                </a:solidFill>
              </a:rPr>
              <a:t>© 2018 Cengage Learning. All Rights Reserved. May not be copied, scanned, or duplicated, in whole or in part, except for use as permitted in a license distributed with a certain product or service or otherwise on a password-protected website for classroom</a:t>
            </a:r>
          </a:p>
        </p:txBody>
      </p:sp>
      <p:sp>
        <p:nvSpPr>
          <p:cNvPr id="9" name="Content Placeholder 2"/>
          <p:cNvSpPr>
            <a:spLocks noGrp="1"/>
          </p:cNvSpPr>
          <p:nvPr>
            <p:ph idx="11"/>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49358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Figur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userDrawn="1"/>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Text Placeholder 4"/>
          <p:cNvSpPr>
            <a:spLocks noGrp="1"/>
          </p:cNvSpPr>
          <p:nvPr>
            <p:ph type="body" sz="quarter" idx="11" hasCustomPrompt="1"/>
          </p:nvPr>
        </p:nvSpPr>
        <p:spPr>
          <a:xfrm>
            <a:off x="1066800" y="5102423"/>
            <a:ext cx="6949440" cy="297004"/>
          </a:xfrm>
        </p:spPr>
        <p:txBody>
          <a:bodyPr lIns="45720" tIns="45720" rIns="45720" bIns="45720"/>
          <a:lstStyle>
            <a:lvl1pPr marL="0" indent="0">
              <a:buNone/>
              <a:defRPr sz="1400" b="0">
                <a:solidFill>
                  <a:srgbClr val="6A6466"/>
                </a:solidFill>
              </a:defRPr>
            </a:lvl1pPr>
          </a:lstStyle>
          <a:p>
            <a:pPr lvl="0"/>
            <a:r>
              <a:rPr lang="en-US" dirty="0"/>
              <a:t>&lt;FIGURE #-# apply bold&gt; &lt;Figure caption text normal&gt;</a:t>
            </a:r>
          </a:p>
        </p:txBody>
      </p:sp>
    </p:spTree>
    <p:extLst>
      <p:ext uri="{BB962C8B-B14F-4D97-AF65-F5344CB8AC3E}">
        <p14:creationId xmlns:p14="http://schemas.microsoft.com/office/powerpoint/2010/main" val="415393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userDrawn="1"/>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spTree>
    <p:extLst>
      <p:ext uri="{BB962C8B-B14F-4D97-AF65-F5344CB8AC3E}">
        <p14:creationId xmlns:p14="http://schemas.microsoft.com/office/powerpoint/2010/main" val="2287905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Tab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a:solidFill>
                  <a:srgbClr val="000000">
                    <a:tint val="75000"/>
                  </a:srgbClr>
                </a:solidFill>
              </a:rPr>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solidFill>
                <a:srgbClr val="000000">
                  <a:tint val="75000"/>
                </a:srgbClr>
              </a:solidFill>
            </a:endParaRPr>
          </a:p>
        </p:txBody>
      </p:sp>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sp>
        <p:nvSpPr>
          <p:cNvPr id="9" name="Content Placeholder 2"/>
          <p:cNvSpPr>
            <a:spLocks noGrp="1"/>
          </p:cNvSpPr>
          <p:nvPr>
            <p:ph idx="12"/>
          </p:nvPr>
        </p:nvSpPr>
        <p:spPr>
          <a:xfrm>
            <a:off x="365125" y="3997249"/>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383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Picture">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125" y="1538818"/>
            <a:ext cx="3673475"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userDrawn="1"/>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11" name="Text Placeholder 4"/>
          <p:cNvSpPr>
            <a:spLocks noGrp="1"/>
          </p:cNvSpPr>
          <p:nvPr>
            <p:ph type="body" sz="quarter" idx="12" hasCustomPrompt="1"/>
          </p:nvPr>
        </p:nvSpPr>
        <p:spPr>
          <a:xfrm>
            <a:off x="4572000" y="5722796"/>
            <a:ext cx="4114800" cy="297004"/>
          </a:xfrm>
        </p:spPr>
        <p:txBody>
          <a:bodyPr lIns="91440" tIns="45720" rIns="91440" bIns="45720"/>
          <a:lstStyle>
            <a:lvl1pPr marL="0" indent="0">
              <a:buNone/>
              <a:defRPr sz="1400" b="0">
                <a:solidFill>
                  <a:srgbClr val="6A6466"/>
                </a:solidFill>
              </a:defRPr>
            </a:lvl1pPr>
          </a:lstStyle>
          <a:p>
            <a:pPr lvl="0"/>
            <a:r>
              <a:rPr lang="en-US" dirty="0"/>
              <a:t>&lt;FIGURE #-# apply bold&gt; &lt;Figure caption text normal&gt;</a:t>
            </a:r>
          </a:p>
        </p:txBody>
      </p:sp>
    </p:spTree>
    <p:extLst>
      <p:ext uri="{BB962C8B-B14F-4D97-AF65-F5344CB8AC3E}">
        <p14:creationId xmlns:p14="http://schemas.microsoft.com/office/powerpoint/2010/main" val="1239122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userDrawn="1"/>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36393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1014984" y="6455663"/>
            <a:ext cx="6400800" cy="365760"/>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61" r:id="rId4"/>
    <p:sldLayoutId id="2147483757" r:id="rId5"/>
    <p:sldLayoutId id="2147483758" r:id="rId6"/>
    <p:sldLayoutId id="2147483763" r:id="rId7"/>
    <p:sldLayoutId id="2147483759" r:id="rId8"/>
    <p:sldLayoutId id="2147483755" r:id="rId9"/>
    <p:sldLayoutId id="2147483756" r:id="rId10"/>
  </p:sldLayoutIdLst>
  <p:hf sldNum="0"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1.bin"/><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698500" y="2935525"/>
            <a:ext cx="7747000" cy="527837"/>
          </a:xfrm>
        </p:spPr>
        <p:txBody>
          <a:bodyPr/>
          <a:lstStyle/>
          <a:p>
            <a:r>
              <a:rPr lang="en-US" altLang="en-US" sz="4000" dirty="0"/>
              <a:t>Chapter 1</a:t>
            </a:r>
          </a:p>
        </p:txBody>
      </p:sp>
      <p:sp>
        <p:nvSpPr>
          <p:cNvPr id="6" name="Subtitle 5"/>
          <p:cNvSpPr>
            <a:spLocks noGrp="1"/>
          </p:cNvSpPr>
          <p:nvPr>
            <p:ph type="subTitle" idx="1"/>
          </p:nvPr>
        </p:nvSpPr>
        <p:spPr>
          <a:xfrm>
            <a:off x="698500" y="3726438"/>
            <a:ext cx="7747000" cy="526298"/>
          </a:xfrm>
        </p:spPr>
        <p:txBody>
          <a:bodyPr/>
          <a:lstStyle/>
          <a:p>
            <a:r>
              <a:rPr lang="en-US" altLang="en-US" sz="3600" dirty="0" smtClean="0">
                <a:solidFill>
                  <a:schemeClr val="tx1"/>
                </a:solidFill>
              </a:rPr>
              <a:t>Basic Concept Programming</a:t>
            </a:r>
            <a:endParaRPr lang="en-US" sz="3600" dirty="0">
              <a:solidFill>
                <a:schemeClr val="tx1"/>
              </a:solidFill>
            </a:endParaRPr>
          </a:p>
        </p:txBody>
      </p:sp>
      <p:sp>
        <p:nvSpPr>
          <p:cNvPr id="3" name="Footer Placeholder 2"/>
          <p:cNvSpPr>
            <a:spLocks noGrp="1"/>
          </p:cNvSpPr>
          <p:nvPr>
            <p:ph type="ftr" sz="quarter" idx="10"/>
          </p:nvPr>
        </p:nvSpPr>
        <p:spPr/>
        <p:txBody>
          <a:body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Objectives (1 of 2)</a:t>
            </a:r>
          </a:p>
        </p:txBody>
      </p:sp>
      <p:sp>
        <p:nvSpPr>
          <p:cNvPr id="4099" name="Rectangle 3"/>
          <p:cNvSpPr>
            <a:spLocks noGrp="1" noChangeArrowheads="1"/>
          </p:cNvSpPr>
          <p:nvPr>
            <p:ph idx="1"/>
          </p:nvPr>
        </p:nvSpPr>
        <p:spPr>
          <a:xfrm>
            <a:off x="365125" y="1538818"/>
            <a:ext cx="8415338" cy="2332946"/>
          </a:xfrm>
        </p:spPr>
        <p:txBody>
          <a:bodyPr/>
          <a:lstStyle/>
          <a:p>
            <a:r>
              <a:rPr lang="en-US" altLang="en-US" dirty="0"/>
              <a:t>In this chapter, you will:</a:t>
            </a:r>
          </a:p>
          <a:p>
            <a:pPr lvl="1"/>
            <a:r>
              <a:rPr lang="en-US" altLang="en-US" dirty="0"/>
              <a:t>Learn about different types of computers</a:t>
            </a:r>
          </a:p>
          <a:p>
            <a:pPr lvl="1"/>
            <a:r>
              <a:rPr lang="en-US" altLang="en-US" dirty="0"/>
              <a:t>Explore the hardware and software components of a computer system</a:t>
            </a:r>
          </a:p>
          <a:p>
            <a:pPr lvl="1"/>
            <a:r>
              <a:rPr lang="en-US" altLang="en-US" dirty="0"/>
              <a:t>Learn about the language of a computer</a:t>
            </a:r>
          </a:p>
          <a:p>
            <a:pPr lvl="1"/>
            <a:r>
              <a:rPr lang="en-US" altLang="en-US" dirty="0"/>
              <a:t>Learn about the evolution of programming languages</a:t>
            </a:r>
          </a:p>
          <a:p>
            <a:pPr lvl="1"/>
            <a:r>
              <a:rPr lang="en-US" altLang="en-US" dirty="0"/>
              <a:t>Examine high-level programming languages</a:t>
            </a:r>
          </a:p>
          <a:p>
            <a:pPr lvl="1"/>
            <a:r>
              <a:rPr lang="en-US" altLang="en-US" dirty="0"/>
              <a:t>Discover what a compiler is and what it does</a:t>
            </a:r>
          </a:p>
        </p:txBody>
      </p:sp>
      <p:sp>
        <p:nvSpPr>
          <p:cNvPr id="4101" name="Footer Placeholder 5"/>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Objectives (2 of 2)</a:t>
            </a:r>
          </a:p>
        </p:txBody>
      </p:sp>
      <p:sp>
        <p:nvSpPr>
          <p:cNvPr id="4099" name="Rectangle 3"/>
          <p:cNvSpPr>
            <a:spLocks noGrp="1" noChangeArrowheads="1"/>
          </p:cNvSpPr>
          <p:nvPr>
            <p:ph idx="1"/>
          </p:nvPr>
        </p:nvSpPr>
        <p:spPr>
          <a:xfrm>
            <a:off x="365125" y="1538818"/>
            <a:ext cx="8415338" cy="1546577"/>
          </a:xfrm>
        </p:spPr>
        <p:txBody>
          <a:bodyPr/>
          <a:lstStyle/>
          <a:p>
            <a:pPr lvl="1"/>
            <a:r>
              <a:rPr lang="pt-BR" altLang="en-US" dirty="0"/>
              <a:t>Examine a C++ program</a:t>
            </a:r>
          </a:p>
          <a:p>
            <a:pPr lvl="1"/>
            <a:r>
              <a:rPr lang="en-US" altLang="en-US" dirty="0"/>
              <a:t>Explore how a C++ program is processed</a:t>
            </a:r>
          </a:p>
          <a:p>
            <a:pPr lvl="1"/>
            <a:r>
              <a:rPr lang="en-US" altLang="en-US" dirty="0"/>
              <a:t>Learn what an algorithm is and explore problem-solving techniques</a:t>
            </a:r>
          </a:p>
          <a:p>
            <a:pPr lvl="1"/>
            <a:r>
              <a:rPr lang="en-US" altLang="en-US" dirty="0"/>
              <a:t>Become aware of structured design and object-oriented design programming </a:t>
            </a:r>
            <a:r>
              <a:rPr lang="en-US" altLang="en-US" dirty="0" smtClean="0"/>
              <a:t>methodologies</a:t>
            </a:r>
            <a:endParaRPr lang="en-US" altLang="en-US" dirty="0"/>
          </a:p>
        </p:txBody>
      </p:sp>
      <p:sp>
        <p:nvSpPr>
          <p:cNvPr id="4101" name="Footer Placeholder 5"/>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7254374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t>Introduction</a:t>
            </a:r>
          </a:p>
        </p:txBody>
      </p:sp>
      <p:sp>
        <p:nvSpPr>
          <p:cNvPr id="6147" name="Rectangle 3"/>
          <p:cNvSpPr>
            <a:spLocks noGrp="1" noChangeArrowheads="1"/>
          </p:cNvSpPr>
          <p:nvPr>
            <p:ph idx="1"/>
          </p:nvPr>
        </p:nvSpPr>
        <p:spPr>
          <a:xfrm>
            <a:off x="365125" y="1538818"/>
            <a:ext cx="8415338" cy="1525033"/>
          </a:xfrm>
        </p:spPr>
        <p:txBody>
          <a:bodyPr/>
          <a:lstStyle/>
          <a:p>
            <a:r>
              <a:rPr lang="en-US" altLang="en-US" dirty="0"/>
              <a:t>Without software, a computer is useless</a:t>
            </a:r>
          </a:p>
          <a:p>
            <a:r>
              <a:rPr lang="en-US" altLang="en-US" dirty="0"/>
              <a:t>Software is developed with programming languages</a:t>
            </a:r>
          </a:p>
          <a:p>
            <a:pPr lvl="1"/>
            <a:r>
              <a:rPr lang="en-US" altLang="en-US" dirty="0"/>
              <a:t>C++ is a programming language</a:t>
            </a:r>
          </a:p>
          <a:p>
            <a:r>
              <a:rPr lang="en-US" altLang="en-US" dirty="0"/>
              <a:t>C++ is suited for a wide variety of programming tasks</a:t>
            </a:r>
          </a:p>
        </p:txBody>
      </p:sp>
      <p:sp>
        <p:nvSpPr>
          <p:cNvPr id="6149"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t>A Brief Overview of the History of Computers (1 of 3)</a:t>
            </a:r>
          </a:p>
        </p:txBody>
      </p:sp>
      <p:sp>
        <p:nvSpPr>
          <p:cNvPr id="7171" name="Rectangle 3"/>
          <p:cNvSpPr>
            <a:spLocks noGrp="1" noChangeArrowheads="1"/>
          </p:cNvSpPr>
          <p:nvPr>
            <p:ph idx="1"/>
          </p:nvPr>
        </p:nvSpPr>
        <p:spPr>
          <a:xfrm>
            <a:off x="365125" y="1538818"/>
            <a:ext cx="8415338" cy="4050340"/>
          </a:xfrm>
        </p:spPr>
        <p:txBody>
          <a:bodyPr/>
          <a:lstStyle/>
          <a:p>
            <a:r>
              <a:rPr lang="en-US" altLang="en-US" sz="3200" dirty="0">
                <a:solidFill>
                  <a:schemeClr val="tx1"/>
                </a:solidFill>
              </a:rPr>
              <a:t>The computers that we know today use the design rules given by John von Neumann </a:t>
            </a:r>
            <a:r>
              <a:rPr lang="en-US" altLang="en-US" sz="3200" dirty="0" smtClean="0">
                <a:solidFill>
                  <a:schemeClr val="tx1"/>
                </a:solidFill>
              </a:rPr>
              <a:t>in the </a:t>
            </a:r>
            <a:r>
              <a:rPr lang="en-US" altLang="en-US" sz="3200" dirty="0">
                <a:solidFill>
                  <a:schemeClr val="tx1"/>
                </a:solidFill>
              </a:rPr>
              <a:t>late 1940s</a:t>
            </a:r>
            <a:r>
              <a:rPr lang="en-US" altLang="en-US" sz="3200" dirty="0" smtClean="0">
                <a:solidFill>
                  <a:schemeClr val="tx1"/>
                </a:solidFill>
              </a:rPr>
              <a:t>.</a:t>
            </a:r>
          </a:p>
          <a:p>
            <a:r>
              <a:rPr lang="en-US" sz="3200" dirty="0">
                <a:solidFill>
                  <a:schemeClr val="tx1"/>
                </a:solidFill>
              </a:rPr>
              <a:t>His design included components such as an arithmetic logic unit, a </a:t>
            </a:r>
            <a:r>
              <a:rPr lang="en-US" sz="3200" dirty="0" smtClean="0">
                <a:solidFill>
                  <a:schemeClr val="tx1"/>
                </a:solidFill>
              </a:rPr>
              <a:t>control unit</a:t>
            </a:r>
            <a:r>
              <a:rPr lang="en-US" sz="3200" dirty="0">
                <a:solidFill>
                  <a:schemeClr val="tx1"/>
                </a:solidFill>
              </a:rPr>
              <a:t>, memory, and input/output devices</a:t>
            </a:r>
            <a:r>
              <a:rPr lang="en-US" sz="3200" dirty="0" smtClean="0">
                <a:solidFill>
                  <a:schemeClr val="tx1"/>
                </a:solidFill>
              </a:rPr>
              <a:t>.</a:t>
            </a:r>
          </a:p>
          <a:p>
            <a:r>
              <a:rPr lang="en-US" altLang="en-US" sz="3200" dirty="0" smtClean="0">
                <a:solidFill>
                  <a:schemeClr val="tx1"/>
                </a:solidFill>
              </a:rPr>
              <a:t>Can you imagine how computer process the data?</a:t>
            </a:r>
            <a:endParaRPr lang="en-US" altLang="en-US" sz="3200" dirty="0">
              <a:solidFill>
                <a:schemeClr val="tx1"/>
              </a:solidFill>
            </a:endParaRPr>
          </a:p>
        </p:txBody>
      </p:sp>
      <p:sp>
        <p:nvSpPr>
          <p:cNvPr id="7173"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 calcmode="lin" valueType="num">
                                      <p:cBhvr additive="base">
                                        <p:cTn id="19"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t>A Brief Overview of the History of Computers (2 of 3)</a:t>
            </a:r>
          </a:p>
        </p:txBody>
      </p:sp>
      <p:sp>
        <p:nvSpPr>
          <p:cNvPr id="8197"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3" name="Picture 2"/>
          <p:cNvPicPr>
            <a:picLocks noChangeAspect="1"/>
          </p:cNvPicPr>
          <p:nvPr/>
        </p:nvPicPr>
        <p:blipFill>
          <a:blip r:embed="rId3"/>
          <a:stretch>
            <a:fillRect/>
          </a:stretch>
        </p:blipFill>
        <p:spPr>
          <a:xfrm>
            <a:off x="1352550" y="1189328"/>
            <a:ext cx="6038850" cy="4797134"/>
          </a:xfrm>
          <a:prstGeom prst="rect">
            <a:avLst/>
          </a:prstGeom>
        </p:spPr>
      </p:pic>
      <p:sp>
        <p:nvSpPr>
          <p:cNvPr id="4" name="TextBox 3"/>
          <p:cNvSpPr txBox="1"/>
          <p:nvPr/>
        </p:nvSpPr>
        <p:spPr>
          <a:xfrm>
            <a:off x="3429000" y="6097865"/>
            <a:ext cx="2223686" cy="369332"/>
          </a:xfrm>
          <a:prstGeom prst="rect">
            <a:avLst/>
          </a:prstGeom>
          <a:noFill/>
        </p:spPr>
        <p:txBody>
          <a:bodyPr wrap="none" rtlCol="0">
            <a:spAutoFit/>
          </a:bodyPr>
          <a:lstStyle/>
          <a:p>
            <a:r>
              <a:rPr lang="en-MY" dirty="0" smtClean="0"/>
              <a:t>How computer work</a:t>
            </a:r>
            <a:endParaRPr lang="en-MY"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dirty="0"/>
              <a:t>A Brief Overview of the History of Computers (3 of 3)</a:t>
            </a:r>
          </a:p>
        </p:txBody>
      </p:sp>
      <p:sp>
        <p:nvSpPr>
          <p:cNvPr id="9219" name="Rectangle 3"/>
          <p:cNvSpPr>
            <a:spLocks noGrp="1" noChangeArrowheads="1"/>
          </p:cNvSpPr>
          <p:nvPr>
            <p:ph idx="1"/>
          </p:nvPr>
        </p:nvSpPr>
        <p:spPr>
          <a:xfrm>
            <a:off x="371925" y="1219201"/>
            <a:ext cx="8415338" cy="4800599"/>
          </a:xfrm>
        </p:spPr>
        <p:txBody>
          <a:bodyPr/>
          <a:lstStyle/>
          <a:p>
            <a:pPr algn="just"/>
            <a:r>
              <a:rPr lang="en-US" altLang="en-US" sz="2400" dirty="0">
                <a:solidFill>
                  <a:schemeClr val="tx1"/>
                </a:solidFill>
                <a:ea typeface="ＭＳ Ｐゴシック" panose="020B0600070205080204" pitchFamily="34" charset="-128"/>
              </a:rPr>
              <a:t>Computers can be found anywhere from the size of a desktop to smaller than the palm of one’s hand such as desktop computers, notebooks, netbooks, tablet PCs and mobile </a:t>
            </a:r>
            <a:r>
              <a:rPr lang="en-US" altLang="en-US" sz="2400" dirty="0" smtClean="0">
                <a:solidFill>
                  <a:schemeClr val="tx1"/>
                </a:solidFill>
                <a:ea typeface="ＭＳ Ｐゴシック" panose="020B0600070205080204" pitchFamily="34" charset="-128"/>
              </a:rPr>
              <a:t>devices. Many </a:t>
            </a:r>
            <a:r>
              <a:rPr lang="en-US" altLang="en-US" sz="2400" dirty="0">
                <a:solidFill>
                  <a:schemeClr val="tx1"/>
                </a:solidFill>
                <a:ea typeface="ＭＳ Ｐゴシック" panose="020B0600070205080204" pitchFamily="34" charset="-128"/>
              </a:rPr>
              <a:t>kinds of applications or apps can be downloaded into the tablet or smartphone. </a:t>
            </a:r>
            <a:endParaRPr lang="en-US" altLang="en-US" sz="2400" dirty="0" smtClean="0">
              <a:solidFill>
                <a:schemeClr val="tx1"/>
              </a:solidFill>
              <a:ea typeface="ＭＳ Ｐゴシック" panose="020B0600070205080204" pitchFamily="34" charset="-128"/>
            </a:endParaRPr>
          </a:p>
          <a:p>
            <a:pPr algn="just"/>
            <a:r>
              <a:rPr lang="en-US" altLang="en-US" sz="2400" dirty="0">
                <a:solidFill>
                  <a:schemeClr val="tx1"/>
                </a:solidFill>
                <a:ea typeface="ＭＳ Ｐゴシック" panose="020B0600070205080204" pitchFamily="34" charset="-128"/>
              </a:rPr>
              <a:t>There are many ways to develop these applications. </a:t>
            </a:r>
          </a:p>
          <a:p>
            <a:pPr lvl="2" algn="just"/>
            <a:r>
              <a:rPr lang="en-US" altLang="en-US" sz="1800" dirty="0">
                <a:solidFill>
                  <a:schemeClr val="tx1"/>
                </a:solidFill>
                <a:ea typeface="ＭＳ Ｐゴシック" panose="020B0600070205080204" pitchFamily="34" charset="-128"/>
              </a:rPr>
              <a:t>Some websites provide templates to create apps quickly</a:t>
            </a:r>
          </a:p>
          <a:p>
            <a:pPr lvl="2" algn="just"/>
            <a:r>
              <a:rPr lang="en-US" altLang="en-US" sz="1800" dirty="0">
                <a:solidFill>
                  <a:schemeClr val="tx1"/>
                </a:solidFill>
                <a:ea typeface="ＭＳ Ｐゴシック" panose="020B0600070205080204" pitchFamily="34" charset="-128"/>
              </a:rPr>
              <a:t>Users with programming knowledge can create their apps from scratch.</a:t>
            </a:r>
          </a:p>
          <a:p>
            <a:pPr algn="just"/>
            <a:r>
              <a:rPr lang="en-US" altLang="en-US" sz="2400" dirty="0">
                <a:solidFill>
                  <a:schemeClr val="tx1"/>
                </a:solidFill>
                <a:ea typeface="ＭＳ Ｐゴシック" panose="020B0600070205080204" pitchFamily="34" charset="-128"/>
              </a:rPr>
              <a:t>Examples of systems/apps developed using programming language:</a:t>
            </a:r>
          </a:p>
          <a:p>
            <a:pPr lvl="2" algn="just"/>
            <a:r>
              <a:rPr lang="en-US" altLang="en-US" sz="1800" dirty="0">
                <a:solidFill>
                  <a:schemeClr val="tx1"/>
                </a:solidFill>
                <a:ea typeface="ＭＳ Ｐゴシック" panose="020B0600070205080204" pitchFamily="34" charset="-128"/>
              </a:rPr>
              <a:t>Automated Teller Machine (ATM) systems, </a:t>
            </a:r>
          </a:p>
          <a:p>
            <a:pPr lvl="2" algn="just"/>
            <a:r>
              <a:rPr lang="en-US" altLang="en-US" sz="1800" dirty="0">
                <a:solidFill>
                  <a:schemeClr val="tx1"/>
                </a:solidFill>
                <a:ea typeface="ＭＳ Ｐゴシック" panose="020B0600070205080204" pitchFamily="34" charset="-128"/>
              </a:rPr>
              <a:t>Student Information Systems</a:t>
            </a:r>
          </a:p>
          <a:p>
            <a:pPr lvl="2" algn="just"/>
            <a:r>
              <a:rPr lang="en-US" altLang="en-US" sz="1800" dirty="0">
                <a:solidFill>
                  <a:schemeClr val="tx1"/>
                </a:solidFill>
                <a:ea typeface="ＭＳ Ｐゴシック" panose="020B0600070205080204" pitchFamily="34" charset="-128"/>
              </a:rPr>
              <a:t>Online Ticketing Systems </a:t>
            </a:r>
          </a:p>
          <a:p>
            <a:pPr lvl="1" algn="just"/>
            <a:endParaRPr lang="en-US" altLang="en-US" sz="2400" dirty="0">
              <a:solidFill>
                <a:schemeClr val="tx1"/>
              </a:solidFill>
              <a:ea typeface="ＭＳ Ｐゴシック" panose="020B0600070205080204" pitchFamily="34" charset="-128"/>
            </a:endParaRPr>
          </a:p>
          <a:p>
            <a:pPr algn="just">
              <a:buFont typeface="Wingdings" panose="05000000000000000000" pitchFamily="2" charset="2"/>
              <a:buNone/>
            </a:pPr>
            <a:endParaRPr lang="en-US" altLang="en-US" sz="2400" dirty="0">
              <a:solidFill>
                <a:schemeClr val="tx1"/>
              </a:solidFill>
              <a:ea typeface="ＭＳ Ｐゴシック" panose="020B0600070205080204" pitchFamily="34" charset="-128"/>
            </a:endParaRPr>
          </a:p>
          <a:p>
            <a:pPr algn="just"/>
            <a:endParaRPr lang="en-US" altLang="en-US" sz="2400" dirty="0">
              <a:solidFill>
                <a:schemeClr val="tx1"/>
              </a:solidFill>
              <a:ea typeface="ＭＳ Ｐゴシック" panose="020B0600070205080204" pitchFamily="34" charset="-128"/>
            </a:endParaRPr>
          </a:p>
        </p:txBody>
      </p:sp>
      <p:sp>
        <p:nvSpPr>
          <p:cNvPr id="9221"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dirty="0"/>
              <a:t>The Language of a Computer (1 of </a:t>
            </a:r>
            <a:r>
              <a:rPr lang="en-US" altLang="en-US" dirty="0" smtClean="0"/>
              <a:t>3)</a:t>
            </a:r>
            <a:endParaRPr lang="en-US" altLang="en-US" dirty="0"/>
          </a:p>
        </p:txBody>
      </p:sp>
      <p:sp>
        <p:nvSpPr>
          <p:cNvPr id="19459" name="Rectangle 3"/>
          <p:cNvSpPr>
            <a:spLocks noGrp="1" noChangeArrowheads="1"/>
          </p:cNvSpPr>
          <p:nvPr>
            <p:ph idx="1"/>
          </p:nvPr>
        </p:nvSpPr>
        <p:spPr>
          <a:xfrm>
            <a:off x="365125" y="1538818"/>
            <a:ext cx="8415338" cy="3911840"/>
          </a:xfrm>
        </p:spPr>
        <p:txBody>
          <a:bodyPr/>
          <a:lstStyle/>
          <a:p>
            <a:r>
              <a:rPr lang="en-US" sz="2400" dirty="0">
                <a:solidFill>
                  <a:schemeClr val="tx1"/>
                </a:solidFill>
              </a:rPr>
              <a:t>Electrical </a:t>
            </a:r>
            <a:r>
              <a:rPr lang="en-US" sz="2400" dirty="0" smtClean="0">
                <a:solidFill>
                  <a:schemeClr val="tx1"/>
                </a:solidFill>
              </a:rPr>
              <a:t>Signals (ES) </a:t>
            </a:r>
            <a:r>
              <a:rPr lang="en-US" sz="2400" dirty="0">
                <a:solidFill>
                  <a:schemeClr val="tx1"/>
                </a:solidFill>
              </a:rPr>
              <a:t>are used inside </a:t>
            </a:r>
            <a:r>
              <a:rPr lang="en-US" sz="2400" dirty="0" smtClean="0">
                <a:solidFill>
                  <a:schemeClr val="tx1"/>
                </a:solidFill>
              </a:rPr>
              <a:t>the </a:t>
            </a:r>
            <a:r>
              <a:rPr lang="en-MY" sz="2400" dirty="0" smtClean="0">
                <a:solidFill>
                  <a:schemeClr val="tx1"/>
                </a:solidFill>
              </a:rPr>
              <a:t>computer </a:t>
            </a:r>
            <a:r>
              <a:rPr lang="en-MY" sz="2400" dirty="0">
                <a:solidFill>
                  <a:schemeClr val="tx1"/>
                </a:solidFill>
              </a:rPr>
              <a:t>to process information</a:t>
            </a:r>
            <a:r>
              <a:rPr lang="en-MY" sz="2400" dirty="0" smtClean="0">
                <a:solidFill>
                  <a:schemeClr val="tx1"/>
                </a:solidFill>
              </a:rPr>
              <a:t>. There are two types of (ES)</a:t>
            </a:r>
          </a:p>
          <a:p>
            <a:pPr marL="571500" lvl="1" indent="-342900">
              <a:buFont typeface="+mj-lt"/>
              <a:buAutoNum type="arabicPeriod"/>
            </a:pPr>
            <a:r>
              <a:rPr lang="en-US" altLang="en-US" sz="2400" u="sng" dirty="0" smtClean="0">
                <a:solidFill>
                  <a:schemeClr val="tx1"/>
                </a:solidFill>
              </a:rPr>
              <a:t>Analog </a:t>
            </a:r>
            <a:r>
              <a:rPr lang="en-US" altLang="en-US" sz="2400" u="sng" dirty="0">
                <a:solidFill>
                  <a:schemeClr val="tx1"/>
                </a:solidFill>
              </a:rPr>
              <a:t>signals</a:t>
            </a:r>
            <a:r>
              <a:rPr lang="en-US" altLang="en-US" sz="2400" dirty="0">
                <a:solidFill>
                  <a:schemeClr val="tx1"/>
                </a:solidFill>
              </a:rPr>
              <a:t>: continuously varying continuous wave </a:t>
            </a:r>
            <a:r>
              <a:rPr lang="en-US" altLang="en-US" sz="2400" dirty="0" smtClean="0">
                <a:solidFill>
                  <a:schemeClr val="tx1"/>
                </a:solidFill>
              </a:rPr>
              <a:t>forms such as (sound (Audio tapes))</a:t>
            </a:r>
            <a:endParaRPr lang="en-US" altLang="en-US" sz="2400" dirty="0">
              <a:solidFill>
                <a:schemeClr val="tx1"/>
              </a:solidFill>
            </a:endParaRPr>
          </a:p>
          <a:p>
            <a:pPr marL="571500" lvl="1" indent="-342900">
              <a:buFont typeface="+mj-lt"/>
              <a:buAutoNum type="arabicPeriod"/>
            </a:pPr>
            <a:r>
              <a:rPr lang="en-US" altLang="en-US" sz="2400" u="sng" dirty="0">
                <a:solidFill>
                  <a:schemeClr val="tx1"/>
                </a:solidFill>
              </a:rPr>
              <a:t>Digital signals</a:t>
            </a:r>
            <a:r>
              <a:rPr lang="en-US" altLang="en-US" sz="2400" dirty="0">
                <a:solidFill>
                  <a:schemeClr val="tx1"/>
                </a:solidFill>
              </a:rPr>
              <a:t>: </a:t>
            </a:r>
            <a:r>
              <a:rPr lang="en-US" altLang="en-US" sz="2400" dirty="0" smtClean="0">
                <a:solidFill>
                  <a:schemeClr val="tx1"/>
                </a:solidFill>
              </a:rPr>
              <a:t>information with a sequences </a:t>
            </a:r>
            <a:r>
              <a:rPr lang="en-US" altLang="en-US" sz="2400" dirty="0">
                <a:solidFill>
                  <a:schemeClr val="tx1"/>
                </a:solidFill>
              </a:rPr>
              <a:t>of 0s and </a:t>
            </a:r>
            <a:r>
              <a:rPr lang="en-US" altLang="en-US" sz="2400" dirty="0" smtClean="0">
                <a:solidFill>
                  <a:schemeClr val="tx1"/>
                </a:solidFill>
              </a:rPr>
              <a:t>1s (0 represent for low voltages, 1 represent for high voltages)</a:t>
            </a:r>
            <a:endParaRPr lang="en-US" altLang="en-US" sz="2400" dirty="0">
              <a:solidFill>
                <a:schemeClr val="tx1"/>
              </a:solidFill>
            </a:endParaRPr>
          </a:p>
          <a:p>
            <a:r>
              <a:rPr lang="en-US" altLang="en-US" sz="2400" dirty="0">
                <a:solidFill>
                  <a:schemeClr val="tx1"/>
                </a:solidFill>
              </a:rPr>
              <a:t>L</a:t>
            </a:r>
            <a:r>
              <a:rPr lang="en-US" altLang="en-US" sz="2400" dirty="0" smtClean="0">
                <a:solidFill>
                  <a:schemeClr val="tx1"/>
                </a:solidFill>
              </a:rPr>
              <a:t>anguage </a:t>
            </a:r>
            <a:r>
              <a:rPr lang="en-US" altLang="en-US" sz="2400" dirty="0">
                <a:solidFill>
                  <a:schemeClr val="tx1"/>
                </a:solidFill>
              </a:rPr>
              <a:t>of a </a:t>
            </a:r>
            <a:r>
              <a:rPr lang="en-US" altLang="en-US" sz="2400" dirty="0" smtClean="0">
                <a:solidFill>
                  <a:schemeClr val="tx1"/>
                </a:solidFill>
              </a:rPr>
              <a:t>computer used to processed Digital signals called </a:t>
            </a:r>
            <a:r>
              <a:rPr lang="en-US" altLang="en-US" sz="2400" u="sng" dirty="0">
                <a:solidFill>
                  <a:schemeClr val="tx1"/>
                </a:solidFill>
              </a:rPr>
              <a:t>Machine </a:t>
            </a:r>
            <a:r>
              <a:rPr lang="en-US" altLang="en-US" sz="2400" u="sng" dirty="0" smtClean="0">
                <a:solidFill>
                  <a:schemeClr val="tx1"/>
                </a:solidFill>
              </a:rPr>
              <a:t>language</a:t>
            </a:r>
            <a:r>
              <a:rPr lang="en-US" altLang="en-US" sz="2400" dirty="0">
                <a:solidFill>
                  <a:schemeClr val="tx1"/>
                </a:solidFill>
              </a:rPr>
              <a:t> </a:t>
            </a:r>
            <a:r>
              <a:rPr lang="en-US" altLang="en-US" sz="2400" dirty="0" smtClean="0">
                <a:solidFill>
                  <a:schemeClr val="tx1"/>
                </a:solidFill>
              </a:rPr>
              <a:t>(A </a:t>
            </a:r>
            <a:r>
              <a:rPr lang="en-US" altLang="en-US" sz="2400" dirty="0">
                <a:solidFill>
                  <a:schemeClr val="tx1"/>
                </a:solidFill>
              </a:rPr>
              <a:t>sequence of 0s and </a:t>
            </a:r>
            <a:r>
              <a:rPr lang="en-US" altLang="en-US" sz="2400" dirty="0" smtClean="0">
                <a:solidFill>
                  <a:schemeClr val="tx1"/>
                </a:solidFill>
              </a:rPr>
              <a:t>1s)</a:t>
            </a:r>
            <a:endParaRPr lang="en-US" altLang="en-US" sz="2400" dirty="0">
              <a:solidFill>
                <a:schemeClr val="tx1"/>
              </a:solidFill>
            </a:endParaRPr>
          </a:p>
          <a:p>
            <a:pPr lvl="1"/>
            <a:r>
              <a:rPr lang="en-US" altLang="en-US" sz="2200" u="sng" dirty="0">
                <a:solidFill>
                  <a:schemeClr val="tx1"/>
                </a:solidFill>
              </a:rPr>
              <a:t>Binary digit (bit)</a:t>
            </a:r>
            <a:r>
              <a:rPr lang="en-US" altLang="en-US" sz="2200" dirty="0">
                <a:solidFill>
                  <a:schemeClr val="tx1"/>
                </a:solidFill>
              </a:rPr>
              <a:t>: the digit 0 or 1  </a:t>
            </a:r>
          </a:p>
          <a:p>
            <a:pPr lvl="1"/>
            <a:r>
              <a:rPr lang="en-US" altLang="en-US" sz="2200" u="sng" dirty="0">
                <a:solidFill>
                  <a:schemeClr val="tx1"/>
                </a:solidFill>
              </a:rPr>
              <a:t>Binary code (binary number)</a:t>
            </a:r>
            <a:r>
              <a:rPr lang="en-US" altLang="en-US" sz="2200" dirty="0">
                <a:solidFill>
                  <a:schemeClr val="tx1"/>
                </a:solidFill>
              </a:rPr>
              <a:t>: a sequence of 0s and 1s </a:t>
            </a:r>
            <a:endParaRPr lang="en-US" altLang="en-US" sz="2200" dirty="0" smtClean="0">
              <a:solidFill>
                <a:schemeClr val="tx1"/>
              </a:solidFill>
            </a:endParaRPr>
          </a:p>
        </p:txBody>
      </p:sp>
      <p:sp>
        <p:nvSpPr>
          <p:cNvPr id="19461"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a:t>The Language of a Computer </a:t>
            </a:r>
            <a:r>
              <a:rPr lang="en-US" altLang="en-US" dirty="0" smtClean="0"/>
              <a:t>(2 </a:t>
            </a:r>
            <a:r>
              <a:rPr lang="en-US" altLang="en-US" dirty="0"/>
              <a:t>of </a:t>
            </a:r>
            <a:r>
              <a:rPr lang="en-US" altLang="en-US" dirty="0" smtClean="0"/>
              <a:t>3)</a:t>
            </a:r>
            <a:endParaRPr lang="en-US" dirty="0"/>
          </a:p>
        </p:txBody>
      </p:sp>
      <p:sp>
        <p:nvSpPr>
          <p:cNvPr id="6" name="Text Placeholder 5"/>
          <p:cNvSpPr>
            <a:spLocks noGrp="1"/>
          </p:cNvSpPr>
          <p:nvPr>
            <p:ph type="body" sz="quarter" idx="11"/>
          </p:nvPr>
        </p:nvSpPr>
        <p:spPr>
          <a:xfrm>
            <a:off x="533400" y="1607996"/>
            <a:ext cx="2057400" cy="297004"/>
          </a:xfrm>
        </p:spPr>
        <p:txBody>
          <a:bodyPr/>
          <a:lstStyle/>
          <a:p>
            <a:r>
              <a:rPr lang="en-US" b="1" dirty="0"/>
              <a:t>TABLE 1-1 </a:t>
            </a:r>
            <a:r>
              <a:rPr lang="en-US" dirty="0"/>
              <a:t>Binary Units </a:t>
            </a:r>
          </a:p>
        </p:txBody>
      </p:sp>
      <p:graphicFrame>
        <p:nvGraphicFramePr>
          <p:cNvPr id="4" name="Table 3" descr="Table 1-1 summarizes the terms used to describe various numbers of bytes."/>
          <p:cNvGraphicFramePr>
            <a:graphicFrameLocks noGrp="1"/>
          </p:cNvGraphicFramePr>
          <p:nvPr>
            <p:extLst>
              <p:ext uri="{D42A27DB-BD31-4B8C-83A1-F6EECF244321}">
                <p14:modId xmlns:p14="http://schemas.microsoft.com/office/powerpoint/2010/main" val="3528650970"/>
              </p:ext>
            </p:extLst>
          </p:nvPr>
        </p:nvGraphicFramePr>
        <p:xfrm>
          <a:off x="533400" y="1920240"/>
          <a:ext cx="8077200" cy="33375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052744">
                  <a:extLst>
                    <a:ext uri="{9D8B030D-6E8A-4147-A177-3AD203B41FA5}">
                      <a16:colId xmlns:a16="http://schemas.microsoft.com/office/drawing/2014/main" val="20001"/>
                    </a:ext>
                  </a:extLst>
                </a:gridCol>
                <a:gridCol w="5881456">
                  <a:extLst>
                    <a:ext uri="{9D8B030D-6E8A-4147-A177-3AD203B41FA5}">
                      <a16:colId xmlns:a16="http://schemas.microsoft.com/office/drawing/2014/main" val="20002"/>
                    </a:ext>
                  </a:extLst>
                </a:gridCol>
              </a:tblGrid>
              <a:tr h="370840">
                <a:tc>
                  <a:txBody>
                    <a:bodyPr/>
                    <a:lstStyle/>
                    <a:p>
                      <a:r>
                        <a:rPr lang="en-US" sz="1600" b="1" i="0" u="none" strike="noStrike" kern="1200" baseline="0" dirty="0">
                          <a:solidFill>
                            <a:schemeClr val="tx1"/>
                          </a:solidFill>
                          <a:latin typeface="+mn-lt"/>
                          <a:ea typeface="+mn-ea"/>
                          <a:cs typeface="+mn-cs"/>
                        </a:rPr>
                        <a:t>Unit</a:t>
                      </a:r>
                      <a:endParaRPr lang="en-US" sz="1600" dirty="0">
                        <a:solidFill>
                          <a:schemeClr val="tx1"/>
                        </a:solidFill>
                      </a:endParaRPr>
                    </a:p>
                  </a:txBody>
                  <a:tcPr>
                    <a:solidFill>
                      <a:srgbClr val="D1A70C"/>
                    </a:solidFill>
                  </a:tcPr>
                </a:tc>
                <a:tc>
                  <a:txBody>
                    <a:bodyPr/>
                    <a:lstStyle/>
                    <a:p>
                      <a:r>
                        <a:rPr lang="en-US" sz="1600" dirty="0">
                          <a:solidFill>
                            <a:schemeClr val="tx1"/>
                          </a:solidFill>
                        </a:rPr>
                        <a:t>Symbol</a:t>
                      </a:r>
                    </a:p>
                  </a:txBody>
                  <a:tcPr>
                    <a:solidFill>
                      <a:srgbClr val="D1A70C"/>
                    </a:solidFill>
                  </a:tcPr>
                </a:tc>
                <a:tc>
                  <a:txBody>
                    <a:bodyPr/>
                    <a:lstStyle/>
                    <a:p>
                      <a:r>
                        <a:rPr lang="en-US" sz="1600" dirty="0">
                          <a:solidFill>
                            <a:schemeClr val="tx1"/>
                          </a:solidFill>
                        </a:rPr>
                        <a:t>Bits/Bytes</a:t>
                      </a:r>
                    </a:p>
                  </a:txBody>
                  <a:tcPr>
                    <a:solidFill>
                      <a:srgbClr val="D1A70C"/>
                    </a:solidFill>
                  </a:tcPr>
                </a:tc>
                <a:extLst>
                  <a:ext uri="{0D108BD9-81ED-4DB2-BD59-A6C34878D82A}">
                    <a16:rowId xmlns:a16="http://schemas.microsoft.com/office/drawing/2014/main" val="10000"/>
                  </a:ext>
                </a:extLst>
              </a:tr>
              <a:tr h="370840">
                <a:tc>
                  <a:txBody>
                    <a:bodyPr/>
                    <a:lstStyle/>
                    <a:p>
                      <a:r>
                        <a:rPr lang="en-US" sz="1600" dirty="0">
                          <a:solidFill>
                            <a:schemeClr val="tx1"/>
                          </a:solidFill>
                        </a:rPr>
                        <a:t>Byte</a:t>
                      </a:r>
                    </a:p>
                  </a:txBody>
                  <a:tcPr>
                    <a:solidFill>
                      <a:srgbClr val="F2E7D0"/>
                    </a:solidFill>
                  </a:tcPr>
                </a:tc>
                <a:tc>
                  <a:txBody>
                    <a:bodyPr/>
                    <a:lstStyle/>
                    <a:p>
                      <a:endParaRPr lang="en-US" sz="1600" dirty="0">
                        <a:solidFill>
                          <a:schemeClr val="tx1"/>
                        </a:solidFill>
                      </a:endParaRPr>
                    </a:p>
                  </a:txBody>
                  <a:tcPr>
                    <a:solidFill>
                      <a:srgbClr val="F2E7D0"/>
                    </a:solidFill>
                  </a:tcPr>
                </a:tc>
                <a:tc>
                  <a:txBody>
                    <a:bodyPr/>
                    <a:lstStyle/>
                    <a:p>
                      <a:r>
                        <a:rPr lang="en-US" sz="1600" dirty="0">
                          <a:solidFill>
                            <a:schemeClr val="tx1"/>
                          </a:solidFill>
                        </a:rPr>
                        <a:t>8 bits</a:t>
                      </a:r>
                    </a:p>
                  </a:txBody>
                  <a:tcPr>
                    <a:solidFill>
                      <a:srgbClr val="F2E7D0"/>
                    </a:solidFill>
                  </a:tcPr>
                </a:tc>
                <a:extLst>
                  <a:ext uri="{0D108BD9-81ED-4DB2-BD59-A6C34878D82A}">
                    <a16:rowId xmlns:a16="http://schemas.microsoft.com/office/drawing/2014/main" val="10001"/>
                  </a:ext>
                </a:extLst>
              </a:tr>
              <a:tr h="370840">
                <a:tc>
                  <a:txBody>
                    <a:bodyPr/>
                    <a:lstStyle/>
                    <a:p>
                      <a:r>
                        <a:rPr lang="en-US" sz="1600" dirty="0">
                          <a:solidFill>
                            <a:schemeClr val="tx1"/>
                          </a:solidFill>
                        </a:rPr>
                        <a:t>Kilobyte</a:t>
                      </a:r>
                    </a:p>
                  </a:txBody>
                  <a:tcPr>
                    <a:solidFill>
                      <a:srgbClr val="F2E7D0"/>
                    </a:solidFill>
                  </a:tcPr>
                </a:tc>
                <a:tc>
                  <a:txBody>
                    <a:bodyPr/>
                    <a:lstStyle/>
                    <a:p>
                      <a:r>
                        <a:rPr lang="en-US" sz="1600" dirty="0">
                          <a:solidFill>
                            <a:schemeClr val="tx1"/>
                          </a:solidFill>
                        </a:rPr>
                        <a:t>KB</a:t>
                      </a:r>
                    </a:p>
                  </a:txBody>
                  <a:tcPr>
                    <a:solidFill>
                      <a:srgbClr val="F2E7D0"/>
                    </a:solidFill>
                  </a:tcPr>
                </a:tc>
                <a:tc>
                  <a:txBody>
                    <a:bodyPr/>
                    <a:lstStyle/>
                    <a:p>
                      <a:r>
                        <a:rPr lang="en-US" sz="1600" dirty="0">
                          <a:solidFill>
                            <a:schemeClr val="tx1"/>
                          </a:solidFill>
                        </a:rPr>
                        <a:t>2</a:t>
                      </a:r>
                      <a:r>
                        <a:rPr lang="en-US" sz="1600" baseline="30000" dirty="0">
                          <a:solidFill>
                            <a:schemeClr val="tx1"/>
                          </a:solidFill>
                        </a:rPr>
                        <a:t>10</a:t>
                      </a:r>
                      <a:r>
                        <a:rPr lang="en-US" sz="1600" dirty="0">
                          <a:solidFill>
                            <a:schemeClr val="tx1"/>
                          </a:solidFill>
                        </a:rPr>
                        <a:t> bytes = 1024 bytes</a:t>
                      </a:r>
                    </a:p>
                  </a:txBody>
                  <a:tcPr>
                    <a:solidFill>
                      <a:srgbClr val="F2E7D0"/>
                    </a:solidFill>
                  </a:tcPr>
                </a:tc>
                <a:extLst>
                  <a:ext uri="{0D108BD9-81ED-4DB2-BD59-A6C34878D82A}">
                    <a16:rowId xmlns:a16="http://schemas.microsoft.com/office/drawing/2014/main" val="10002"/>
                  </a:ext>
                </a:extLst>
              </a:tr>
              <a:tr h="370840">
                <a:tc>
                  <a:txBody>
                    <a:bodyPr/>
                    <a:lstStyle/>
                    <a:p>
                      <a:r>
                        <a:rPr lang="en-US" sz="1600" dirty="0">
                          <a:solidFill>
                            <a:schemeClr val="tx1"/>
                          </a:solidFill>
                        </a:rPr>
                        <a:t>Megabyte</a:t>
                      </a:r>
                    </a:p>
                  </a:txBody>
                  <a:tcPr>
                    <a:solidFill>
                      <a:srgbClr val="F2E7D0"/>
                    </a:solidFill>
                  </a:tcPr>
                </a:tc>
                <a:tc>
                  <a:txBody>
                    <a:bodyPr/>
                    <a:lstStyle/>
                    <a:p>
                      <a:r>
                        <a:rPr lang="en-US" sz="1600" dirty="0">
                          <a:solidFill>
                            <a:schemeClr val="tx1"/>
                          </a:solidFill>
                        </a:rPr>
                        <a:t>MB</a:t>
                      </a:r>
                    </a:p>
                  </a:txBody>
                  <a:tcPr>
                    <a:solidFill>
                      <a:srgbClr val="F2E7D0"/>
                    </a:solidFill>
                  </a:tcPr>
                </a:tc>
                <a:tc>
                  <a:txBody>
                    <a:bodyPr/>
                    <a:lstStyle/>
                    <a:p>
                      <a:r>
                        <a:rPr lang="en-US" sz="1600" b="0" i="0" u="none" strike="noStrike" kern="1200" baseline="0" dirty="0">
                          <a:solidFill>
                            <a:schemeClr val="dk1"/>
                          </a:solidFill>
                          <a:latin typeface="+mn-lt"/>
                          <a:ea typeface="+mn-ea"/>
                          <a:cs typeface="+mn-cs"/>
                        </a:rPr>
                        <a:t>10</a:t>
                      </a:r>
                      <a:r>
                        <a:rPr lang="en-US" sz="1600" b="0" i="0" u="none" strike="noStrike" kern="1200" baseline="30000" dirty="0">
                          <a:solidFill>
                            <a:schemeClr val="dk1"/>
                          </a:solidFill>
                          <a:latin typeface="+mn-lt"/>
                          <a:ea typeface="+mn-ea"/>
                          <a:cs typeface="+mn-cs"/>
                        </a:rPr>
                        <a:t>24</a:t>
                      </a:r>
                      <a:r>
                        <a:rPr lang="en-US" sz="1600" b="0" i="0" u="none" strike="noStrike" kern="1200" baseline="0" dirty="0">
                          <a:solidFill>
                            <a:schemeClr val="dk1"/>
                          </a:solidFill>
                          <a:latin typeface="+mn-lt"/>
                          <a:ea typeface="+mn-ea"/>
                          <a:cs typeface="+mn-cs"/>
                        </a:rPr>
                        <a:t> KB = 2</a:t>
                      </a:r>
                      <a:r>
                        <a:rPr lang="en-US" sz="1600" b="0" i="0" u="none" strike="noStrike" kern="1200" baseline="30000" dirty="0">
                          <a:solidFill>
                            <a:schemeClr val="dk1"/>
                          </a:solidFill>
                          <a:latin typeface="+mn-lt"/>
                          <a:ea typeface="+mn-ea"/>
                          <a:cs typeface="+mn-cs"/>
                        </a:rPr>
                        <a:t>10</a:t>
                      </a:r>
                      <a:r>
                        <a:rPr lang="en-US" sz="1600" b="0" i="0" u="none" strike="noStrike" kern="1200" baseline="0" dirty="0">
                          <a:solidFill>
                            <a:schemeClr val="dk1"/>
                          </a:solidFill>
                          <a:latin typeface="+mn-lt"/>
                          <a:ea typeface="+mn-ea"/>
                          <a:cs typeface="+mn-cs"/>
                        </a:rPr>
                        <a:t> KB = 2</a:t>
                      </a:r>
                      <a:r>
                        <a:rPr lang="en-US" sz="1600" b="0" i="0" u="none" strike="noStrike" kern="1200" baseline="30000" dirty="0">
                          <a:solidFill>
                            <a:schemeClr val="dk1"/>
                          </a:solidFill>
                          <a:latin typeface="+mn-lt"/>
                          <a:ea typeface="+mn-ea"/>
                          <a:cs typeface="+mn-cs"/>
                        </a:rPr>
                        <a:t>20</a:t>
                      </a:r>
                      <a:r>
                        <a:rPr lang="en-US" sz="1600" b="0" i="0" u="none" strike="noStrike" kern="1200" baseline="0" dirty="0">
                          <a:solidFill>
                            <a:schemeClr val="dk1"/>
                          </a:solidFill>
                          <a:latin typeface="+mn-lt"/>
                          <a:ea typeface="+mn-ea"/>
                          <a:cs typeface="+mn-cs"/>
                        </a:rPr>
                        <a:t> bytes = 1,048,576 bytes</a:t>
                      </a:r>
                      <a:endParaRPr lang="en-US" sz="1600" dirty="0">
                        <a:solidFill>
                          <a:schemeClr val="tx1"/>
                        </a:solidFill>
                      </a:endParaRPr>
                    </a:p>
                  </a:txBody>
                  <a:tcPr>
                    <a:solidFill>
                      <a:srgbClr val="F2E7D0"/>
                    </a:solidFill>
                  </a:tcPr>
                </a:tc>
                <a:extLst>
                  <a:ext uri="{0D108BD9-81ED-4DB2-BD59-A6C34878D82A}">
                    <a16:rowId xmlns:a16="http://schemas.microsoft.com/office/drawing/2014/main" val="10003"/>
                  </a:ext>
                </a:extLst>
              </a:tr>
              <a:tr h="370840">
                <a:tc>
                  <a:txBody>
                    <a:bodyPr/>
                    <a:lstStyle/>
                    <a:p>
                      <a:r>
                        <a:rPr lang="en-US" sz="1600" dirty="0">
                          <a:solidFill>
                            <a:schemeClr val="tx1"/>
                          </a:solidFill>
                        </a:rPr>
                        <a:t>Gigabyte</a:t>
                      </a:r>
                    </a:p>
                  </a:txBody>
                  <a:tcPr>
                    <a:solidFill>
                      <a:srgbClr val="F2E7D0"/>
                    </a:solidFill>
                  </a:tcPr>
                </a:tc>
                <a:tc>
                  <a:txBody>
                    <a:bodyPr/>
                    <a:lstStyle/>
                    <a:p>
                      <a:r>
                        <a:rPr lang="en-US" sz="1600" dirty="0">
                          <a:solidFill>
                            <a:schemeClr val="tx1"/>
                          </a:solidFill>
                        </a:rPr>
                        <a:t>GB</a:t>
                      </a:r>
                    </a:p>
                  </a:txBody>
                  <a:tcPr>
                    <a:solidFill>
                      <a:srgbClr val="F2E7D0"/>
                    </a:solidFill>
                  </a:tcPr>
                </a:tc>
                <a:tc>
                  <a:txBody>
                    <a:bodyPr/>
                    <a:lstStyle/>
                    <a:p>
                      <a:r>
                        <a:rPr lang="en-US" sz="1600" b="0" i="0" u="none" strike="noStrike" kern="1200" baseline="0" dirty="0">
                          <a:solidFill>
                            <a:schemeClr val="dk1"/>
                          </a:solidFill>
                          <a:latin typeface="+mn-lt"/>
                          <a:ea typeface="+mn-ea"/>
                          <a:cs typeface="+mn-cs"/>
                        </a:rPr>
                        <a:t>10</a:t>
                      </a:r>
                      <a:r>
                        <a:rPr lang="en-US" sz="1600" b="0" i="0" u="none" strike="noStrike" kern="1200" baseline="30000" dirty="0">
                          <a:solidFill>
                            <a:schemeClr val="dk1"/>
                          </a:solidFill>
                          <a:latin typeface="+mn-lt"/>
                          <a:ea typeface="+mn-ea"/>
                          <a:cs typeface="+mn-cs"/>
                        </a:rPr>
                        <a:t>24</a:t>
                      </a:r>
                      <a:r>
                        <a:rPr lang="en-US" sz="1600" b="0" i="0" u="none" strike="noStrike" kern="1200" baseline="0" dirty="0">
                          <a:solidFill>
                            <a:schemeClr val="dk1"/>
                          </a:solidFill>
                          <a:latin typeface="+mn-lt"/>
                          <a:ea typeface="+mn-ea"/>
                          <a:cs typeface="+mn-cs"/>
                        </a:rPr>
                        <a:t>MB = 2</a:t>
                      </a:r>
                      <a:r>
                        <a:rPr lang="en-US" sz="1600" b="0" i="0" u="none" strike="noStrike" kern="1200" baseline="30000" dirty="0">
                          <a:solidFill>
                            <a:schemeClr val="dk1"/>
                          </a:solidFill>
                          <a:latin typeface="+mn-lt"/>
                          <a:ea typeface="+mn-ea"/>
                          <a:cs typeface="+mn-cs"/>
                        </a:rPr>
                        <a:t>10</a:t>
                      </a:r>
                      <a:r>
                        <a:rPr lang="en-US" sz="1600" b="0" i="0" u="none" strike="noStrike" kern="1200" baseline="0" dirty="0">
                          <a:solidFill>
                            <a:schemeClr val="dk1"/>
                          </a:solidFill>
                          <a:latin typeface="+mn-lt"/>
                          <a:ea typeface="+mn-ea"/>
                          <a:cs typeface="+mn-cs"/>
                        </a:rPr>
                        <a:t> MB = 2</a:t>
                      </a:r>
                      <a:r>
                        <a:rPr lang="en-US" sz="1600" b="0" i="0" u="none" strike="noStrike" kern="1200" baseline="30000" dirty="0">
                          <a:solidFill>
                            <a:schemeClr val="dk1"/>
                          </a:solidFill>
                          <a:latin typeface="+mn-lt"/>
                          <a:ea typeface="+mn-ea"/>
                          <a:cs typeface="+mn-cs"/>
                        </a:rPr>
                        <a:t>30</a:t>
                      </a:r>
                      <a:r>
                        <a:rPr lang="en-US" sz="1600" b="0" i="0" u="none" strike="noStrike" kern="1200" baseline="0" dirty="0">
                          <a:solidFill>
                            <a:schemeClr val="dk1"/>
                          </a:solidFill>
                          <a:latin typeface="+mn-lt"/>
                          <a:ea typeface="+mn-ea"/>
                          <a:cs typeface="+mn-cs"/>
                        </a:rPr>
                        <a:t> bytes = 1,073,741,824 bytes</a:t>
                      </a:r>
                      <a:endParaRPr lang="en-US" sz="1600" dirty="0">
                        <a:solidFill>
                          <a:schemeClr val="tx1"/>
                        </a:solidFill>
                      </a:endParaRPr>
                    </a:p>
                  </a:txBody>
                  <a:tcPr>
                    <a:solidFill>
                      <a:srgbClr val="F2E7D0"/>
                    </a:solidFill>
                  </a:tcPr>
                </a:tc>
                <a:extLst>
                  <a:ext uri="{0D108BD9-81ED-4DB2-BD59-A6C34878D82A}">
                    <a16:rowId xmlns:a16="http://schemas.microsoft.com/office/drawing/2014/main" val="10004"/>
                  </a:ext>
                </a:extLst>
              </a:tr>
              <a:tr h="370840">
                <a:tc>
                  <a:txBody>
                    <a:bodyPr/>
                    <a:lstStyle/>
                    <a:p>
                      <a:r>
                        <a:rPr lang="en-US" sz="1600" dirty="0">
                          <a:solidFill>
                            <a:schemeClr val="tx1"/>
                          </a:solidFill>
                        </a:rPr>
                        <a:t>Terabyte</a:t>
                      </a:r>
                    </a:p>
                  </a:txBody>
                  <a:tcPr>
                    <a:solidFill>
                      <a:srgbClr val="F2E7D0"/>
                    </a:solidFill>
                  </a:tcPr>
                </a:tc>
                <a:tc>
                  <a:txBody>
                    <a:bodyPr/>
                    <a:lstStyle/>
                    <a:p>
                      <a:r>
                        <a:rPr lang="en-US" sz="1600" dirty="0">
                          <a:solidFill>
                            <a:schemeClr val="tx1"/>
                          </a:solidFill>
                        </a:rPr>
                        <a:t>TB</a:t>
                      </a:r>
                    </a:p>
                  </a:txBody>
                  <a:tcPr>
                    <a:solidFill>
                      <a:srgbClr val="F2E7D0"/>
                    </a:solidFill>
                  </a:tcPr>
                </a:tc>
                <a:tc>
                  <a:txBody>
                    <a:bodyPr/>
                    <a:lstStyle/>
                    <a:p>
                      <a:r>
                        <a:rPr lang="sv-SE" sz="1600" b="0" i="0" u="none" strike="noStrike" kern="1200" baseline="0" dirty="0">
                          <a:solidFill>
                            <a:schemeClr val="dk1"/>
                          </a:solidFill>
                          <a:latin typeface="+mn-lt"/>
                          <a:ea typeface="+mn-ea"/>
                          <a:cs typeface="+mn-cs"/>
                        </a:rPr>
                        <a:t>10</a:t>
                      </a:r>
                      <a:r>
                        <a:rPr lang="sv-SE" sz="1600" b="0" i="0" u="none" strike="noStrike" kern="1200" baseline="30000" dirty="0">
                          <a:solidFill>
                            <a:schemeClr val="dk1"/>
                          </a:solidFill>
                          <a:latin typeface="+mn-lt"/>
                          <a:ea typeface="+mn-ea"/>
                          <a:cs typeface="+mn-cs"/>
                        </a:rPr>
                        <a:t>24</a:t>
                      </a:r>
                      <a:r>
                        <a:rPr lang="sv-SE" sz="1600" b="0" i="0" u="none" strike="noStrike" kern="1200" baseline="0" dirty="0">
                          <a:solidFill>
                            <a:schemeClr val="dk1"/>
                          </a:solidFill>
                          <a:latin typeface="+mn-lt"/>
                          <a:ea typeface="+mn-ea"/>
                          <a:cs typeface="+mn-cs"/>
                        </a:rPr>
                        <a:t> GB = 2</a:t>
                      </a:r>
                      <a:r>
                        <a:rPr lang="sv-SE" sz="1600" b="0" i="0" u="none" strike="noStrike" kern="1200" baseline="30000" dirty="0">
                          <a:solidFill>
                            <a:schemeClr val="dk1"/>
                          </a:solidFill>
                          <a:latin typeface="+mn-lt"/>
                          <a:ea typeface="+mn-ea"/>
                          <a:cs typeface="+mn-cs"/>
                        </a:rPr>
                        <a:t>10</a:t>
                      </a:r>
                      <a:r>
                        <a:rPr lang="sv-SE" sz="1600" b="0" i="0" u="none" strike="noStrike" kern="1200" baseline="0" dirty="0">
                          <a:solidFill>
                            <a:schemeClr val="dk1"/>
                          </a:solidFill>
                          <a:latin typeface="+mn-lt"/>
                          <a:ea typeface="+mn-ea"/>
                          <a:cs typeface="+mn-cs"/>
                        </a:rPr>
                        <a:t> GB = 2</a:t>
                      </a:r>
                      <a:r>
                        <a:rPr lang="sv-SE" sz="1600" b="0" i="0" u="none" strike="noStrike" kern="1200" baseline="30000" dirty="0">
                          <a:solidFill>
                            <a:schemeClr val="dk1"/>
                          </a:solidFill>
                          <a:latin typeface="+mn-lt"/>
                          <a:ea typeface="+mn-ea"/>
                          <a:cs typeface="+mn-cs"/>
                        </a:rPr>
                        <a:t>40</a:t>
                      </a:r>
                      <a:r>
                        <a:rPr lang="sv-SE" sz="1600" b="0" i="0" u="none" strike="noStrike" kern="1200" baseline="0" dirty="0">
                          <a:solidFill>
                            <a:schemeClr val="dk1"/>
                          </a:solidFill>
                          <a:latin typeface="+mn-lt"/>
                          <a:ea typeface="+mn-ea"/>
                          <a:cs typeface="+mn-cs"/>
                        </a:rPr>
                        <a:t> bytes = 1,099,511,627,776 bytes</a:t>
                      </a:r>
                      <a:endParaRPr lang="en-US" sz="1600" dirty="0">
                        <a:solidFill>
                          <a:schemeClr val="tx1"/>
                        </a:solidFill>
                      </a:endParaRPr>
                    </a:p>
                  </a:txBody>
                  <a:tcPr>
                    <a:solidFill>
                      <a:srgbClr val="F2E7D0"/>
                    </a:solidFill>
                  </a:tcPr>
                </a:tc>
                <a:extLst>
                  <a:ext uri="{0D108BD9-81ED-4DB2-BD59-A6C34878D82A}">
                    <a16:rowId xmlns:a16="http://schemas.microsoft.com/office/drawing/2014/main" val="10005"/>
                  </a:ext>
                </a:extLst>
              </a:tr>
              <a:tr h="370840">
                <a:tc>
                  <a:txBody>
                    <a:bodyPr/>
                    <a:lstStyle/>
                    <a:p>
                      <a:r>
                        <a:rPr lang="en-US" sz="1600" dirty="0">
                          <a:solidFill>
                            <a:schemeClr val="tx1"/>
                          </a:solidFill>
                        </a:rPr>
                        <a:t>Petabyte</a:t>
                      </a:r>
                    </a:p>
                  </a:txBody>
                  <a:tcPr>
                    <a:solidFill>
                      <a:srgbClr val="F2E7D0"/>
                    </a:solidFill>
                  </a:tcPr>
                </a:tc>
                <a:tc>
                  <a:txBody>
                    <a:bodyPr/>
                    <a:lstStyle/>
                    <a:p>
                      <a:r>
                        <a:rPr lang="en-US" sz="1600" dirty="0">
                          <a:solidFill>
                            <a:schemeClr val="tx1"/>
                          </a:solidFill>
                        </a:rPr>
                        <a:t>PB</a:t>
                      </a:r>
                    </a:p>
                  </a:txBody>
                  <a:tcPr>
                    <a:solidFill>
                      <a:srgbClr val="F2E7D0"/>
                    </a:solidFill>
                  </a:tcPr>
                </a:tc>
                <a:tc>
                  <a:txBody>
                    <a:bodyPr/>
                    <a:lstStyle/>
                    <a:p>
                      <a:r>
                        <a:rPr lang="en-US" sz="1600" b="0" i="0" u="none" strike="noStrike" kern="1200" baseline="0" dirty="0">
                          <a:solidFill>
                            <a:schemeClr val="dk1"/>
                          </a:solidFill>
                          <a:latin typeface="+mn-lt"/>
                          <a:ea typeface="+mn-ea"/>
                          <a:cs typeface="+mn-cs"/>
                        </a:rPr>
                        <a:t>10</a:t>
                      </a:r>
                      <a:r>
                        <a:rPr lang="en-US" sz="1600" b="0" i="0" u="none" strike="noStrike" kern="1200" baseline="30000" dirty="0">
                          <a:solidFill>
                            <a:schemeClr val="dk1"/>
                          </a:solidFill>
                          <a:latin typeface="+mn-lt"/>
                          <a:ea typeface="+mn-ea"/>
                          <a:cs typeface="+mn-cs"/>
                        </a:rPr>
                        <a:t>24</a:t>
                      </a:r>
                      <a:r>
                        <a:rPr lang="en-US" sz="1600" b="0" i="0" u="none" strike="noStrike" kern="1200" baseline="0" dirty="0">
                          <a:solidFill>
                            <a:schemeClr val="dk1"/>
                          </a:solidFill>
                          <a:latin typeface="+mn-lt"/>
                          <a:ea typeface="+mn-ea"/>
                          <a:cs typeface="+mn-cs"/>
                        </a:rPr>
                        <a:t> TB = 2</a:t>
                      </a:r>
                      <a:r>
                        <a:rPr lang="en-US" sz="1600" b="0" i="0" u="none" strike="noStrike" kern="1200" baseline="30000" dirty="0">
                          <a:solidFill>
                            <a:schemeClr val="dk1"/>
                          </a:solidFill>
                          <a:latin typeface="+mn-lt"/>
                          <a:ea typeface="+mn-ea"/>
                          <a:cs typeface="+mn-cs"/>
                        </a:rPr>
                        <a:t>10</a:t>
                      </a:r>
                      <a:r>
                        <a:rPr lang="en-US" sz="1600" b="0" i="0" u="none" strike="noStrike" kern="1200" baseline="0" dirty="0">
                          <a:solidFill>
                            <a:schemeClr val="dk1"/>
                          </a:solidFill>
                          <a:latin typeface="+mn-lt"/>
                          <a:ea typeface="+mn-ea"/>
                          <a:cs typeface="+mn-cs"/>
                        </a:rPr>
                        <a:t> TB = 2</a:t>
                      </a:r>
                      <a:r>
                        <a:rPr lang="en-US" sz="1600" b="0" i="0" u="none" strike="noStrike" kern="1200" baseline="30000" dirty="0">
                          <a:solidFill>
                            <a:schemeClr val="dk1"/>
                          </a:solidFill>
                          <a:latin typeface="+mn-lt"/>
                          <a:ea typeface="+mn-ea"/>
                          <a:cs typeface="+mn-cs"/>
                        </a:rPr>
                        <a:t>50</a:t>
                      </a:r>
                      <a:r>
                        <a:rPr lang="en-US" sz="1600" b="0" i="0" u="none" strike="noStrike" kern="1200" baseline="0" dirty="0">
                          <a:solidFill>
                            <a:schemeClr val="dk1"/>
                          </a:solidFill>
                          <a:latin typeface="+mn-lt"/>
                          <a:ea typeface="+mn-ea"/>
                          <a:cs typeface="+mn-cs"/>
                        </a:rPr>
                        <a:t> bytes = 1,125,899,906,842,624 bytes</a:t>
                      </a:r>
                      <a:endParaRPr lang="en-US" sz="1600" dirty="0">
                        <a:solidFill>
                          <a:schemeClr val="tx1"/>
                        </a:solidFill>
                      </a:endParaRPr>
                    </a:p>
                  </a:txBody>
                  <a:tcPr>
                    <a:solidFill>
                      <a:srgbClr val="F2E7D0"/>
                    </a:solidFill>
                  </a:tcPr>
                </a:tc>
                <a:extLst>
                  <a:ext uri="{0D108BD9-81ED-4DB2-BD59-A6C34878D82A}">
                    <a16:rowId xmlns:a16="http://schemas.microsoft.com/office/drawing/2014/main" val="10006"/>
                  </a:ext>
                </a:extLst>
              </a:tr>
              <a:tr h="370840">
                <a:tc>
                  <a:txBody>
                    <a:bodyPr/>
                    <a:lstStyle/>
                    <a:p>
                      <a:r>
                        <a:rPr lang="en-US" sz="1600" dirty="0">
                          <a:solidFill>
                            <a:schemeClr val="tx1"/>
                          </a:solidFill>
                        </a:rPr>
                        <a:t>Exabyte</a:t>
                      </a:r>
                    </a:p>
                  </a:txBody>
                  <a:tcPr>
                    <a:solidFill>
                      <a:srgbClr val="F2E7D0"/>
                    </a:solidFill>
                  </a:tcPr>
                </a:tc>
                <a:tc>
                  <a:txBody>
                    <a:bodyPr/>
                    <a:lstStyle/>
                    <a:p>
                      <a:r>
                        <a:rPr lang="en-US" sz="1600" dirty="0">
                          <a:solidFill>
                            <a:schemeClr val="tx1"/>
                          </a:solidFill>
                        </a:rPr>
                        <a:t>EB</a:t>
                      </a:r>
                    </a:p>
                  </a:txBody>
                  <a:tcPr>
                    <a:solidFill>
                      <a:srgbClr val="F2E7D0"/>
                    </a:solidFill>
                  </a:tcPr>
                </a:tc>
                <a:tc>
                  <a:txBody>
                    <a:bodyPr/>
                    <a:lstStyle/>
                    <a:p>
                      <a:r>
                        <a:rPr lang="en-US" sz="1600" b="0" i="0" u="none" strike="noStrike" kern="1200" baseline="0" dirty="0">
                          <a:solidFill>
                            <a:schemeClr val="dk1"/>
                          </a:solidFill>
                          <a:latin typeface="+mn-lt"/>
                          <a:ea typeface="+mn-ea"/>
                          <a:cs typeface="+mn-cs"/>
                        </a:rPr>
                        <a:t>10</a:t>
                      </a:r>
                      <a:r>
                        <a:rPr lang="en-US" sz="1600" b="0" i="0" u="none" strike="noStrike" kern="1200" baseline="30000" dirty="0">
                          <a:solidFill>
                            <a:schemeClr val="dk1"/>
                          </a:solidFill>
                          <a:latin typeface="+mn-lt"/>
                          <a:ea typeface="+mn-ea"/>
                          <a:cs typeface="+mn-cs"/>
                        </a:rPr>
                        <a:t>24</a:t>
                      </a:r>
                      <a:r>
                        <a:rPr lang="en-US" sz="1600" b="0" i="0" u="none" strike="noStrike" kern="1200" baseline="0" dirty="0">
                          <a:solidFill>
                            <a:schemeClr val="dk1"/>
                          </a:solidFill>
                          <a:latin typeface="+mn-lt"/>
                          <a:ea typeface="+mn-ea"/>
                          <a:cs typeface="+mn-cs"/>
                        </a:rPr>
                        <a:t> PB = 2</a:t>
                      </a:r>
                      <a:r>
                        <a:rPr lang="en-US" sz="1600" b="0" i="0" u="none" strike="noStrike" kern="1200" baseline="30000" dirty="0">
                          <a:solidFill>
                            <a:schemeClr val="dk1"/>
                          </a:solidFill>
                          <a:latin typeface="+mn-lt"/>
                          <a:ea typeface="+mn-ea"/>
                          <a:cs typeface="+mn-cs"/>
                        </a:rPr>
                        <a:t>10</a:t>
                      </a:r>
                      <a:r>
                        <a:rPr lang="en-US" sz="1600" b="0" i="0" u="none" strike="noStrike" kern="1200" baseline="0" dirty="0">
                          <a:solidFill>
                            <a:schemeClr val="dk1"/>
                          </a:solidFill>
                          <a:latin typeface="+mn-lt"/>
                          <a:ea typeface="+mn-ea"/>
                          <a:cs typeface="+mn-cs"/>
                        </a:rPr>
                        <a:t> PB = 2</a:t>
                      </a:r>
                      <a:r>
                        <a:rPr lang="en-US" sz="1600" b="0" i="0" u="none" strike="noStrike" kern="1200" baseline="30000" dirty="0">
                          <a:solidFill>
                            <a:schemeClr val="dk1"/>
                          </a:solidFill>
                          <a:latin typeface="+mn-lt"/>
                          <a:ea typeface="+mn-ea"/>
                          <a:cs typeface="+mn-cs"/>
                        </a:rPr>
                        <a:t>60</a:t>
                      </a:r>
                      <a:r>
                        <a:rPr lang="en-US" sz="1600" b="0" i="0" u="none" strike="noStrike" kern="1200" baseline="0" dirty="0">
                          <a:solidFill>
                            <a:schemeClr val="dk1"/>
                          </a:solidFill>
                          <a:latin typeface="+mn-lt"/>
                          <a:ea typeface="+mn-ea"/>
                          <a:cs typeface="+mn-cs"/>
                        </a:rPr>
                        <a:t> bytes = 1,152,921,504,606,846,976 bytes</a:t>
                      </a:r>
                      <a:endParaRPr lang="en-US" sz="1600" dirty="0">
                        <a:solidFill>
                          <a:schemeClr val="tx1"/>
                        </a:solidFill>
                      </a:endParaRPr>
                    </a:p>
                  </a:txBody>
                  <a:tcPr>
                    <a:solidFill>
                      <a:srgbClr val="F2E7D0"/>
                    </a:solidFill>
                  </a:tcPr>
                </a:tc>
                <a:extLst>
                  <a:ext uri="{0D108BD9-81ED-4DB2-BD59-A6C34878D82A}">
                    <a16:rowId xmlns:a16="http://schemas.microsoft.com/office/drawing/2014/main" val="10007"/>
                  </a:ext>
                </a:extLst>
              </a:tr>
              <a:tr h="370840">
                <a:tc>
                  <a:txBody>
                    <a:bodyPr/>
                    <a:lstStyle/>
                    <a:p>
                      <a:r>
                        <a:rPr lang="en-US" sz="1600" dirty="0">
                          <a:solidFill>
                            <a:schemeClr val="tx1"/>
                          </a:solidFill>
                        </a:rPr>
                        <a:t>Zettabyte</a:t>
                      </a:r>
                    </a:p>
                  </a:txBody>
                  <a:tcPr>
                    <a:solidFill>
                      <a:srgbClr val="F2E7D0"/>
                    </a:solidFill>
                  </a:tcPr>
                </a:tc>
                <a:tc>
                  <a:txBody>
                    <a:bodyPr/>
                    <a:lstStyle/>
                    <a:p>
                      <a:r>
                        <a:rPr lang="en-US" sz="1600" dirty="0">
                          <a:solidFill>
                            <a:schemeClr val="tx1"/>
                          </a:solidFill>
                        </a:rPr>
                        <a:t>ZB</a:t>
                      </a:r>
                    </a:p>
                  </a:txBody>
                  <a:tcPr>
                    <a:solidFill>
                      <a:srgbClr val="F2E7D0"/>
                    </a:solidFill>
                  </a:tcPr>
                </a:tc>
                <a:tc>
                  <a:txBody>
                    <a:bodyPr/>
                    <a:lstStyle/>
                    <a:p>
                      <a:r>
                        <a:rPr lang="en-US" sz="1600" b="0" i="0" u="none" strike="noStrike" kern="1200" baseline="0" dirty="0">
                          <a:solidFill>
                            <a:schemeClr val="dk1"/>
                          </a:solidFill>
                          <a:latin typeface="+mn-lt"/>
                          <a:ea typeface="+mn-ea"/>
                          <a:cs typeface="+mn-cs"/>
                        </a:rPr>
                        <a:t>10</a:t>
                      </a:r>
                      <a:r>
                        <a:rPr lang="en-US" sz="1600" b="0" i="0" u="none" strike="noStrike" kern="1200" baseline="30000" dirty="0">
                          <a:solidFill>
                            <a:schemeClr val="dk1"/>
                          </a:solidFill>
                          <a:latin typeface="+mn-lt"/>
                          <a:ea typeface="+mn-ea"/>
                          <a:cs typeface="+mn-cs"/>
                        </a:rPr>
                        <a:t>24</a:t>
                      </a:r>
                      <a:r>
                        <a:rPr lang="en-US" sz="1600" b="0" i="0" u="none" strike="noStrike" kern="1200" baseline="0" dirty="0">
                          <a:solidFill>
                            <a:schemeClr val="dk1"/>
                          </a:solidFill>
                          <a:latin typeface="+mn-lt"/>
                          <a:ea typeface="+mn-ea"/>
                          <a:cs typeface="+mn-cs"/>
                        </a:rPr>
                        <a:t> EB5 2</a:t>
                      </a:r>
                      <a:r>
                        <a:rPr lang="en-US" sz="1600" b="0" i="0" u="none" strike="noStrike" kern="1200" baseline="30000" dirty="0">
                          <a:solidFill>
                            <a:schemeClr val="dk1"/>
                          </a:solidFill>
                          <a:latin typeface="+mn-lt"/>
                          <a:ea typeface="+mn-ea"/>
                          <a:cs typeface="+mn-cs"/>
                        </a:rPr>
                        <a:t>10</a:t>
                      </a:r>
                      <a:r>
                        <a:rPr lang="en-US" sz="1600" b="0" i="0" u="none" strike="noStrike" kern="1200" baseline="0" dirty="0">
                          <a:solidFill>
                            <a:schemeClr val="dk1"/>
                          </a:solidFill>
                          <a:latin typeface="+mn-lt"/>
                          <a:ea typeface="+mn-ea"/>
                          <a:cs typeface="+mn-cs"/>
                        </a:rPr>
                        <a:t> EB = 270 bytes = 1,180,591,620,717,411,303,424 bytes</a:t>
                      </a:r>
                      <a:endParaRPr lang="en-US" sz="1600" dirty="0">
                        <a:solidFill>
                          <a:schemeClr val="tx1"/>
                        </a:solidFill>
                      </a:endParaRPr>
                    </a:p>
                  </a:txBody>
                  <a:tcPr>
                    <a:solidFill>
                      <a:srgbClr val="F2E7D0"/>
                    </a:solidFill>
                  </a:tcPr>
                </a:tc>
                <a:extLst>
                  <a:ext uri="{0D108BD9-81ED-4DB2-BD59-A6C34878D82A}">
                    <a16:rowId xmlns:a16="http://schemas.microsoft.com/office/drawing/2014/main" val="10008"/>
                  </a:ext>
                </a:extLst>
              </a:tr>
            </a:tbl>
          </a:graphicData>
        </a:graphic>
      </p:graphicFrame>
      <p:sp>
        <p:nvSpPr>
          <p:cNvPr id="3" name="Footer Placeholder 2"/>
          <p:cNvSpPr>
            <a:spLocks noGrp="1"/>
          </p:cNvSpPr>
          <p:nvPr>
            <p:ph type="ftr" sz="quarter" idx="10"/>
          </p:nvPr>
        </p:nvSpPr>
        <p:spPr/>
        <p:txBody>
          <a:body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171258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a:t>The Language of a Computer </a:t>
            </a:r>
            <a:r>
              <a:rPr lang="en-US" altLang="en-US" dirty="0" smtClean="0"/>
              <a:t>(3 </a:t>
            </a:r>
            <a:r>
              <a:rPr lang="en-US" altLang="en-US" dirty="0"/>
              <a:t>of </a:t>
            </a:r>
            <a:r>
              <a:rPr lang="en-US" altLang="en-US" dirty="0" smtClean="0"/>
              <a:t>3)</a:t>
            </a:r>
            <a:endParaRPr lang="en-US" altLang="en-US" dirty="0"/>
          </a:p>
        </p:txBody>
      </p:sp>
      <p:sp>
        <p:nvSpPr>
          <p:cNvPr id="20483" name="Rectangle 3"/>
          <p:cNvSpPr>
            <a:spLocks noGrp="1" noChangeArrowheads="1"/>
          </p:cNvSpPr>
          <p:nvPr>
            <p:ph idx="1"/>
          </p:nvPr>
        </p:nvSpPr>
        <p:spPr>
          <a:xfrm>
            <a:off x="365125" y="1538818"/>
            <a:ext cx="8415338" cy="3499420"/>
          </a:xfrm>
        </p:spPr>
        <p:txBody>
          <a:bodyPr/>
          <a:lstStyle/>
          <a:p>
            <a:r>
              <a:rPr lang="en-US" altLang="en-US" sz="2400" u="sng" dirty="0">
                <a:solidFill>
                  <a:schemeClr val="tx1"/>
                </a:solidFill>
              </a:rPr>
              <a:t>Byte</a:t>
            </a:r>
            <a:r>
              <a:rPr lang="en-US" altLang="en-US" sz="2400" dirty="0">
                <a:solidFill>
                  <a:schemeClr val="tx1"/>
                </a:solidFill>
              </a:rPr>
              <a:t>: a sequence of eight bits</a:t>
            </a:r>
          </a:p>
          <a:p>
            <a:r>
              <a:rPr lang="en-US" altLang="en-US" sz="2400" u="sng" dirty="0">
                <a:solidFill>
                  <a:schemeClr val="tx1"/>
                </a:solidFill>
              </a:rPr>
              <a:t>Kilobyte (KB)</a:t>
            </a:r>
            <a:r>
              <a:rPr lang="en-US" altLang="en-US" sz="2400" dirty="0">
                <a:solidFill>
                  <a:schemeClr val="tx1"/>
                </a:solidFill>
              </a:rPr>
              <a:t>: 2</a:t>
            </a:r>
            <a:r>
              <a:rPr lang="en-US" altLang="en-US" sz="2400" baseline="30000" dirty="0">
                <a:solidFill>
                  <a:schemeClr val="tx1"/>
                </a:solidFill>
              </a:rPr>
              <a:t>10</a:t>
            </a:r>
            <a:r>
              <a:rPr lang="en-US" altLang="en-US" sz="2400" dirty="0">
                <a:solidFill>
                  <a:schemeClr val="tx1"/>
                </a:solidFill>
              </a:rPr>
              <a:t> bytes = 1024 bytes</a:t>
            </a:r>
          </a:p>
          <a:p>
            <a:r>
              <a:rPr lang="en-US" altLang="en-US" sz="2400" u="sng" dirty="0">
                <a:solidFill>
                  <a:schemeClr val="tx1"/>
                </a:solidFill>
              </a:rPr>
              <a:t>ASCII (American Standard Code for Information Interchange)</a:t>
            </a:r>
            <a:r>
              <a:rPr lang="en-US" altLang="en-US" sz="2400" dirty="0">
                <a:solidFill>
                  <a:schemeClr val="tx1"/>
                </a:solidFill>
              </a:rPr>
              <a:t> </a:t>
            </a:r>
          </a:p>
          <a:p>
            <a:pPr lvl="1"/>
            <a:r>
              <a:rPr lang="en-US" altLang="en-US" sz="2400" b="1" dirty="0" smtClean="0">
                <a:solidFill>
                  <a:schemeClr val="tx1"/>
                </a:solidFill>
                <a:latin typeface="Courier New" panose="02070309020205020404" pitchFamily="49" charset="0"/>
                <a:cs typeface="Courier New" panose="02070309020205020404" pitchFamily="49" charset="0"/>
              </a:rPr>
              <a:t>A</a:t>
            </a:r>
            <a:r>
              <a:rPr lang="en-US" altLang="en-US" sz="2400" dirty="0" smtClean="0">
                <a:solidFill>
                  <a:schemeClr val="tx1"/>
                </a:solidFill>
              </a:rPr>
              <a:t> </a:t>
            </a:r>
            <a:r>
              <a:rPr lang="en-US" altLang="en-US" sz="2400" dirty="0">
                <a:solidFill>
                  <a:schemeClr val="tx1"/>
                </a:solidFill>
              </a:rPr>
              <a:t>is encoded as 1000001 </a:t>
            </a:r>
          </a:p>
          <a:p>
            <a:pPr lvl="1"/>
            <a:r>
              <a:rPr lang="en-US" altLang="en-US" sz="2400" dirty="0">
                <a:solidFill>
                  <a:schemeClr val="tx1"/>
                </a:solidFill>
              </a:rPr>
              <a:t>The character </a:t>
            </a:r>
            <a:r>
              <a:rPr lang="en-US" altLang="en-US" sz="2400" b="1" dirty="0">
                <a:solidFill>
                  <a:schemeClr val="tx1"/>
                </a:solidFill>
                <a:latin typeface="Courier New" panose="02070309020205020404" pitchFamily="49" charset="0"/>
                <a:cs typeface="Courier New" panose="02070309020205020404" pitchFamily="49" charset="0"/>
              </a:rPr>
              <a:t>3</a:t>
            </a:r>
            <a:r>
              <a:rPr lang="en-US" altLang="en-US" sz="2400" dirty="0">
                <a:solidFill>
                  <a:schemeClr val="tx1"/>
                </a:solidFill>
              </a:rPr>
              <a:t> is encoded as 0110011 </a:t>
            </a:r>
          </a:p>
          <a:p>
            <a:pPr lvl="1"/>
            <a:r>
              <a:rPr lang="en-US" altLang="en-US" sz="2400" dirty="0" smtClean="0">
                <a:solidFill>
                  <a:schemeClr val="tx1"/>
                </a:solidFill>
              </a:rPr>
              <a:t>Number </a:t>
            </a:r>
            <a:r>
              <a:rPr lang="en-US" altLang="en-US" sz="2400" dirty="0">
                <a:solidFill>
                  <a:schemeClr val="tx1"/>
                </a:solidFill>
              </a:rPr>
              <a:t>systems</a:t>
            </a:r>
          </a:p>
          <a:p>
            <a:pPr lvl="2"/>
            <a:r>
              <a:rPr lang="en-US" altLang="en-US" sz="2200" dirty="0">
                <a:solidFill>
                  <a:schemeClr val="tx1"/>
                </a:solidFill>
              </a:rPr>
              <a:t>The </a:t>
            </a:r>
            <a:r>
              <a:rPr lang="en-US" altLang="en-US" sz="2200" u="sng" dirty="0">
                <a:solidFill>
                  <a:schemeClr val="tx1"/>
                </a:solidFill>
              </a:rPr>
              <a:t>decimal system (base 10)</a:t>
            </a:r>
            <a:r>
              <a:rPr lang="en-US" altLang="en-US" sz="2200" dirty="0">
                <a:solidFill>
                  <a:schemeClr val="tx1"/>
                </a:solidFill>
              </a:rPr>
              <a:t> is used in our daily life</a:t>
            </a:r>
          </a:p>
          <a:p>
            <a:pPr lvl="2"/>
            <a:r>
              <a:rPr lang="en-US" altLang="en-US" sz="2200" dirty="0">
                <a:solidFill>
                  <a:schemeClr val="tx1"/>
                </a:solidFill>
              </a:rPr>
              <a:t>The computer uses the </a:t>
            </a:r>
            <a:r>
              <a:rPr lang="en-US" altLang="en-US" sz="2200" u="sng" dirty="0">
                <a:solidFill>
                  <a:schemeClr val="tx1"/>
                </a:solidFill>
              </a:rPr>
              <a:t>binary</a:t>
            </a:r>
            <a:r>
              <a:rPr lang="en-US" altLang="en-US" sz="2200" dirty="0">
                <a:solidFill>
                  <a:schemeClr val="tx1"/>
                </a:solidFill>
              </a:rPr>
              <a:t> (or </a:t>
            </a:r>
            <a:r>
              <a:rPr lang="en-US" altLang="en-US" sz="2200" u="sng" dirty="0">
                <a:solidFill>
                  <a:schemeClr val="tx1"/>
                </a:solidFill>
              </a:rPr>
              <a:t>base 2</a:t>
            </a:r>
            <a:r>
              <a:rPr lang="en-US" altLang="en-US" sz="2200" dirty="0">
                <a:solidFill>
                  <a:schemeClr val="tx1"/>
                </a:solidFill>
              </a:rPr>
              <a:t>) number system</a:t>
            </a:r>
          </a:p>
        </p:txBody>
      </p:sp>
      <p:sp>
        <p:nvSpPr>
          <p:cNvPr id="20485"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dirty="0"/>
              <a:t>The Evolution of Programming Languages </a:t>
            </a:r>
            <a:r>
              <a:rPr lang="en-US" altLang="en-US" dirty="0" smtClean="0"/>
              <a:t>(1 </a:t>
            </a:r>
            <a:r>
              <a:rPr lang="en-US" altLang="en-US" dirty="0"/>
              <a:t>of </a:t>
            </a:r>
            <a:r>
              <a:rPr lang="en-US" altLang="en-US" dirty="0" smtClean="0"/>
              <a:t>4)</a:t>
            </a:r>
            <a:endParaRPr lang="en-US" altLang="en-US" dirty="0"/>
          </a:p>
        </p:txBody>
      </p:sp>
      <p:sp>
        <p:nvSpPr>
          <p:cNvPr id="24579" name="Rectangle 3"/>
          <p:cNvSpPr>
            <a:spLocks noGrp="1" noChangeArrowheads="1"/>
          </p:cNvSpPr>
          <p:nvPr>
            <p:ph idx="1"/>
          </p:nvPr>
        </p:nvSpPr>
        <p:spPr>
          <a:xfrm>
            <a:off x="365125" y="1538818"/>
            <a:ext cx="8415338" cy="3777957"/>
          </a:xfrm>
        </p:spPr>
        <p:txBody>
          <a:bodyPr/>
          <a:lstStyle/>
          <a:p>
            <a:r>
              <a:rPr lang="en-US" altLang="en-US" sz="2400" dirty="0">
                <a:solidFill>
                  <a:schemeClr val="tx1"/>
                </a:solidFill>
              </a:rPr>
              <a:t>Assembly language instructions are </a:t>
            </a:r>
            <a:r>
              <a:rPr lang="en-US" altLang="en-US" sz="2400" u="sng" dirty="0">
                <a:solidFill>
                  <a:schemeClr val="tx1"/>
                </a:solidFill>
              </a:rPr>
              <a:t>mnemonic</a:t>
            </a:r>
          </a:p>
          <a:p>
            <a:pPr lvl="1"/>
            <a:r>
              <a:rPr lang="en-US" altLang="en-US" sz="2400" dirty="0">
                <a:solidFill>
                  <a:schemeClr val="tx1"/>
                </a:solidFill>
              </a:rPr>
              <a:t>Instructions are written in an easy-to-remember form</a:t>
            </a:r>
          </a:p>
          <a:p>
            <a:r>
              <a:rPr lang="en-US" altLang="en-US" sz="2400" dirty="0">
                <a:solidFill>
                  <a:schemeClr val="tx1"/>
                </a:solidFill>
              </a:rPr>
              <a:t>An </a:t>
            </a:r>
            <a:r>
              <a:rPr lang="en-US" altLang="en-US" sz="2400" u="sng" dirty="0">
                <a:solidFill>
                  <a:schemeClr val="tx1"/>
                </a:solidFill>
              </a:rPr>
              <a:t>assembler</a:t>
            </a:r>
            <a:r>
              <a:rPr lang="en-US" altLang="en-US" sz="2400" dirty="0">
                <a:solidFill>
                  <a:schemeClr val="tx1"/>
                </a:solidFill>
              </a:rPr>
              <a:t> translates a program written in assembly language into machine language</a:t>
            </a:r>
          </a:p>
          <a:p>
            <a:r>
              <a:rPr lang="en-US" altLang="en-US" sz="2400" dirty="0">
                <a:solidFill>
                  <a:schemeClr val="tx1"/>
                </a:solidFill>
              </a:rPr>
              <a:t>Using assembly language instructions</a:t>
            </a:r>
            <a:r>
              <a:rPr lang="en-US" altLang="en-US" sz="2400" b="1" dirty="0">
                <a:solidFill>
                  <a:schemeClr val="tx1"/>
                </a:solidFill>
                <a:latin typeface="Courier New" panose="02070309020205020404" pitchFamily="49" charset="0"/>
                <a:cs typeface="Courier New" panose="02070309020205020404" pitchFamily="49" charset="0"/>
              </a:rPr>
              <a:t>, wages = rate * hours </a:t>
            </a:r>
            <a:r>
              <a:rPr lang="en-US" altLang="en-US" sz="2400" dirty="0">
                <a:solidFill>
                  <a:schemeClr val="tx1"/>
                </a:solidFill>
              </a:rPr>
              <a:t>can be written as:</a:t>
            </a:r>
          </a:p>
          <a:p>
            <a:pPr marL="457200" lvl="1" indent="0">
              <a:buNone/>
            </a:pPr>
            <a:r>
              <a:rPr lang="en-US" altLang="en-US" sz="2400" b="1" dirty="0">
                <a:solidFill>
                  <a:schemeClr val="tx1"/>
                </a:solidFill>
                <a:latin typeface="Courier New" panose="02070309020205020404" pitchFamily="49" charset="0"/>
                <a:cs typeface="Courier New" panose="02070309020205020404" pitchFamily="49" charset="0"/>
              </a:rPr>
              <a:t>LOAD rate</a:t>
            </a:r>
          </a:p>
          <a:p>
            <a:pPr marL="457200" lvl="1" indent="0">
              <a:buNone/>
            </a:pPr>
            <a:r>
              <a:rPr lang="en-US" altLang="en-US" sz="2400" b="1" dirty="0">
                <a:solidFill>
                  <a:schemeClr val="tx1"/>
                </a:solidFill>
                <a:latin typeface="Courier New" panose="02070309020205020404" pitchFamily="49" charset="0"/>
                <a:cs typeface="Courier New" panose="02070309020205020404" pitchFamily="49" charset="0"/>
              </a:rPr>
              <a:t>MULT hours</a:t>
            </a:r>
          </a:p>
          <a:p>
            <a:pPr marL="457200" lvl="1" indent="0">
              <a:buNone/>
            </a:pPr>
            <a:r>
              <a:rPr lang="en-US" altLang="en-US" sz="2400" b="1" dirty="0">
                <a:solidFill>
                  <a:schemeClr val="tx1"/>
                </a:solidFill>
                <a:latin typeface="Courier New" panose="02070309020205020404" pitchFamily="49" charset="0"/>
                <a:cs typeface="Courier New" panose="02070309020205020404" pitchFamily="49" charset="0"/>
              </a:rPr>
              <a:t>STOR wages</a:t>
            </a:r>
            <a:endParaRPr lang="en-US" altLang="en-US" sz="2400" dirty="0">
              <a:solidFill>
                <a:schemeClr val="tx1"/>
              </a:solidFill>
              <a:latin typeface="Courier New" panose="02070309020205020404" pitchFamily="49" charset="0"/>
              <a:cs typeface="Courier New" panose="02070309020205020404" pitchFamily="49" charset="0"/>
            </a:endParaRPr>
          </a:p>
        </p:txBody>
      </p:sp>
      <p:sp>
        <p:nvSpPr>
          <p:cNvPr id="24581"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dirty="0"/>
              <a:t>The Evolution of Programming Languages </a:t>
            </a:r>
            <a:r>
              <a:rPr lang="en-US" altLang="en-US" dirty="0" smtClean="0"/>
              <a:t>(2 </a:t>
            </a:r>
            <a:r>
              <a:rPr lang="en-US" altLang="en-US" dirty="0"/>
              <a:t>of </a:t>
            </a:r>
            <a:r>
              <a:rPr lang="en-US" altLang="en-US" dirty="0" smtClean="0"/>
              <a:t>4)</a:t>
            </a:r>
            <a:endParaRPr lang="en-US" altLang="en-US" dirty="0"/>
          </a:p>
        </p:txBody>
      </p:sp>
      <p:sp>
        <p:nvSpPr>
          <p:cNvPr id="25603" name="Rectangle 3"/>
          <p:cNvSpPr>
            <a:spLocks noGrp="1" noChangeArrowheads="1"/>
          </p:cNvSpPr>
          <p:nvPr>
            <p:ph idx="1"/>
          </p:nvPr>
        </p:nvSpPr>
        <p:spPr>
          <a:xfrm>
            <a:off x="365125" y="1538818"/>
            <a:ext cx="8415338" cy="2571473"/>
          </a:xfrm>
        </p:spPr>
        <p:txBody>
          <a:bodyPr/>
          <a:lstStyle/>
          <a:p>
            <a:r>
              <a:rPr lang="en-US" altLang="en-US" sz="2400" u="sng" dirty="0" smtClean="0">
                <a:solidFill>
                  <a:schemeClr val="tx1"/>
                </a:solidFill>
              </a:rPr>
              <a:t>High-level languages</a:t>
            </a:r>
            <a:r>
              <a:rPr lang="en-US" altLang="en-US" sz="2400" dirty="0" smtClean="0">
                <a:solidFill>
                  <a:schemeClr val="tx1"/>
                </a:solidFill>
              </a:rPr>
              <a:t> include Basic, FORTRAN, COBOL, C, C++, C#, Java, and Python</a:t>
            </a:r>
          </a:p>
          <a:p>
            <a:r>
              <a:rPr lang="en-US" altLang="en-US" sz="2400" u="sng" dirty="0" smtClean="0">
                <a:solidFill>
                  <a:schemeClr val="tx1"/>
                </a:solidFill>
              </a:rPr>
              <a:t>Compiler</a:t>
            </a:r>
            <a:r>
              <a:rPr lang="en-US" altLang="en-US" sz="2400" dirty="0">
                <a:solidFill>
                  <a:schemeClr val="tx1"/>
                </a:solidFill>
              </a:rPr>
              <a:t>: translates a program written in a high-level language into machine language</a:t>
            </a:r>
          </a:p>
          <a:p>
            <a:r>
              <a:rPr lang="en-US" altLang="en-US" sz="2400" dirty="0">
                <a:solidFill>
                  <a:schemeClr val="tx1"/>
                </a:solidFill>
              </a:rPr>
              <a:t>In C++, the weekly wages equation can be written as:</a:t>
            </a:r>
          </a:p>
          <a:p>
            <a:pPr marL="457200" indent="0">
              <a:buNone/>
            </a:pPr>
            <a:r>
              <a:rPr lang="en-US" altLang="en-US" sz="2400" b="1" dirty="0">
                <a:solidFill>
                  <a:schemeClr val="tx1"/>
                </a:solidFill>
                <a:latin typeface="Courier New" panose="02070309020205020404" pitchFamily="49" charset="0"/>
                <a:cs typeface="Courier New" panose="02070309020205020404" pitchFamily="49" charset="0"/>
              </a:rPr>
              <a:t>wages = rate * hours;</a:t>
            </a:r>
          </a:p>
        </p:txBody>
      </p:sp>
      <p:sp>
        <p:nvSpPr>
          <p:cNvPr id="25605"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dirty="0"/>
              <a:t>The Evolution of Programming Languages </a:t>
            </a:r>
            <a:r>
              <a:rPr lang="en-US" altLang="en-US" dirty="0" smtClean="0"/>
              <a:t>(3 </a:t>
            </a:r>
            <a:r>
              <a:rPr lang="en-US" altLang="en-US" dirty="0"/>
              <a:t>of 3</a:t>
            </a:r>
            <a:r>
              <a:rPr lang="en-US" altLang="en-US" dirty="0" smtClean="0"/>
              <a:t>)</a:t>
            </a:r>
            <a:endParaRPr lang="en-US" altLang="en-US" dirty="0"/>
          </a:p>
        </p:txBody>
      </p:sp>
      <p:sp>
        <p:nvSpPr>
          <p:cNvPr id="25605"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l="13586" t="29762" r="42307" b="31425"/>
          <a:stretch>
            <a:fillRect/>
          </a:stretch>
        </p:blipFill>
        <p:spPr bwMode="auto">
          <a:xfrm>
            <a:off x="1597025" y="3005618"/>
            <a:ext cx="5638800"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a:spLocks noGrp="1"/>
          </p:cNvSpPr>
          <p:nvPr>
            <p:ph idx="1"/>
          </p:nvPr>
        </p:nvSpPr>
        <p:spPr>
          <a:xfrm>
            <a:off x="469900" y="1102062"/>
            <a:ext cx="8610600" cy="1676400"/>
          </a:xfrm>
        </p:spPr>
        <p:txBody>
          <a:bodyPr/>
          <a:lstStyle/>
          <a:p>
            <a:pPr>
              <a:defRPr/>
            </a:pPr>
            <a:r>
              <a:rPr lang="en-US" sz="2400" b="1" dirty="0" smtClean="0"/>
              <a:t>Example: </a:t>
            </a:r>
          </a:p>
          <a:p>
            <a:pPr marL="0" indent="0">
              <a:buFont typeface="Wingdings" panose="05000000000000000000" pitchFamily="2" charset="2"/>
              <a:buNone/>
              <a:defRPr/>
            </a:pPr>
            <a:r>
              <a:rPr lang="en-US" sz="2400" dirty="0" smtClean="0"/>
              <a:t>      To </a:t>
            </a:r>
            <a:r>
              <a:rPr lang="en-US" sz="2400" dirty="0"/>
              <a:t>calculate the BMI of a user given the </a:t>
            </a:r>
            <a:r>
              <a:rPr lang="en-US" sz="2400" dirty="0" smtClean="0"/>
              <a:t>formula: </a:t>
            </a:r>
          </a:p>
        </p:txBody>
      </p:sp>
      <p:graphicFrame>
        <p:nvGraphicFramePr>
          <p:cNvPr id="8" name="Object 6"/>
          <p:cNvGraphicFramePr>
            <a:graphicFrameLocks noChangeAspect="1"/>
          </p:cNvGraphicFramePr>
          <p:nvPr>
            <p:extLst>
              <p:ext uri="{D42A27DB-BD31-4B8C-83A1-F6EECF244321}">
                <p14:modId xmlns:p14="http://schemas.microsoft.com/office/powerpoint/2010/main" val="2000962672"/>
              </p:ext>
            </p:extLst>
          </p:nvPr>
        </p:nvGraphicFramePr>
        <p:xfrm>
          <a:off x="1828800" y="2008954"/>
          <a:ext cx="3759200" cy="685800"/>
        </p:xfrm>
        <a:graphic>
          <a:graphicData uri="http://schemas.openxmlformats.org/presentationml/2006/ole">
            <mc:AlternateContent xmlns:mc="http://schemas.openxmlformats.org/markup-compatibility/2006">
              <mc:Choice xmlns:v="urn:schemas-microsoft-com:vml" Requires="v">
                <p:oleObj spid="_x0000_s1034" name="Equation" r:id="rId5" imgW="1879600" imgH="419100" progId="Equation.3">
                  <p:embed/>
                </p:oleObj>
              </mc:Choice>
              <mc:Fallback>
                <p:oleObj name="Equation" r:id="rId5" imgW="1879600" imgH="419100" progId="Equation.3">
                  <p:embed/>
                  <p:pic>
                    <p:nvPicPr>
                      <p:cNvPr id="1434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2008954"/>
                        <a:ext cx="3759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4374493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Evolution of Programming Languages </a:t>
            </a:r>
            <a:r>
              <a:rPr lang="en-US" altLang="en-US" dirty="0" smtClean="0"/>
              <a:t>(4 </a:t>
            </a:r>
            <a:r>
              <a:rPr lang="en-US" altLang="en-US" dirty="0"/>
              <a:t>of </a:t>
            </a:r>
            <a:r>
              <a:rPr lang="en-US" altLang="en-US" dirty="0" smtClean="0"/>
              <a:t>4)</a:t>
            </a:r>
            <a:endParaRPr lang="en-MY" dirty="0"/>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24503" t="44612" r="37923" b="27237"/>
          <a:stretch>
            <a:fillRect/>
          </a:stretch>
        </p:blipFill>
        <p:spPr bwMode="auto">
          <a:xfrm>
            <a:off x="1143000" y="1623108"/>
            <a:ext cx="6134100"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p:cNvSpPr txBox="1">
            <a:spLocks/>
          </p:cNvSpPr>
          <p:nvPr/>
        </p:nvSpPr>
        <p:spPr bwMode="auto">
          <a:xfrm>
            <a:off x="2743200" y="4191000"/>
            <a:ext cx="25146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2913" indent="-442913">
              <a:spcBef>
                <a:spcPct val="20000"/>
              </a:spcBef>
              <a:buClr>
                <a:srgbClr val="0000FF"/>
              </a:buClr>
              <a:buSzPct val="80000"/>
              <a:buFont typeface="Wingdings" panose="05000000000000000000" pitchFamily="2" charset="2"/>
              <a:buChar char="q"/>
              <a:defRPr sz="28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rgbClr val="0000FF"/>
              </a:buClr>
              <a:buChar char="–"/>
              <a:defRPr sz="26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rgbClr val="0000FF"/>
              </a:buClr>
              <a:buChar char="•"/>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rgbClr val="0000FF"/>
              </a:buClr>
              <a:buChar char="–"/>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rgbClr val="0000FF"/>
              </a:buClr>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9pPr>
          </a:lstStyle>
          <a:p>
            <a:r>
              <a:rPr lang="en-US" altLang="en-US" sz="1600"/>
              <a:t>Language is mnemonic</a:t>
            </a:r>
          </a:p>
          <a:p>
            <a:r>
              <a:rPr lang="en-US" altLang="en-US" sz="1600"/>
              <a:t>Use assembler as translator to translate to machine language</a:t>
            </a:r>
            <a:endParaRPr lang="en-US" altLang="en-US" sz="1600" b="1">
              <a:solidFill>
                <a:srgbClr val="2D2D8A"/>
              </a:solidFill>
            </a:endParaRPr>
          </a:p>
        </p:txBody>
      </p:sp>
      <p:sp>
        <p:nvSpPr>
          <p:cNvPr id="7" name="Content Placeholder 2"/>
          <p:cNvSpPr txBox="1">
            <a:spLocks/>
          </p:cNvSpPr>
          <p:nvPr/>
        </p:nvSpPr>
        <p:spPr bwMode="auto">
          <a:xfrm>
            <a:off x="5257800" y="4210050"/>
            <a:ext cx="342900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2913" indent="-442913">
              <a:spcBef>
                <a:spcPct val="20000"/>
              </a:spcBef>
              <a:buClr>
                <a:srgbClr val="0000FF"/>
              </a:buClr>
              <a:buSzPct val="80000"/>
              <a:buFont typeface="Wingdings" panose="05000000000000000000" pitchFamily="2" charset="2"/>
              <a:buChar char="q"/>
              <a:defRPr sz="28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rgbClr val="0000FF"/>
              </a:buClr>
              <a:buChar char="–"/>
              <a:defRPr sz="26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rgbClr val="0000FF"/>
              </a:buClr>
              <a:buChar char="•"/>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rgbClr val="0000FF"/>
              </a:buClr>
              <a:buChar char="–"/>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rgbClr val="0000FF"/>
              </a:buClr>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000FF"/>
              </a:buClr>
              <a:buChar char="»"/>
              <a:defRPr sz="2000">
                <a:solidFill>
                  <a:srgbClr val="000000"/>
                </a:solidFill>
                <a:latin typeface="Arial" panose="020B0604020202020204" pitchFamily="34" charset="0"/>
                <a:ea typeface="ＭＳ Ｐゴシック" panose="020B0600070205080204" pitchFamily="34" charset="-128"/>
              </a:defRPr>
            </a:lvl9pPr>
          </a:lstStyle>
          <a:p>
            <a:r>
              <a:rPr lang="en-US" altLang="en-US" sz="1600"/>
              <a:t>Machine independent</a:t>
            </a:r>
          </a:p>
          <a:p>
            <a:r>
              <a:rPr lang="en-US" altLang="en-US" sz="1600"/>
              <a:t>The instructions are quite English-like </a:t>
            </a:r>
          </a:p>
          <a:p>
            <a:r>
              <a:rPr lang="en-US" altLang="en-US" sz="1600"/>
              <a:t>Use compiler/interpreter as translator to translate to machine language</a:t>
            </a:r>
          </a:p>
          <a:p>
            <a:r>
              <a:rPr lang="en-US" altLang="en-US" sz="1600"/>
              <a:t>Example: JAVA, C++, COBOL</a:t>
            </a:r>
          </a:p>
        </p:txBody>
      </p:sp>
    </p:spTree>
    <p:extLst>
      <p:ext uri="{BB962C8B-B14F-4D97-AF65-F5344CB8AC3E}">
        <p14:creationId xmlns:p14="http://schemas.microsoft.com/office/powerpoint/2010/main" val="13878318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Processing a C++ Program (1 of </a:t>
            </a:r>
            <a:r>
              <a:rPr lang="en-US" altLang="en-US" dirty="0" smtClean="0"/>
              <a:t>12)</a:t>
            </a:r>
            <a:endParaRPr lang="en-MY" dirty="0"/>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29958" t="24454" r="11801" b="42700"/>
          <a:stretch>
            <a:fillRect/>
          </a:stretch>
        </p:blipFill>
        <p:spPr bwMode="auto">
          <a:xfrm>
            <a:off x="581025" y="2438400"/>
            <a:ext cx="8388350"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719256" y="1356087"/>
            <a:ext cx="7891344" cy="830997"/>
          </a:xfrm>
          <a:prstGeom prst="rect">
            <a:avLst/>
          </a:prstGeom>
        </p:spPr>
        <p:txBody>
          <a:bodyPr wrap="square">
            <a:spAutoFit/>
          </a:bodyPr>
          <a:lstStyle/>
          <a:p>
            <a:pPr marL="285750" indent="-285750">
              <a:buFont typeface="Arial" panose="020B0604020202020204" pitchFamily="34" charset="0"/>
              <a:buChar char="•"/>
            </a:pPr>
            <a:r>
              <a:rPr lang="en-US" altLang="en-US" sz="2400" dirty="0" smtClean="0">
                <a:latin typeface="+mn-lt"/>
              </a:rPr>
              <a:t>C++ Relationship between Programs, Compiler, Interpreter and Assembler.</a:t>
            </a:r>
            <a:endParaRPr lang="en-US" altLang="en-US" sz="2400" dirty="0">
              <a:latin typeface="+mn-lt"/>
            </a:endParaRPr>
          </a:p>
        </p:txBody>
      </p:sp>
    </p:spTree>
    <p:extLst>
      <p:ext uri="{BB962C8B-B14F-4D97-AF65-F5344CB8AC3E}">
        <p14:creationId xmlns:p14="http://schemas.microsoft.com/office/powerpoint/2010/main" val="41188033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Program Development Life Cycle (PDLC) (1 of 12)</a:t>
            </a:r>
            <a:endParaRPr lang="en-MY" dirty="0"/>
          </a:p>
        </p:txBody>
      </p:sp>
      <p:sp>
        <p:nvSpPr>
          <p:cNvPr id="3" name="Content Placeholder 2"/>
          <p:cNvSpPr>
            <a:spLocks noGrp="1"/>
          </p:cNvSpPr>
          <p:nvPr>
            <p:ph idx="1"/>
          </p:nvPr>
        </p:nvSpPr>
        <p:spPr>
          <a:xfrm>
            <a:off x="365125" y="1538818"/>
            <a:ext cx="8415338" cy="2062103"/>
          </a:xfrm>
        </p:spPr>
        <p:txBody>
          <a:bodyPr/>
          <a:lstStyle/>
          <a:p>
            <a:pPr algn="just"/>
            <a:r>
              <a:rPr lang="en-US" altLang="en-US" sz="2400" dirty="0">
                <a:solidFill>
                  <a:schemeClr val="tx1"/>
                </a:solidFill>
                <a:ea typeface="ＭＳ Ｐゴシック" panose="020B0600070205080204" pitchFamily="34" charset="-128"/>
              </a:rPr>
              <a:t>The process of developing a program is called </a:t>
            </a:r>
            <a:r>
              <a:rPr lang="en-US" altLang="en-US" sz="2400" b="1" dirty="0">
                <a:solidFill>
                  <a:schemeClr val="tx1"/>
                </a:solidFill>
                <a:ea typeface="ＭＳ Ｐゴシック" panose="020B0600070205080204" pitchFamily="34" charset="-128"/>
              </a:rPr>
              <a:t>program development</a:t>
            </a:r>
            <a:r>
              <a:rPr lang="en-US" altLang="en-US" sz="2400" dirty="0">
                <a:solidFill>
                  <a:schemeClr val="tx1"/>
                </a:solidFill>
                <a:ea typeface="ＭＳ Ｐゴシック" panose="020B0600070205080204" pitchFamily="34" charset="-128"/>
              </a:rPr>
              <a:t>. </a:t>
            </a:r>
          </a:p>
          <a:p>
            <a:pPr algn="just"/>
            <a:r>
              <a:rPr lang="en-US" altLang="en-US" sz="2400" dirty="0">
                <a:solidFill>
                  <a:schemeClr val="tx1"/>
                </a:solidFill>
                <a:ea typeface="ＭＳ Ｐゴシック" panose="020B0600070205080204" pitchFamily="34" charset="-128"/>
              </a:rPr>
              <a:t>The process associated with creating successful application programs is called the Program Development Life Cycle (PDLC). </a:t>
            </a:r>
          </a:p>
          <a:p>
            <a:endParaRPr lang="en-MY" sz="24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11678" t="56052" r="27554" b="30573"/>
          <a:stretch>
            <a:fillRect/>
          </a:stretch>
        </p:blipFill>
        <p:spPr bwMode="auto">
          <a:xfrm>
            <a:off x="401519" y="3429000"/>
            <a:ext cx="83185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60586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(2 </a:t>
            </a:r>
            <a:r>
              <a:rPr lang="en-MY" dirty="0"/>
              <a:t>of </a:t>
            </a:r>
            <a:r>
              <a:rPr lang="en-MY" dirty="0" smtClean="0"/>
              <a:t>12)</a:t>
            </a:r>
            <a:endParaRPr lang="en-MY" dirty="0"/>
          </a:p>
        </p:txBody>
      </p:sp>
      <p:sp>
        <p:nvSpPr>
          <p:cNvPr id="3" name="Content Placeholder 2"/>
          <p:cNvSpPr>
            <a:spLocks noGrp="1"/>
          </p:cNvSpPr>
          <p:nvPr>
            <p:ph idx="1"/>
          </p:nvPr>
        </p:nvSpPr>
        <p:spPr>
          <a:xfrm>
            <a:off x="365125" y="1538818"/>
            <a:ext cx="8415338" cy="3327065"/>
          </a:xfrm>
        </p:spPr>
        <p:txBody>
          <a:bodyPr/>
          <a:lstStyle/>
          <a:p>
            <a:pPr algn="just"/>
            <a:r>
              <a:rPr lang="en-US" sz="2800" b="1" dirty="0" smtClean="0">
                <a:solidFill>
                  <a:schemeClr val="tx1"/>
                </a:solidFill>
              </a:rPr>
              <a:t>Analysis </a:t>
            </a:r>
            <a:r>
              <a:rPr lang="en-US" sz="2800" dirty="0" smtClean="0">
                <a:solidFill>
                  <a:schemeClr val="tx1"/>
                </a:solidFill>
              </a:rPr>
              <a:t>process </a:t>
            </a:r>
            <a:r>
              <a:rPr lang="en-US" sz="2800" dirty="0">
                <a:solidFill>
                  <a:schemeClr val="tx1"/>
                </a:solidFill>
              </a:rPr>
              <a:t>is done by reviewing the program specifications. </a:t>
            </a:r>
          </a:p>
          <a:p>
            <a:pPr algn="just"/>
            <a:r>
              <a:rPr lang="en-US" altLang="en-US" sz="2800" dirty="0">
                <a:solidFill>
                  <a:schemeClr val="tx1"/>
                </a:solidFill>
                <a:ea typeface="ＭＳ Ｐゴシック" panose="020B0600070205080204" pitchFamily="34" charset="-128"/>
              </a:rPr>
              <a:t>Other criteria must also be identified, especially the data that will be used as </a:t>
            </a:r>
            <a:r>
              <a:rPr lang="en-US" altLang="en-US" sz="2800" b="1" dirty="0">
                <a:solidFill>
                  <a:schemeClr val="tx1"/>
                </a:solidFill>
                <a:ea typeface="ＭＳ Ｐゴシック" panose="020B0600070205080204" pitchFamily="34" charset="-128"/>
              </a:rPr>
              <a:t>input</a:t>
            </a:r>
            <a:r>
              <a:rPr lang="en-US" altLang="en-US" sz="2800" dirty="0">
                <a:solidFill>
                  <a:schemeClr val="tx1"/>
                </a:solidFill>
                <a:ea typeface="ＭＳ Ｐゴシック" panose="020B0600070205080204" pitchFamily="34" charset="-128"/>
              </a:rPr>
              <a:t>, the </a:t>
            </a:r>
            <a:r>
              <a:rPr lang="en-US" altLang="en-US" sz="2800" b="1" dirty="0">
                <a:solidFill>
                  <a:schemeClr val="tx1"/>
                </a:solidFill>
                <a:ea typeface="ＭＳ Ｐゴシック" panose="020B0600070205080204" pitchFamily="34" charset="-128"/>
              </a:rPr>
              <a:t>process</a:t>
            </a:r>
            <a:r>
              <a:rPr lang="en-US" altLang="en-US" sz="2800" dirty="0">
                <a:solidFill>
                  <a:schemeClr val="tx1"/>
                </a:solidFill>
                <a:ea typeface="ＭＳ Ｐゴシック" panose="020B0600070205080204" pitchFamily="34" charset="-128"/>
              </a:rPr>
              <a:t> involved and the </a:t>
            </a:r>
            <a:r>
              <a:rPr lang="en-US" altLang="en-US" sz="2800" b="1" dirty="0">
                <a:solidFill>
                  <a:schemeClr val="tx1"/>
                </a:solidFill>
                <a:ea typeface="ＭＳ Ｐゴシック" panose="020B0600070205080204" pitchFamily="34" charset="-128"/>
              </a:rPr>
              <a:t>output</a:t>
            </a:r>
            <a:r>
              <a:rPr lang="en-US" altLang="en-US" sz="2800" dirty="0">
                <a:solidFill>
                  <a:schemeClr val="tx1"/>
                </a:solidFill>
                <a:ea typeface="ＭＳ Ｐゴシック" panose="020B0600070205080204" pitchFamily="34" charset="-128"/>
              </a:rPr>
              <a:t> that will be produced</a:t>
            </a:r>
            <a:r>
              <a:rPr lang="en-US" altLang="en-US" sz="2800" dirty="0" smtClean="0">
                <a:solidFill>
                  <a:schemeClr val="tx1"/>
                </a:solidFill>
                <a:ea typeface="ＭＳ Ｐゴシック" panose="020B0600070205080204" pitchFamily="34" charset="-128"/>
              </a:rPr>
              <a:t>.</a:t>
            </a:r>
          </a:p>
          <a:p>
            <a:pPr algn="just"/>
            <a:r>
              <a:rPr lang="en-US" altLang="en-US" sz="2800" dirty="0" smtClean="0">
                <a:solidFill>
                  <a:schemeClr val="tx1"/>
                </a:solidFill>
                <a:ea typeface="ＭＳ Ｐゴシック" panose="020B0600070205080204" pitchFamily="34" charset="-128"/>
              </a:rPr>
              <a:t>Example</a:t>
            </a:r>
            <a:endParaRPr lang="en-US" altLang="en-US" sz="2800" dirty="0">
              <a:solidFill>
                <a:schemeClr val="tx1"/>
              </a:solidFill>
              <a:ea typeface="ＭＳ Ｐゴシック" panose="020B0600070205080204" pitchFamily="34" charset="-128"/>
            </a:endParaRPr>
          </a:p>
          <a:p>
            <a:pPr algn="just"/>
            <a:endParaRPr lang="en-MY" sz="28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12987" t="33739" r="26086" b="32497"/>
          <a:stretch>
            <a:fillRect/>
          </a:stretch>
        </p:blipFill>
        <p:spPr bwMode="auto">
          <a:xfrm>
            <a:off x="1981200" y="4343400"/>
            <a:ext cx="52482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15224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(3 </a:t>
            </a:r>
            <a:r>
              <a:rPr lang="en-MY" dirty="0"/>
              <a:t>of </a:t>
            </a:r>
            <a:r>
              <a:rPr lang="en-MY" dirty="0" smtClean="0"/>
              <a:t>12)</a:t>
            </a:r>
            <a:endParaRPr lang="en-MY" dirty="0"/>
          </a:p>
        </p:txBody>
      </p:sp>
      <p:sp>
        <p:nvSpPr>
          <p:cNvPr id="3" name="Content Placeholder 2"/>
          <p:cNvSpPr>
            <a:spLocks noGrp="1"/>
          </p:cNvSpPr>
          <p:nvPr>
            <p:ph idx="1"/>
          </p:nvPr>
        </p:nvSpPr>
        <p:spPr>
          <a:xfrm>
            <a:off x="373062" y="1326528"/>
            <a:ext cx="8415338" cy="3230115"/>
          </a:xfrm>
        </p:spPr>
        <p:txBody>
          <a:bodyPr/>
          <a:lstStyle/>
          <a:p>
            <a:pPr algn="just"/>
            <a:r>
              <a:rPr lang="en-MY" sz="2400" b="1" dirty="0" smtClean="0">
                <a:solidFill>
                  <a:schemeClr val="tx1"/>
                </a:solidFill>
              </a:rPr>
              <a:t>Design </a:t>
            </a:r>
            <a:r>
              <a:rPr lang="en-MY" sz="2400" dirty="0" smtClean="0">
                <a:solidFill>
                  <a:schemeClr val="tx1"/>
                </a:solidFill>
              </a:rPr>
              <a:t>process is a programmer needs to develop a series of steps with the logic order, which when applied would produce the output of the problem.</a:t>
            </a:r>
          </a:p>
          <a:p>
            <a:pPr algn="just"/>
            <a:r>
              <a:rPr lang="en-MY" sz="2400" dirty="0" smtClean="0">
                <a:solidFill>
                  <a:schemeClr val="tx1"/>
                </a:solidFill>
              </a:rPr>
              <a:t>There are two types of design for structured programming</a:t>
            </a:r>
          </a:p>
          <a:p>
            <a:pPr marL="685800" lvl="1" indent="-457200" algn="just">
              <a:buFont typeface="+mj-lt"/>
              <a:buAutoNum type="arabicPeriod"/>
            </a:pPr>
            <a:r>
              <a:rPr lang="en-MY" sz="2400" dirty="0" smtClean="0">
                <a:solidFill>
                  <a:schemeClr val="tx1"/>
                </a:solidFill>
              </a:rPr>
              <a:t>Algorithm</a:t>
            </a:r>
            <a:endParaRPr lang="en-MY" sz="2200" dirty="0" smtClean="0">
              <a:solidFill>
                <a:schemeClr val="tx1"/>
              </a:solidFill>
            </a:endParaRPr>
          </a:p>
          <a:p>
            <a:pPr marL="685800" lvl="1" indent="-457200" algn="just">
              <a:buFont typeface="+mj-lt"/>
              <a:buAutoNum type="arabicPeriod"/>
            </a:pPr>
            <a:r>
              <a:rPr lang="en-MY" sz="2400" dirty="0" smtClean="0">
                <a:solidFill>
                  <a:schemeClr val="tx1"/>
                </a:solidFill>
              </a:rPr>
              <a:t>Flowchart</a:t>
            </a:r>
            <a:endParaRPr lang="en-MY" sz="2200" dirty="0" smtClean="0">
              <a:solidFill>
                <a:schemeClr val="tx1"/>
              </a:solidFill>
            </a:endParaRPr>
          </a:p>
          <a:p>
            <a:pPr marL="685800" lvl="1" indent="-457200" algn="just">
              <a:buFont typeface="+mj-lt"/>
              <a:buAutoNum type="arabicPeriod"/>
            </a:pPr>
            <a:r>
              <a:rPr lang="en-MY" sz="2400" dirty="0" smtClean="0">
                <a:solidFill>
                  <a:schemeClr val="tx1"/>
                </a:solidFill>
              </a:rPr>
              <a:t>Pseudocode</a:t>
            </a:r>
            <a:endParaRPr lang="en-US" altLang="en-US" sz="2000" dirty="0">
              <a:solidFill>
                <a:schemeClr val="tx1"/>
              </a:solidFill>
              <a:ea typeface="ＭＳ Ｐゴシック" panose="020B0600070205080204" pitchFamily="34" charset="-128"/>
            </a:endParaRPr>
          </a:p>
          <a:p>
            <a:pPr marL="457200" lvl="2" indent="0" algn="just">
              <a:buNone/>
            </a:pPr>
            <a:endParaRPr lang="en-MY" sz="2200" dirty="0" smtClean="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59067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(4 </a:t>
            </a:r>
            <a:r>
              <a:rPr lang="en-MY" dirty="0"/>
              <a:t>of </a:t>
            </a:r>
            <a:r>
              <a:rPr lang="en-MY" dirty="0" smtClean="0"/>
              <a:t>12)</a:t>
            </a:r>
            <a:endParaRPr lang="en-MY" dirty="0"/>
          </a:p>
        </p:txBody>
      </p:sp>
      <p:sp>
        <p:nvSpPr>
          <p:cNvPr id="3" name="Content Placeholder 2"/>
          <p:cNvSpPr>
            <a:spLocks noGrp="1"/>
          </p:cNvSpPr>
          <p:nvPr>
            <p:ph idx="1"/>
          </p:nvPr>
        </p:nvSpPr>
        <p:spPr>
          <a:xfrm>
            <a:off x="373062" y="1041565"/>
            <a:ext cx="8415338" cy="5179880"/>
          </a:xfrm>
        </p:spPr>
        <p:txBody>
          <a:bodyPr/>
          <a:lstStyle/>
          <a:p>
            <a:pPr marL="171450" lvl="2" indent="-171450" algn="just">
              <a:spcBef>
                <a:spcPts val="1200"/>
              </a:spcBef>
              <a:buClr>
                <a:schemeClr val="accent2"/>
              </a:buClr>
              <a:buFont typeface="Arial" pitchFamily="34" charset="0"/>
              <a:buChar char="•"/>
            </a:pPr>
            <a:r>
              <a:rPr lang="en-MY" sz="2400" dirty="0" smtClean="0">
                <a:solidFill>
                  <a:schemeClr val="tx1"/>
                </a:solidFill>
              </a:rPr>
              <a:t>Algorithm is a set of step by steps problem solving process where the result is </a:t>
            </a:r>
            <a:r>
              <a:rPr lang="en-US" sz="2400" dirty="0">
                <a:solidFill>
                  <a:schemeClr val="tx1"/>
                </a:solidFill>
              </a:rPr>
              <a:t>attained in a limited amount of </a:t>
            </a:r>
            <a:r>
              <a:rPr lang="en-US" sz="2400" dirty="0" smtClean="0">
                <a:solidFill>
                  <a:schemeClr val="tx1"/>
                </a:solidFill>
              </a:rPr>
              <a:t>time.</a:t>
            </a:r>
            <a:r>
              <a:rPr lang="en-MY" sz="2400" dirty="0" smtClean="0">
                <a:solidFill>
                  <a:schemeClr val="tx1"/>
                </a:solidFill>
              </a:rPr>
              <a:t> Example</a:t>
            </a:r>
          </a:p>
          <a:p>
            <a:pPr algn="just"/>
            <a:r>
              <a:rPr lang="en-MY" sz="2400" dirty="0">
                <a:solidFill>
                  <a:schemeClr val="tx1"/>
                </a:solidFill>
              </a:rPr>
              <a:t>The C++ program is to calculate the payment that person received. Prompt input from user to enter hours work and salary rate per hour. Then, the system will automatically display employee name and the total salary per month.</a:t>
            </a:r>
          </a:p>
          <a:p>
            <a:pPr algn="just"/>
            <a:r>
              <a:rPr lang="en-MY" sz="2400" dirty="0" smtClean="0">
                <a:solidFill>
                  <a:schemeClr val="tx1"/>
                </a:solidFill>
              </a:rPr>
              <a:t>Solution</a:t>
            </a:r>
          </a:p>
          <a:p>
            <a:pPr marL="857250" lvl="2" indent="-457200" algn="just">
              <a:buFont typeface="+mj-lt"/>
              <a:buAutoNum type="arabicPeriod"/>
            </a:pPr>
            <a:r>
              <a:rPr lang="en-MY" sz="2000" dirty="0" smtClean="0">
                <a:solidFill>
                  <a:schemeClr val="tx1"/>
                </a:solidFill>
              </a:rPr>
              <a:t>START </a:t>
            </a:r>
            <a:r>
              <a:rPr lang="en-MY" sz="2000" dirty="0">
                <a:solidFill>
                  <a:schemeClr val="tx1"/>
                </a:solidFill>
              </a:rPr>
              <a:t>/ BEGIN</a:t>
            </a:r>
          </a:p>
          <a:p>
            <a:pPr marL="857250" lvl="2" indent="-457200" algn="just">
              <a:buFont typeface="+mj-lt"/>
              <a:buAutoNum type="arabicPeriod"/>
            </a:pPr>
            <a:r>
              <a:rPr lang="en-MY" sz="2000" b="1" dirty="0" smtClean="0">
                <a:solidFill>
                  <a:schemeClr val="tx1"/>
                </a:solidFill>
              </a:rPr>
              <a:t>READ/GET/INSERT/ENTER/INPUT</a:t>
            </a:r>
            <a:r>
              <a:rPr lang="en-MY" sz="2000" dirty="0" smtClean="0">
                <a:solidFill>
                  <a:schemeClr val="tx1"/>
                </a:solidFill>
              </a:rPr>
              <a:t> </a:t>
            </a:r>
            <a:r>
              <a:rPr lang="en-MY" sz="2000" dirty="0">
                <a:solidFill>
                  <a:schemeClr val="tx1"/>
                </a:solidFill>
              </a:rPr>
              <a:t>the value of hour work.</a:t>
            </a:r>
          </a:p>
          <a:p>
            <a:pPr marL="857250" lvl="2" indent="-457200" algn="just">
              <a:buFont typeface="+mj-lt"/>
              <a:buAutoNum type="arabicPeriod"/>
            </a:pPr>
            <a:r>
              <a:rPr lang="en-MY" sz="2000" dirty="0" smtClean="0">
                <a:solidFill>
                  <a:schemeClr val="tx1"/>
                </a:solidFill>
              </a:rPr>
              <a:t>READ </a:t>
            </a:r>
            <a:r>
              <a:rPr lang="en-MY" sz="2000" dirty="0">
                <a:solidFill>
                  <a:schemeClr val="tx1"/>
                </a:solidFill>
              </a:rPr>
              <a:t>value of salary rate per hour</a:t>
            </a:r>
          </a:p>
          <a:p>
            <a:pPr marL="857250" lvl="2" indent="-457200" algn="just">
              <a:buFont typeface="+mj-lt"/>
              <a:buAutoNum type="arabicPeriod"/>
            </a:pPr>
            <a:r>
              <a:rPr lang="en-MY" sz="2000" b="1" dirty="0" smtClean="0">
                <a:solidFill>
                  <a:schemeClr val="tx1"/>
                </a:solidFill>
              </a:rPr>
              <a:t>CALCULATE/COMPUTE</a:t>
            </a:r>
            <a:r>
              <a:rPr lang="en-MY" sz="2000" dirty="0" smtClean="0">
                <a:solidFill>
                  <a:schemeClr val="tx1"/>
                </a:solidFill>
              </a:rPr>
              <a:t> </a:t>
            </a:r>
            <a:r>
              <a:rPr lang="en-MY" sz="2000" dirty="0">
                <a:solidFill>
                  <a:schemeClr val="tx1"/>
                </a:solidFill>
              </a:rPr>
              <a:t>salary per month = (hours work * salary rate per hour) * 30</a:t>
            </a:r>
          </a:p>
          <a:p>
            <a:pPr marL="857250" lvl="2" indent="-457200" algn="just">
              <a:buFont typeface="+mj-lt"/>
              <a:buAutoNum type="arabicPeriod"/>
            </a:pPr>
            <a:r>
              <a:rPr lang="en-MY" sz="2000" dirty="0" smtClean="0">
                <a:solidFill>
                  <a:schemeClr val="tx1"/>
                </a:solidFill>
              </a:rPr>
              <a:t>DISPLAY/PRINT </a:t>
            </a:r>
            <a:r>
              <a:rPr lang="en-MY" sz="2000" dirty="0">
                <a:solidFill>
                  <a:schemeClr val="tx1"/>
                </a:solidFill>
              </a:rPr>
              <a:t>Salary per month.</a:t>
            </a:r>
          </a:p>
          <a:p>
            <a:pPr marL="857250" lvl="2" indent="-457200" algn="just">
              <a:buFont typeface="+mj-lt"/>
              <a:buAutoNum type="arabicPeriod"/>
            </a:pPr>
            <a:r>
              <a:rPr lang="en-MY" sz="2000" dirty="0" smtClean="0">
                <a:solidFill>
                  <a:schemeClr val="tx1"/>
                </a:solidFill>
              </a:rPr>
              <a:t>END/STOP</a:t>
            </a:r>
            <a:endParaRPr lang="en-MY" sz="20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396369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(5 of 12)</a:t>
            </a:r>
            <a:endParaRPr lang="en-MY" dirty="0"/>
          </a:p>
        </p:txBody>
      </p:sp>
      <p:sp>
        <p:nvSpPr>
          <p:cNvPr id="3" name="Content Placeholder 2"/>
          <p:cNvSpPr>
            <a:spLocks noGrp="1"/>
          </p:cNvSpPr>
          <p:nvPr>
            <p:ph idx="1"/>
          </p:nvPr>
        </p:nvSpPr>
        <p:spPr>
          <a:xfrm>
            <a:off x="365125" y="1538818"/>
            <a:ext cx="8415338" cy="3619452"/>
          </a:xfrm>
        </p:spPr>
        <p:txBody>
          <a:bodyPr/>
          <a:lstStyle/>
          <a:p>
            <a:pPr algn="just"/>
            <a:r>
              <a:rPr lang="en-MY" sz="2400" b="1" dirty="0" smtClean="0">
                <a:solidFill>
                  <a:schemeClr val="tx1"/>
                </a:solidFill>
              </a:rPr>
              <a:t>Flowchart is a </a:t>
            </a:r>
            <a:r>
              <a:rPr lang="en-US" altLang="en-US" sz="2400" dirty="0" smtClean="0">
                <a:solidFill>
                  <a:schemeClr val="tx1"/>
                </a:solidFill>
                <a:ea typeface="ＭＳ Ｐゴシック" panose="020B0600070205080204" pitchFamily="34" charset="-128"/>
              </a:rPr>
              <a:t>graphic </a:t>
            </a:r>
            <a:r>
              <a:rPr lang="en-US" altLang="en-US" sz="2400" dirty="0">
                <a:solidFill>
                  <a:schemeClr val="tx1"/>
                </a:solidFill>
                <a:ea typeface="ＭＳ Ｐゴシック" panose="020B0600070205080204" pitchFamily="34" charset="-128"/>
              </a:rPr>
              <a:t>presentation of the detailed logical sequence of steps needed to solve programming problems. </a:t>
            </a:r>
          </a:p>
          <a:p>
            <a:pPr algn="just"/>
            <a:r>
              <a:rPr lang="en-US" altLang="en-US" sz="2400" dirty="0">
                <a:solidFill>
                  <a:schemeClr val="tx1"/>
                </a:solidFill>
                <a:ea typeface="ＭＳ Ｐゴシック" panose="020B0600070205080204" pitchFamily="34" charset="-128"/>
              </a:rPr>
              <a:t>Uses geometric symbols where different symbols are used to represent different actions such as start/stop, decision, input/output, processing and looping.</a:t>
            </a:r>
          </a:p>
          <a:p>
            <a:pPr algn="just"/>
            <a:r>
              <a:rPr lang="en-US" altLang="en-US" sz="2400" dirty="0">
                <a:solidFill>
                  <a:schemeClr val="tx1"/>
                </a:solidFill>
                <a:ea typeface="ＭＳ Ｐゴシック" panose="020B0600070205080204" pitchFamily="34" charset="-128"/>
              </a:rPr>
              <a:t>K</a:t>
            </a:r>
            <a:r>
              <a:rPr lang="en-US" altLang="en-US" sz="2400" dirty="0" smtClean="0">
                <a:solidFill>
                  <a:schemeClr val="tx1"/>
                </a:solidFill>
                <a:ea typeface="ＭＳ Ｐゴシック" panose="020B0600070205080204" pitchFamily="34" charset="-128"/>
              </a:rPr>
              <a:t>eywords </a:t>
            </a:r>
            <a:r>
              <a:rPr lang="en-US" altLang="en-US" sz="2400" dirty="0">
                <a:solidFill>
                  <a:schemeClr val="tx1"/>
                </a:solidFill>
                <a:ea typeface="ＭＳ Ｐゴシック" panose="020B0600070205080204" pitchFamily="34" charset="-128"/>
              </a:rPr>
              <a:t>are written in uppercase, while variable and constant names as well as operations for the statements are written in lower case. </a:t>
            </a:r>
          </a:p>
          <a:p>
            <a:endParaRPr lang="en-MY" sz="2400" b="1"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503108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(6 </a:t>
            </a:r>
            <a:r>
              <a:rPr lang="en-MY" dirty="0"/>
              <a:t>of </a:t>
            </a:r>
            <a:r>
              <a:rPr lang="en-MY" dirty="0" smtClean="0"/>
              <a:t>12)</a:t>
            </a:r>
            <a:endParaRPr lang="en-MY" dirty="0"/>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grpSp>
        <p:nvGrpSpPr>
          <p:cNvPr id="5" name="Group 4"/>
          <p:cNvGrpSpPr>
            <a:grpSpLocks/>
          </p:cNvGrpSpPr>
          <p:nvPr/>
        </p:nvGrpSpPr>
        <p:grpSpPr bwMode="auto">
          <a:xfrm>
            <a:off x="762000" y="1337419"/>
            <a:ext cx="7315200" cy="4572000"/>
            <a:chOff x="28575" y="1524000"/>
            <a:chExt cx="7391699" cy="486617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l="35965" t="12820" r="23975" b="67363"/>
            <a:stretch>
              <a:fillRect/>
            </a:stretch>
          </p:blipFill>
          <p:spPr bwMode="auto">
            <a:xfrm>
              <a:off x="76200" y="1524000"/>
              <a:ext cx="7344074" cy="2351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l="25639" t="58455" r="34479" b="18233"/>
            <a:stretch>
              <a:fillRect/>
            </a:stretch>
          </p:blipFill>
          <p:spPr bwMode="auto">
            <a:xfrm>
              <a:off x="28575" y="3810000"/>
              <a:ext cx="7286625" cy="258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5314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(7 </a:t>
            </a:r>
            <a:r>
              <a:rPr lang="en-MY" dirty="0"/>
              <a:t>of </a:t>
            </a:r>
            <a:r>
              <a:rPr lang="en-MY" dirty="0" smtClean="0"/>
              <a:t>12)</a:t>
            </a:r>
            <a:endParaRPr lang="en-MY" dirty="0"/>
          </a:p>
        </p:txBody>
      </p:sp>
      <p:sp>
        <p:nvSpPr>
          <p:cNvPr id="3" name="Content Placeholder 2"/>
          <p:cNvSpPr>
            <a:spLocks noGrp="1"/>
          </p:cNvSpPr>
          <p:nvPr>
            <p:ph idx="1"/>
          </p:nvPr>
        </p:nvSpPr>
        <p:spPr>
          <a:xfrm>
            <a:off x="373062" y="1295400"/>
            <a:ext cx="4427538" cy="4810548"/>
          </a:xfrm>
        </p:spPr>
        <p:txBody>
          <a:bodyPr/>
          <a:lstStyle/>
          <a:p>
            <a:pPr algn="just"/>
            <a:r>
              <a:rPr lang="en-MY" sz="2800" dirty="0" smtClean="0"/>
              <a:t>Example</a:t>
            </a:r>
          </a:p>
          <a:p>
            <a:pPr marL="0" indent="0" algn="just">
              <a:buNone/>
            </a:pPr>
            <a:r>
              <a:rPr lang="en-MY" sz="2800" dirty="0">
                <a:solidFill>
                  <a:schemeClr val="tx1"/>
                </a:solidFill>
              </a:rPr>
              <a:t>The C++ program is to calculate the payment that person received. Prompt input from user to enter hours work and salary rate per hour. Then, the system will automatically display employee name and the total salary per month.</a:t>
            </a:r>
          </a:p>
          <a:p>
            <a:pPr marL="0" indent="0" algn="just">
              <a:buNone/>
            </a:pPr>
            <a:endParaRPr lang="en-MY" sz="2800" dirty="0"/>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6" name="Picture 5"/>
          <p:cNvPicPr>
            <a:picLocks noChangeAspect="1"/>
          </p:cNvPicPr>
          <p:nvPr/>
        </p:nvPicPr>
        <p:blipFill>
          <a:blip r:embed="rId2"/>
          <a:stretch>
            <a:fillRect/>
          </a:stretch>
        </p:blipFill>
        <p:spPr>
          <a:xfrm>
            <a:off x="5486400" y="1322696"/>
            <a:ext cx="2133600" cy="4826000"/>
          </a:xfrm>
          <a:prstGeom prst="rect">
            <a:avLst/>
          </a:prstGeom>
        </p:spPr>
      </p:pic>
    </p:spTree>
    <p:extLst>
      <p:ext uri="{BB962C8B-B14F-4D97-AF65-F5344CB8AC3E}">
        <p14:creationId xmlns:p14="http://schemas.microsoft.com/office/powerpoint/2010/main" val="8226308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(8 </a:t>
            </a:r>
            <a:r>
              <a:rPr lang="en-MY" dirty="0"/>
              <a:t>of </a:t>
            </a:r>
            <a:r>
              <a:rPr lang="en-MY" dirty="0" smtClean="0"/>
              <a:t>12)</a:t>
            </a:r>
            <a:endParaRPr lang="en-MY" dirty="0"/>
          </a:p>
        </p:txBody>
      </p:sp>
      <p:sp>
        <p:nvSpPr>
          <p:cNvPr id="3" name="Content Placeholder 2"/>
          <p:cNvSpPr>
            <a:spLocks noGrp="1"/>
          </p:cNvSpPr>
          <p:nvPr>
            <p:ph idx="1"/>
          </p:nvPr>
        </p:nvSpPr>
        <p:spPr>
          <a:xfrm>
            <a:off x="365125" y="1538818"/>
            <a:ext cx="8415338" cy="4278094"/>
          </a:xfrm>
        </p:spPr>
        <p:txBody>
          <a:bodyPr/>
          <a:lstStyle/>
          <a:p>
            <a:pPr algn="just"/>
            <a:r>
              <a:rPr lang="en-MY" sz="2400" b="1" dirty="0" smtClean="0">
                <a:solidFill>
                  <a:schemeClr val="tx1"/>
                </a:solidFill>
              </a:rPr>
              <a:t>Pseudocode </a:t>
            </a:r>
            <a:r>
              <a:rPr lang="en-MY" sz="2400" dirty="0" smtClean="0">
                <a:solidFill>
                  <a:schemeClr val="tx1"/>
                </a:solidFill>
              </a:rPr>
              <a:t>is a </a:t>
            </a:r>
            <a:r>
              <a:rPr lang="en-US" altLang="en-US" sz="2400" dirty="0" smtClean="0">
                <a:solidFill>
                  <a:schemeClr val="tx1"/>
                </a:solidFill>
                <a:ea typeface="ＭＳ Ｐゴシック" panose="020B0600070205080204" pitchFamily="34" charset="-128"/>
              </a:rPr>
              <a:t>semiformal</a:t>
            </a:r>
            <a:r>
              <a:rPr lang="en-US" altLang="en-US" sz="2400" dirty="0">
                <a:solidFill>
                  <a:schemeClr val="tx1"/>
                </a:solidFill>
                <a:ea typeface="ＭＳ Ｐゴシック" panose="020B0600070205080204" pitchFamily="34" charset="-128"/>
              </a:rPr>
              <a:t>, English-like language with a limited vocabulary used to design and describe algorithms. </a:t>
            </a:r>
          </a:p>
          <a:p>
            <a:pPr algn="just"/>
            <a:r>
              <a:rPr lang="en-US" altLang="en-US" sz="2400" dirty="0">
                <a:solidFill>
                  <a:schemeClr val="tx1"/>
                </a:solidFill>
                <a:ea typeface="ＭＳ Ｐゴシック" panose="020B0600070205080204" pitchFamily="34" charset="-128"/>
              </a:rPr>
              <a:t>Every statement in pseudocode involves keywords which define the process and operands. </a:t>
            </a:r>
          </a:p>
          <a:p>
            <a:pPr algn="just"/>
            <a:r>
              <a:rPr lang="en-US" altLang="en-US" sz="2400" dirty="0">
                <a:solidFill>
                  <a:schemeClr val="tx1"/>
                </a:solidFill>
                <a:ea typeface="ＭＳ Ｐゴシック" panose="020B0600070205080204" pitchFamily="34" charset="-128"/>
              </a:rPr>
              <a:t>Each pseudocode statement should be written in a separate line</a:t>
            </a:r>
            <a:r>
              <a:rPr lang="en-US" altLang="en-US" sz="2400" dirty="0" smtClean="0">
                <a:solidFill>
                  <a:schemeClr val="tx1"/>
                </a:solidFill>
                <a:ea typeface="ＭＳ Ｐゴシック" panose="020B0600070205080204" pitchFamily="34" charset="-128"/>
              </a:rPr>
              <a:t>.</a:t>
            </a:r>
          </a:p>
          <a:p>
            <a:pPr algn="just"/>
            <a:r>
              <a:rPr lang="en-US" altLang="en-US" sz="2400" dirty="0" smtClean="0">
                <a:solidFill>
                  <a:schemeClr val="tx1"/>
                </a:solidFill>
                <a:ea typeface="ＭＳ Ｐゴシック" panose="020B0600070205080204" pitchFamily="34" charset="-128"/>
              </a:rPr>
              <a:t>Similar to flowchart, Keywords </a:t>
            </a:r>
            <a:r>
              <a:rPr lang="en-US" altLang="en-US" sz="2400" dirty="0">
                <a:solidFill>
                  <a:schemeClr val="tx1"/>
                </a:solidFill>
                <a:ea typeface="ＭＳ Ｐゴシック" panose="020B0600070205080204" pitchFamily="34" charset="-128"/>
              </a:rPr>
              <a:t>are written in uppercase, while variable and constant names as well as operations for the statements are written in lower case. </a:t>
            </a:r>
          </a:p>
          <a:p>
            <a:pPr algn="just"/>
            <a:endParaRPr lang="en-US" altLang="en-US" sz="2400" dirty="0">
              <a:solidFill>
                <a:schemeClr val="tx1"/>
              </a:solidFill>
              <a:ea typeface="ＭＳ Ｐゴシック" panose="020B0600070205080204" pitchFamily="34" charset="-128"/>
            </a:endParaRPr>
          </a:p>
          <a:p>
            <a:endParaRPr lang="en-MY" sz="2400" b="1"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49844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(9 </a:t>
            </a:r>
            <a:r>
              <a:rPr lang="en-MY" dirty="0"/>
              <a:t>of </a:t>
            </a:r>
            <a:r>
              <a:rPr lang="en-MY" dirty="0" smtClean="0"/>
              <a:t>12)</a:t>
            </a:r>
            <a:endParaRPr lang="en-MY" dirty="0"/>
          </a:p>
        </p:txBody>
      </p:sp>
      <p:sp>
        <p:nvSpPr>
          <p:cNvPr id="3" name="Content Placeholder 2"/>
          <p:cNvSpPr>
            <a:spLocks noGrp="1"/>
          </p:cNvSpPr>
          <p:nvPr>
            <p:ph idx="1"/>
          </p:nvPr>
        </p:nvSpPr>
        <p:spPr>
          <a:xfrm>
            <a:off x="373062" y="1219200"/>
            <a:ext cx="8415338" cy="5869299"/>
          </a:xfrm>
        </p:spPr>
        <p:txBody>
          <a:bodyPr/>
          <a:lstStyle/>
          <a:p>
            <a:r>
              <a:rPr lang="en-MY" sz="2400" dirty="0" smtClean="0">
                <a:solidFill>
                  <a:schemeClr val="tx1"/>
                </a:solidFill>
              </a:rPr>
              <a:t>Example</a:t>
            </a:r>
            <a:endParaRPr lang="en-MY" sz="2400" dirty="0">
              <a:solidFill>
                <a:schemeClr val="tx1"/>
              </a:solidFill>
            </a:endParaRPr>
          </a:p>
          <a:p>
            <a:pPr marL="0" indent="0" algn="just">
              <a:buNone/>
            </a:pPr>
            <a:r>
              <a:rPr lang="en-MY" sz="2400" dirty="0">
                <a:solidFill>
                  <a:schemeClr val="tx1"/>
                </a:solidFill>
              </a:rPr>
              <a:t>The C++ program is to calculate the payment that person received. Prompt input from user to enter hours work and salary rate per hour. Then, the system will automatically display employee name and the total salary per month</a:t>
            </a:r>
            <a:r>
              <a:rPr lang="en-MY" sz="2400" dirty="0" smtClean="0">
                <a:solidFill>
                  <a:schemeClr val="tx1"/>
                </a:solidFill>
              </a:rPr>
              <a:t>.</a:t>
            </a:r>
            <a:endParaRPr lang="en-MY" sz="2400" dirty="0">
              <a:solidFill>
                <a:schemeClr val="tx1"/>
              </a:solidFill>
            </a:endParaRPr>
          </a:p>
          <a:p>
            <a:pPr marL="0" indent="0" algn="just">
              <a:buNone/>
            </a:pPr>
            <a:r>
              <a:rPr lang="en-MY" sz="2400" dirty="0" smtClean="0">
                <a:solidFill>
                  <a:schemeClr val="tx1"/>
                </a:solidFill>
              </a:rPr>
              <a:t>Solution:</a:t>
            </a:r>
          </a:p>
          <a:p>
            <a:pPr marL="228600" lvl="1" indent="0">
              <a:buNone/>
            </a:pPr>
            <a:r>
              <a:rPr lang="en-MY" sz="2400" dirty="0" smtClean="0">
                <a:solidFill>
                  <a:schemeClr val="tx1"/>
                </a:solidFill>
              </a:rPr>
              <a:t>	</a:t>
            </a:r>
            <a:r>
              <a:rPr lang="en-MY" sz="2400" dirty="0" smtClean="0">
                <a:solidFill>
                  <a:srgbClr val="1B70A5"/>
                </a:solidFill>
              </a:rPr>
              <a:t>START </a:t>
            </a:r>
            <a:r>
              <a:rPr lang="en-MY" sz="2400" dirty="0">
                <a:solidFill>
                  <a:srgbClr val="1B70A5"/>
                </a:solidFill>
              </a:rPr>
              <a:t>/ BEGIN</a:t>
            </a:r>
          </a:p>
          <a:p>
            <a:pPr marL="0" indent="0">
              <a:buNone/>
            </a:pPr>
            <a:r>
              <a:rPr lang="en-MY" sz="2400" dirty="0">
                <a:solidFill>
                  <a:srgbClr val="1B70A5"/>
                </a:solidFill>
              </a:rPr>
              <a:t>	</a:t>
            </a:r>
            <a:r>
              <a:rPr lang="en-MY" sz="2400" dirty="0" smtClean="0">
                <a:solidFill>
                  <a:srgbClr val="1B70A5"/>
                </a:solidFill>
              </a:rPr>
              <a:t>READ </a:t>
            </a:r>
            <a:r>
              <a:rPr lang="en-MY" sz="2400" dirty="0">
                <a:solidFill>
                  <a:srgbClr val="1B70A5"/>
                </a:solidFill>
              </a:rPr>
              <a:t>hour(</a:t>
            </a:r>
            <a:r>
              <a:rPr lang="en-MY" sz="2400" dirty="0" err="1">
                <a:solidFill>
                  <a:srgbClr val="1B70A5"/>
                </a:solidFill>
              </a:rPr>
              <a:t>int</a:t>
            </a:r>
            <a:r>
              <a:rPr lang="en-MY" sz="2400" dirty="0">
                <a:solidFill>
                  <a:srgbClr val="1B70A5"/>
                </a:solidFill>
              </a:rPr>
              <a:t>), </a:t>
            </a:r>
            <a:r>
              <a:rPr lang="en-MY" sz="2400" dirty="0" err="1" smtClean="0">
                <a:solidFill>
                  <a:srgbClr val="1B70A5"/>
                </a:solidFill>
              </a:rPr>
              <a:t>Salaryrateperhour</a:t>
            </a:r>
            <a:r>
              <a:rPr lang="en-MY" sz="2400" dirty="0" smtClean="0">
                <a:solidFill>
                  <a:srgbClr val="1B70A5"/>
                </a:solidFill>
              </a:rPr>
              <a:t>(double</a:t>
            </a:r>
            <a:r>
              <a:rPr lang="en-MY" sz="2400" dirty="0">
                <a:solidFill>
                  <a:srgbClr val="1B70A5"/>
                </a:solidFill>
              </a:rPr>
              <a:t>);</a:t>
            </a:r>
          </a:p>
          <a:p>
            <a:pPr marL="0" indent="0">
              <a:buNone/>
            </a:pPr>
            <a:r>
              <a:rPr lang="en-MY" sz="2400" dirty="0" smtClean="0">
                <a:solidFill>
                  <a:srgbClr val="1B70A5"/>
                </a:solidFill>
              </a:rPr>
              <a:t>	CALCULATE </a:t>
            </a:r>
            <a:r>
              <a:rPr lang="en-MY" sz="2400" dirty="0">
                <a:solidFill>
                  <a:srgbClr val="1B70A5"/>
                </a:solidFill>
              </a:rPr>
              <a:t>salary= (hours * </a:t>
            </a:r>
            <a:r>
              <a:rPr lang="en-MY" sz="2400" dirty="0" err="1">
                <a:solidFill>
                  <a:srgbClr val="1B70A5"/>
                </a:solidFill>
              </a:rPr>
              <a:t>salaryrateperhour</a:t>
            </a:r>
            <a:r>
              <a:rPr lang="en-MY" sz="2400" dirty="0">
                <a:solidFill>
                  <a:srgbClr val="1B70A5"/>
                </a:solidFill>
              </a:rPr>
              <a:t>) * 30;</a:t>
            </a:r>
          </a:p>
          <a:p>
            <a:pPr marL="0" indent="0">
              <a:buNone/>
            </a:pPr>
            <a:r>
              <a:rPr lang="en-MY" sz="2400" dirty="0" smtClean="0">
                <a:solidFill>
                  <a:srgbClr val="1B70A5"/>
                </a:solidFill>
              </a:rPr>
              <a:t>	DISPLAY </a:t>
            </a:r>
            <a:r>
              <a:rPr lang="en-MY" sz="2400" dirty="0">
                <a:solidFill>
                  <a:srgbClr val="1B70A5"/>
                </a:solidFill>
              </a:rPr>
              <a:t>salary(double); </a:t>
            </a:r>
          </a:p>
          <a:p>
            <a:pPr marL="0" indent="0">
              <a:buNone/>
            </a:pPr>
            <a:r>
              <a:rPr lang="en-MY" sz="2400" dirty="0" smtClean="0">
                <a:solidFill>
                  <a:srgbClr val="1B70A5"/>
                </a:solidFill>
              </a:rPr>
              <a:t>	END</a:t>
            </a:r>
            <a:r>
              <a:rPr lang="en-MY" sz="2400" dirty="0">
                <a:solidFill>
                  <a:srgbClr val="1B70A5"/>
                </a:solidFill>
              </a:rPr>
              <a:t>.</a:t>
            </a:r>
          </a:p>
          <a:p>
            <a:pPr marL="0" indent="0" algn="just">
              <a:buNone/>
            </a:pPr>
            <a:endParaRPr lang="en-MY" sz="2400" dirty="0">
              <a:solidFill>
                <a:schemeClr val="tx1"/>
              </a:solidFill>
            </a:endParaRPr>
          </a:p>
          <a:p>
            <a:endParaRPr lang="en-MY" sz="24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51323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(10 </a:t>
            </a:r>
            <a:r>
              <a:rPr lang="en-MY" dirty="0"/>
              <a:t>of </a:t>
            </a:r>
            <a:r>
              <a:rPr lang="en-MY" dirty="0" smtClean="0"/>
              <a:t>12)</a:t>
            </a:r>
            <a:endParaRPr lang="en-MY" dirty="0"/>
          </a:p>
        </p:txBody>
      </p:sp>
      <p:sp>
        <p:nvSpPr>
          <p:cNvPr id="3" name="Content Placeholder 2"/>
          <p:cNvSpPr>
            <a:spLocks noGrp="1"/>
          </p:cNvSpPr>
          <p:nvPr>
            <p:ph idx="1"/>
          </p:nvPr>
        </p:nvSpPr>
        <p:spPr>
          <a:xfrm>
            <a:off x="365125" y="1538818"/>
            <a:ext cx="8415338" cy="3173176"/>
          </a:xfrm>
        </p:spPr>
        <p:txBody>
          <a:bodyPr/>
          <a:lstStyle/>
          <a:p>
            <a:pPr algn="just"/>
            <a:r>
              <a:rPr lang="en-US" altLang="en-US" sz="2800" dirty="0" smtClean="0">
                <a:solidFill>
                  <a:schemeClr val="tx1"/>
                </a:solidFill>
                <a:ea typeface="ＭＳ Ｐゴシック" panose="020B0600070205080204" pitchFamily="34" charset="-128"/>
              </a:rPr>
              <a:t>Implementation/coding process is converted the pseudocode which </a:t>
            </a:r>
            <a:r>
              <a:rPr lang="en-US" altLang="en-US" sz="2800" dirty="0">
                <a:solidFill>
                  <a:schemeClr val="tx1"/>
                </a:solidFill>
                <a:ea typeface="ＭＳ Ｐゴシック" panose="020B0600070205080204" pitchFamily="34" charset="-128"/>
              </a:rPr>
              <a:t>have been done in the design </a:t>
            </a:r>
            <a:r>
              <a:rPr lang="en-US" altLang="en-US" sz="2800" dirty="0" smtClean="0">
                <a:solidFill>
                  <a:schemeClr val="tx1"/>
                </a:solidFill>
                <a:ea typeface="ＭＳ Ｐゴシック" panose="020B0600070205080204" pitchFamily="34" charset="-128"/>
              </a:rPr>
              <a:t>step </a:t>
            </a:r>
            <a:r>
              <a:rPr lang="en-US" altLang="en-US" sz="2800" dirty="0">
                <a:solidFill>
                  <a:schemeClr val="tx1"/>
                </a:solidFill>
                <a:ea typeface="ＭＳ Ｐゴシック" panose="020B0600070205080204" pitchFamily="34" charset="-128"/>
              </a:rPr>
              <a:t>into a program by using certain programming languages such as BASIC, JAVA, C or C++.</a:t>
            </a:r>
          </a:p>
          <a:p>
            <a:pPr algn="just"/>
            <a:r>
              <a:rPr lang="en-US" altLang="en-US" sz="2800" dirty="0">
                <a:solidFill>
                  <a:schemeClr val="tx1"/>
                </a:solidFill>
                <a:ea typeface="ＭＳ Ｐゴシック" panose="020B0600070205080204" pitchFamily="34" charset="-128"/>
              </a:rPr>
              <a:t>This step solves the problem by enabling the user to start writing the programs.</a:t>
            </a:r>
          </a:p>
          <a:p>
            <a:endParaRPr lang="en-MY" sz="28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837460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(11 </a:t>
            </a:r>
            <a:r>
              <a:rPr lang="en-MY" dirty="0"/>
              <a:t>of </a:t>
            </a:r>
            <a:r>
              <a:rPr lang="en-MY" dirty="0" smtClean="0"/>
              <a:t>12)</a:t>
            </a:r>
            <a:endParaRPr lang="en-MY" dirty="0"/>
          </a:p>
        </p:txBody>
      </p:sp>
      <p:sp>
        <p:nvSpPr>
          <p:cNvPr id="3" name="Content Placeholder 2"/>
          <p:cNvSpPr>
            <a:spLocks noGrp="1"/>
          </p:cNvSpPr>
          <p:nvPr>
            <p:ph idx="1"/>
          </p:nvPr>
        </p:nvSpPr>
        <p:spPr>
          <a:xfrm>
            <a:off x="365125" y="1538818"/>
            <a:ext cx="8415338" cy="3327065"/>
          </a:xfrm>
        </p:spPr>
        <p:txBody>
          <a:bodyPr/>
          <a:lstStyle/>
          <a:p>
            <a:pPr algn="just"/>
            <a:r>
              <a:rPr lang="en-US" altLang="en-US" sz="2800" dirty="0" smtClean="0">
                <a:solidFill>
                  <a:schemeClr val="tx1"/>
                </a:solidFill>
                <a:ea typeface="ＭＳ Ｐゴシック" panose="020B0600070205080204" pitchFamily="34" charset="-128"/>
              </a:rPr>
              <a:t>Testing is the </a:t>
            </a:r>
            <a:r>
              <a:rPr lang="en-US" altLang="en-US" sz="2800" dirty="0">
                <a:solidFill>
                  <a:schemeClr val="tx1"/>
                </a:solidFill>
                <a:ea typeface="ＭＳ Ｐゴシック" panose="020B0600070205080204" pitchFamily="34" charset="-128"/>
              </a:rPr>
              <a:t>step for checking and verifying the correctness of the program. </a:t>
            </a:r>
          </a:p>
          <a:p>
            <a:pPr algn="just"/>
            <a:r>
              <a:rPr lang="en-US" altLang="en-US" sz="2800" dirty="0">
                <a:solidFill>
                  <a:schemeClr val="tx1"/>
                </a:solidFill>
                <a:ea typeface="ＭＳ Ｐゴシック" panose="020B0600070205080204" pitchFamily="34" charset="-128"/>
              </a:rPr>
              <a:t>The process of making sure a program is free of errors or ‘bugs’ is called </a:t>
            </a:r>
            <a:r>
              <a:rPr lang="en-US" altLang="en-US" sz="2800" b="1" dirty="0">
                <a:solidFill>
                  <a:schemeClr val="tx1"/>
                </a:solidFill>
                <a:ea typeface="ＭＳ Ｐゴシック" panose="020B0600070205080204" pitchFamily="34" charset="-128"/>
              </a:rPr>
              <a:t>debugging</a:t>
            </a:r>
            <a:r>
              <a:rPr lang="en-US" altLang="en-US" sz="2800" dirty="0">
                <a:solidFill>
                  <a:schemeClr val="tx1"/>
                </a:solidFill>
                <a:ea typeface="ＭＳ Ｐゴシック" panose="020B0600070205080204" pitchFamily="34" charset="-128"/>
              </a:rPr>
              <a:t>.</a:t>
            </a:r>
          </a:p>
          <a:p>
            <a:pPr algn="just"/>
            <a:r>
              <a:rPr lang="en-US" altLang="en-US" sz="2800" dirty="0">
                <a:solidFill>
                  <a:schemeClr val="tx1"/>
                </a:solidFill>
                <a:ea typeface="ＭＳ Ｐゴシック" panose="020B0600070205080204" pitchFamily="34" charset="-128"/>
              </a:rPr>
              <a:t>Preliminary debugging begins after the program has been entered into the computer system.</a:t>
            </a:r>
          </a:p>
          <a:p>
            <a:endParaRPr lang="en-MY" sz="2800" dirty="0"/>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189615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Program Development Life Cycle (PDLC) (</a:t>
            </a:r>
            <a:r>
              <a:rPr lang="en-MY" dirty="0" smtClean="0"/>
              <a:t>12 </a:t>
            </a:r>
            <a:r>
              <a:rPr lang="en-MY" dirty="0"/>
              <a:t>of </a:t>
            </a:r>
            <a:r>
              <a:rPr lang="en-MY" dirty="0" smtClean="0"/>
              <a:t>12)</a:t>
            </a:r>
            <a:endParaRPr lang="en-MY" dirty="0"/>
          </a:p>
        </p:txBody>
      </p:sp>
      <p:sp>
        <p:nvSpPr>
          <p:cNvPr id="3" name="Content Placeholder 2"/>
          <p:cNvSpPr>
            <a:spLocks noGrp="1"/>
          </p:cNvSpPr>
          <p:nvPr>
            <p:ph idx="1"/>
          </p:nvPr>
        </p:nvSpPr>
        <p:spPr>
          <a:xfrm>
            <a:off x="365125" y="1538818"/>
            <a:ext cx="8415338" cy="3927229"/>
          </a:xfrm>
        </p:spPr>
        <p:txBody>
          <a:bodyPr/>
          <a:lstStyle/>
          <a:p>
            <a:pPr algn="just"/>
            <a:r>
              <a:rPr lang="en-US" altLang="en-US" sz="2400" dirty="0">
                <a:solidFill>
                  <a:schemeClr val="tx1"/>
                </a:solidFill>
                <a:ea typeface="ＭＳ Ｐゴシック" panose="020B0600070205080204" pitchFamily="34" charset="-128"/>
              </a:rPr>
              <a:t>Last step in the Program Development Life Cycle (PDLC</a:t>
            </a:r>
            <a:r>
              <a:rPr lang="en-US" altLang="en-US" sz="2400" dirty="0" smtClean="0">
                <a:solidFill>
                  <a:schemeClr val="tx1"/>
                </a:solidFill>
                <a:ea typeface="ＭＳ Ｐゴシック" panose="020B0600070205080204" pitchFamily="34" charset="-128"/>
              </a:rPr>
              <a:t>) is Testing. </a:t>
            </a:r>
            <a:endParaRPr lang="en-US" altLang="en-US" sz="2400" dirty="0">
              <a:solidFill>
                <a:schemeClr val="tx1"/>
              </a:solidFill>
              <a:ea typeface="ＭＳ Ｐゴシック" panose="020B0600070205080204" pitchFamily="34" charset="-128"/>
            </a:endParaRPr>
          </a:p>
          <a:p>
            <a:pPr algn="just"/>
            <a:r>
              <a:rPr lang="en-US" altLang="en-US" sz="2400" dirty="0">
                <a:solidFill>
                  <a:schemeClr val="tx1"/>
                </a:solidFill>
                <a:ea typeface="ＭＳ Ｐゴシック" panose="020B0600070205080204" pitchFamily="34" charset="-128"/>
              </a:rPr>
              <a:t>Essentially, every program, if it is to last a long time, requires ongoing maintenance. </a:t>
            </a:r>
          </a:p>
          <a:p>
            <a:pPr algn="just"/>
            <a:r>
              <a:rPr lang="en-US" altLang="en-US" sz="2400" dirty="0">
                <a:solidFill>
                  <a:schemeClr val="tx1"/>
                </a:solidFill>
                <a:ea typeface="ＭＳ Ｐゴシック" panose="020B0600070205080204" pitchFamily="34" charset="-128"/>
              </a:rPr>
              <a:t>A process of updating software for any changes, corrections, additions, moving to a different computing platform and others so that it continues to be useful.</a:t>
            </a:r>
          </a:p>
          <a:p>
            <a:pPr algn="just"/>
            <a:r>
              <a:rPr lang="en-US" altLang="en-US" sz="2400" dirty="0">
                <a:solidFill>
                  <a:schemeClr val="tx1"/>
                </a:solidFill>
                <a:ea typeface="ＭＳ Ｐゴシック" panose="020B0600070205080204" pitchFamily="34" charset="-128"/>
              </a:rPr>
              <a:t>A costly process.</a:t>
            </a:r>
          </a:p>
          <a:p>
            <a:pPr algn="just"/>
            <a:r>
              <a:rPr lang="en-US" altLang="en-US" sz="2400" dirty="0">
                <a:solidFill>
                  <a:schemeClr val="tx1"/>
                </a:solidFill>
                <a:ea typeface="ＭＳ Ｐゴシック" panose="020B0600070205080204" pitchFamily="34" charset="-128"/>
              </a:rPr>
              <a:t>Can be very useful especially on extending the life of a program. </a:t>
            </a:r>
          </a:p>
          <a:p>
            <a:endParaRPr lang="en-MY" sz="24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127646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Processing a C++ Program </a:t>
            </a:r>
            <a:r>
              <a:rPr lang="en-US" altLang="en-US" dirty="0" smtClean="0"/>
              <a:t>(1 </a:t>
            </a:r>
            <a:r>
              <a:rPr lang="en-US" altLang="en-US" dirty="0"/>
              <a:t>of </a:t>
            </a:r>
            <a:r>
              <a:rPr lang="en-US" altLang="en-US" dirty="0" smtClean="0"/>
              <a:t>3)</a:t>
            </a:r>
            <a:endParaRPr lang="en-MY" dirty="0"/>
          </a:p>
        </p:txBody>
      </p:sp>
      <p:sp>
        <p:nvSpPr>
          <p:cNvPr id="3" name="Content Placeholder 2"/>
          <p:cNvSpPr>
            <a:spLocks noGrp="1"/>
          </p:cNvSpPr>
          <p:nvPr>
            <p:ph idx="1"/>
          </p:nvPr>
        </p:nvSpPr>
        <p:spPr>
          <a:xfrm>
            <a:off x="345766" y="1143564"/>
            <a:ext cx="8415338" cy="292388"/>
          </a:xfrm>
        </p:spPr>
        <p:txBody>
          <a:bodyPr/>
          <a:lstStyle/>
          <a:p>
            <a:r>
              <a:rPr lang="en-MY" dirty="0" smtClean="0"/>
              <a:t>The flow of program execution </a:t>
            </a:r>
            <a:endParaRPr lang="en-MY" dirty="0"/>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l="27304" t="20708" r="34975" b="22980"/>
          <a:stretch>
            <a:fillRect/>
          </a:stretch>
        </p:blipFill>
        <p:spPr bwMode="auto">
          <a:xfrm>
            <a:off x="2392965" y="1457561"/>
            <a:ext cx="5191125"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39138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p:txBody>
          <a:bodyPr/>
          <a:lstStyle/>
          <a:p>
            <a:r>
              <a:rPr lang="en-US" altLang="en-US" dirty="0"/>
              <a:t>Processing a C++ Program (2 of </a:t>
            </a:r>
            <a:r>
              <a:rPr lang="en-US" altLang="en-US" dirty="0" smtClean="0"/>
              <a:t>3)</a:t>
            </a:r>
            <a:endParaRPr lang="en-US" altLang="en-US" dirty="0"/>
          </a:p>
        </p:txBody>
      </p:sp>
      <p:sp>
        <p:nvSpPr>
          <p:cNvPr id="27651" name="Rectangle 5"/>
          <p:cNvSpPr>
            <a:spLocks noGrp="1" noChangeArrowheads="1"/>
          </p:cNvSpPr>
          <p:nvPr>
            <p:ph idx="1"/>
          </p:nvPr>
        </p:nvSpPr>
        <p:spPr>
          <a:xfrm>
            <a:off x="373062" y="1371600"/>
            <a:ext cx="8415338" cy="4812087"/>
          </a:xfrm>
        </p:spPr>
        <p:txBody>
          <a:bodyPr/>
          <a:lstStyle/>
          <a:p>
            <a:r>
              <a:rPr lang="en-US" altLang="en-US" dirty="0">
                <a:solidFill>
                  <a:schemeClr val="tx1"/>
                </a:solidFill>
              </a:rPr>
              <a:t>Steps needed to process a C++ program</a:t>
            </a:r>
          </a:p>
          <a:p>
            <a:pPr marL="571500" lvl="1" indent="-342900">
              <a:buFont typeface="+mj-lt"/>
              <a:buAutoNum type="arabicPeriod"/>
            </a:pPr>
            <a:r>
              <a:rPr lang="en-US" altLang="en-US" dirty="0">
                <a:solidFill>
                  <a:schemeClr val="tx1"/>
                </a:solidFill>
              </a:rPr>
              <a:t>Use a text editor to create the </a:t>
            </a:r>
            <a:r>
              <a:rPr lang="en-US" altLang="en-US" u="sng" dirty="0">
                <a:solidFill>
                  <a:schemeClr val="tx1"/>
                </a:solidFill>
              </a:rPr>
              <a:t>source code (source program)</a:t>
            </a:r>
            <a:r>
              <a:rPr lang="en-US" altLang="en-US" dirty="0">
                <a:solidFill>
                  <a:schemeClr val="tx1"/>
                </a:solidFill>
              </a:rPr>
              <a:t> in C++</a:t>
            </a:r>
          </a:p>
          <a:p>
            <a:pPr marL="571500" lvl="1" indent="-342900">
              <a:buFont typeface="+mj-lt"/>
              <a:buAutoNum type="arabicPeriod"/>
            </a:pPr>
            <a:r>
              <a:rPr lang="en-US" altLang="en-US" dirty="0">
                <a:solidFill>
                  <a:schemeClr val="tx1"/>
                </a:solidFill>
              </a:rPr>
              <a:t>Include preprocessor directives</a:t>
            </a:r>
          </a:p>
          <a:p>
            <a:pPr marL="800100" lvl="3" indent="-228600"/>
            <a:r>
              <a:rPr lang="en-US" altLang="en-US" sz="1600" dirty="0">
                <a:solidFill>
                  <a:schemeClr val="tx1"/>
                </a:solidFill>
              </a:rPr>
              <a:t>Begin with the symbol # and are processed by the </a:t>
            </a:r>
            <a:r>
              <a:rPr lang="en-US" altLang="en-US" sz="1600" u="sng" dirty="0">
                <a:solidFill>
                  <a:schemeClr val="tx1"/>
                </a:solidFill>
              </a:rPr>
              <a:t>preprocessor</a:t>
            </a:r>
          </a:p>
          <a:p>
            <a:pPr marL="571500" lvl="1" indent="-342900">
              <a:buFont typeface="+mj-lt"/>
              <a:buAutoNum type="arabicPeriod"/>
            </a:pPr>
            <a:r>
              <a:rPr lang="en-US" altLang="en-US" dirty="0">
                <a:solidFill>
                  <a:schemeClr val="tx1"/>
                </a:solidFill>
              </a:rPr>
              <a:t>Use the compiler to:</a:t>
            </a:r>
          </a:p>
          <a:p>
            <a:pPr marL="800100" lvl="3" indent="-228600"/>
            <a:r>
              <a:rPr lang="en-US" altLang="en-US" sz="1600" dirty="0">
                <a:solidFill>
                  <a:schemeClr val="tx1"/>
                </a:solidFill>
              </a:rPr>
              <a:t>Check that the program obeys the language rules</a:t>
            </a:r>
          </a:p>
          <a:p>
            <a:pPr marL="800100" lvl="3" indent="-228600"/>
            <a:r>
              <a:rPr lang="en-US" altLang="en-US" sz="1600" dirty="0">
                <a:solidFill>
                  <a:schemeClr val="tx1"/>
                </a:solidFill>
              </a:rPr>
              <a:t>Translate the program into machine language (</a:t>
            </a:r>
            <a:r>
              <a:rPr lang="en-US" altLang="en-US" sz="1600" b="1" dirty="0">
                <a:solidFill>
                  <a:schemeClr val="tx1"/>
                </a:solidFill>
              </a:rPr>
              <a:t>object program</a:t>
            </a:r>
            <a:r>
              <a:rPr lang="en-US" altLang="en-US" sz="1600" dirty="0">
                <a:solidFill>
                  <a:schemeClr val="tx1"/>
                </a:solidFill>
              </a:rPr>
              <a:t>)</a:t>
            </a:r>
          </a:p>
          <a:p>
            <a:pPr marL="571500" lvl="1" indent="-342900">
              <a:buFont typeface="+mj-lt"/>
              <a:buAutoNum type="arabicPeriod"/>
            </a:pPr>
            <a:r>
              <a:rPr lang="en-US" altLang="en-US" dirty="0">
                <a:solidFill>
                  <a:schemeClr val="tx1"/>
                </a:solidFill>
              </a:rPr>
              <a:t>Use an </a:t>
            </a:r>
            <a:r>
              <a:rPr lang="en-US" dirty="0">
                <a:solidFill>
                  <a:schemeClr val="tx1"/>
                </a:solidFill>
              </a:rPr>
              <a:t>integrated development environment (IDE) to develop programs in a high-level language</a:t>
            </a:r>
          </a:p>
          <a:p>
            <a:pPr marL="800100" lvl="3" indent="-228600"/>
            <a:r>
              <a:rPr lang="en-US" altLang="en-US" sz="1600" dirty="0">
                <a:solidFill>
                  <a:schemeClr val="tx1"/>
                </a:solidFill>
              </a:rPr>
              <a:t>Programs such as mathematical functions are available</a:t>
            </a:r>
          </a:p>
          <a:p>
            <a:pPr marL="800100" lvl="3" indent="-228600"/>
            <a:r>
              <a:rPr lang="en-US" altLang="en-US" sz="1600" dirty="0">
                <a:solidFill>
                  <a:schemeClr val="tx1"/>
                </a:solidFill>
              </a:rPr>
              <a:t>The </a:t>
            </a:r>
            <a:r>
              <a:rPr lang="en-US" altLang="en-US" sz="1600" u="sng" dirty="0">
                <a:solidFill>
                  <a:schemeClr val="tx1"/>
                </a:solidFill>
              </a:rPr>
              <a:t>library</a:t>
            </a:r>
            <a:r>
              <a:rPr lang="en-US" altLang="en-US" sz="1600" dirty="0">
                <a:solidFill>
                  <a:schemeClr val="tx1"/>
                </a:solidFill>
              </a:rPr>
              <a:t> contains prewritten code you can use</a:t>
            </a:r>
          </a:p>
          <a:p>
            <a:pPr marL="800100" lvl="3" indent="-228600"/>
            <a:r>
              <a:rPr lang="en-US" altLang="en-US" sz="1600" dirty="0">
                <a:solidFill>
                  <a:schemeClr val="tx1"/>
                </a:solidFill>
              </a:rPr>
              <a:t>A </a:t>
            </a:r>
            <a:r>
              <a:rPr lang="en-US" altLang="en-US" sz="1600" u="sng" dirty="0">
                <a:solidFill>
                  <a:schemeClr val="tx1"/>
                </a:solidFill>
              </a:rPr>
              <a:t>linker</a:t>
            </a:r>
            <a:r>
              <a:rPr lang="en-US" altLang="en-US" sz="1600" dirty="0">
                <a:solidFill>
                  <a:schemeClr val="tx1"/>
                </a:solidFill>
              </a:rPr>
              <a:t> combines object program with other programs in the library to create executable code</a:t>
            </a:r>
          </a:p>
          <a:p>
            <a:pPr marL="571500" lvl="1" indent="-342900">
              <a:buFont typeface="+mj-lt"/>
              <a:buAutoNum type="arabicPeriod" startAt="5"/>
            </a:pPr>
            <a:r>
              <a:rPr lang="en-US" altLang="en-US" dirty="0">
                <a:solidFill>
                  <a:schemeClr val="tx1"/>
                </a:solidFill>
              </a:rPr>
              <a:t>The </a:t>
            </a:r>
            <a:r>
              <a:rPr lang="en-US" altLang="en-US" u="sng" dirty="0">
                <a:solidFill>
                  <a:schemeClr val="tx1"/>
                </a:solidFill>
              </a:rPr>
              <a:t>loader</a:t>
            </a:r>
            <a:r>
              <a:rPr lang="en-US" altLang="en-US" dirty="0">
                <a:solidFill>
                  <a:schemeClr val="tx1"/>
                </a:solidFill>
              </a:rPr>
              <a:t> loads executable program into main memory</a:t>
            </a:r>
          </a:p>
          <a:p>
            <a:pPr marL="571500" lvl="1" indent="-342900">
              <a:buFont typeface="+mj-lt"/>
              <a:buAutoNum type="arabicPeriod" startAt="5"/>
            </a:pPr>
            <a:r>
              <a:rPr lang="en-US" altLang="en-US" dirty="0">
                <a:solidFill>
                  <a:schemeClr val="tx1"/>
                </a:solidFill>
              </a:rPr>
              <a:t>The last step is to execute the program</a:t>
            </a:r>
          </a:p>
          <a:p>
            <a:pPr marL="800100" lvl="3" indent="-228600"/>
            <a:endParaRPr lang="en-US" altLang="en-US" sz="1600" dirty="0">
              <a:solidFill>
                <a:schemeClr val="tx1"/>
              </a:solidFill>
            </a:endParaRPr>
          </a:p>
        </p:txBody>
      </p:sp>
      <p:sp>
        <p:nvSpPr>
          <p:cNvPr id="27653" name="Footer Placeholder 4"/>
          <p:cNvSpPr>
            <a:spLocks noGrp="1"/>
          </p:cNvSpPr>
          <p:nvPr>
            <p:ph type="ftr" sz="quarter" idx="10"/>
          </p:nvPr>
        </p:nvSpPr>
        <p:spPr>
          <a:xfrm>
            <a:off x="1597025" y="6578600"/>
            <a:ext cx="6781800" cy="244475"/>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p:txBody>
          <a:bodyPr/>
          <a:lstStyle/>
          <a:p>
            <a:r>
              <a:rPr lang="en-US" altLang="en-US" dirty="0"/>
              <a:t>Processing a C++ Program </a:t>
            </a:r>
            <a:r>
              <a:rPr lang="en-US" altLang="en-US" dirty="0" smtClean="0"/>
              <a:t>(3 of </a:t>
            </a:r>
            <a:r>
              <a:rPr lang="en-US" altLang="en-US" dirty="0"/>
              <a:t>3</a:t>
            </a:r>
            <a:r>
              <a:rPr lang="en-US" altLang="en-US" dirty="0" smtClean="0"/>
              <a:t>)</a:t>
            </a:r>
            <a:endParaRPr lang="en-US" altLang="en-US" dirty="0"/>
          </a:p>
        </p:txBody>
      </p:sp>
      <p:pic>
        <p:nvPicPr>
          <p:cNvPr id="3074" name="Picture 2" descr="Figure 1-2 illustrates the steps necessary to process a C++ pro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13" y="1671638"/>
            <a:ext cx="7038975" cy="3514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4"/>
          <p:cNvSpPr>
            <a:spLocks noGrp="1"/>
          </p:cNvSpPr>
          <p:nvPr>
            <p:ph type="body" sz="quarter" idx="11"/>
          </p:nvPr>
        </p:nvSpPr>
        <p:spPr>
          <a:xfrm>
            <a:off x="1052513" y="5198921"/>
            <a:ext cx="6949440" cy="297004"/>
          </a:xfrm>
        </p:spPr>
        <p:txBody>
          <a:bodyPr/>
          <a:lstStyle/>
          <a:p>
            <a:r>
              <a:rPr lang="en-US" b="1" dirty="0"/>
              <a:t>FIGURE 1-2 </a:t>
            </a:r>
            <a:r>
              <a:rPr lang="en-US" dirty="0"/>
              <a:t>Processing a C++ program</a:t>
            </a:r>
          </a:p>
        </p:txBody>
      </p:sp>
      <p:sp>
        <p:nvSpPr>
          <p:cNvPr id="29700" name="Footer Placeholder 4"/>
          <p:cNvSpPr>
            <a:spLocks noGrp="1"/>
          </p:cNvSpPr>
          <p:nvPr>
            <p:ph type="ftr" sz="quarter" idx="10"/>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Importance of Computer Programming</a:t>
            </a:r>
            <a:endParaRPr lang="en-MY" dirty="0"/>
          </a:p>
        </p:txBody>
      </p:sp>
      <p:sp>
        <p:nvSpPr>
          <p:cNvPr id="3" name="Content Placeholder 2"/>
          <p:cNvSpPr>
            <a:spLocks noGrp="1"/>
          </p:cNvSpPr>
          <p:nvPr>
            <p:ph idx="1"/>
          </p:nvPr>
        </p:nvSpPr>
        <p:spPr>
          <a:xfrm>
            <a:off x="373062" y="1447800"/>
            <a:ext cx="8415338" cy="5022914"/>
          </a:xfrm>
        </p:spPr>
        <p:txBody>
          <a:bodyPr/>
          <a:lstStyle/>
          <a:p>
            <a:pPr marL="442913" lvl="1" indent="-442913" algn="just">
              <a:buSzPct val="80000"/>
              <a:buFont typeface="Wingdings" panose="05000000000000000000" pitchFamily="2" charset="2"/>
              <a:buChar char="q"/>
            </a:pPr>
            <a:r>
              <a:rPr lang="en-US" altLang="en-US" sz="2400" dirty="0">
                <a:solidFill>
                  <a:schemeClr val="tx1"/>
                </a:solidFill>
                <a:ea typeface="ＭＳ Ｐゴシック" panose="020B0600070205080204" pitchFamily="34" charset="-128"/>
              </a:rPr>
              <a:t>Able to perform difficult tasks without making human-type errors such as lack of focus, energy, attention or memory. </a:t>
            </a:r>
          </a:p>
          <a:p>
            <a:pPr marL="442913" lvl="1" indent="-442913" algn="just">
              <a:buSzPct val="80000"/>
              <a:buFont typeface="Wingdings" panose="05000000000000000000" pitchFamily="2" charset="2"/>
              <a:buChar char="q"/>
            </a:pPr>
            <a:r>
              <a:rPr lang="en-US" altLang="en-US" sz="2400" dirty="0">
                <a:solidFill>
                  <a:schemeClr val="tx1"/>
                </a:solidFill>
                <a:ea typeface="ＭＳ Ｐゴシック" panose="020B0600070205080204" pitchFamily="34" charset="-128"/>
              </a:rPr>
              <a:t>Capable of performing extended tasks at greater serial speeds than conscious human thoughts. </a:t>
            </a:r>
          </a:p>
          <a:p>
            <a:pPr marL="442913" lvl="1" indent="-442913" algn="just">
              <a:buSzPct val="80000"/>
              <a:buFont typeface="Wingdings" panose="05000000000000000000" pitchFamily="2" charset="2"/>
              <a:buChar char="q"/>
            </a:pPr>
            <a:r>
              <a:rPr lang="en-US" altLang="en-US" sz="2400" dirty="0">
                <a:solidFill>
                  <a:schemeClr val="tx1"/>
                </a:solidFill>
                <a:ea typeface="ＭＳ Ｐゴシック" panose="020B0600070205080204" pitchFamily="34" charset="-128"/>
              </a:rPr>
              <a:t>Human brain cannot be duplicated or ‘re-booted’ like computers, and has already achieved ‘optimization’ through design by evolution, making it difficult to upgrade.</a:t>
            </a:r>
          </a:p>
          <a:p>
            <a:pPr marL="442913" lvl="1" indent="-442913" algn="just">
              <a:buSzPct val="80000"/>
              <a:buFont typeface="Wingdings" panose="05000000000000000000" pitchFamily="2" charset="2"/>
              <a:buChar char="q"/>
            </a:pPr>
            <a:r>
              <a:rPr lang="en-US" altLang="en-US" sz="2400" dirty="0">
                <a:solidFill>
                  <a:schemeClr val="tx1"/>
                </a:solidFill>
                <a:ea typeface="ＭＳ Ｐゴシック" panose="020B0600070205080204" pitchFamily="34" charset="-128"/>
              </a:rPr>
              <a:t>Human brain does not physically integrate well, externally or internally with current hardware and software.</a:t>
            </a:r>
          </a:p>
          <a:p>
            <a:pPr marL="442913" lvl="1" indent="-442913" algn="just">
              <a:buSzPct val="80000"/>
              <a:buFont typeface="Wingdings" panose="05000000000000000000" pitchFamily="2" charset="2"/>
              <a:buChar char="q"/>
            </a:pPr>
            <a:r>
              <a:rPr lang="en-US" altLang="en-US" sz="2400" dirty="0">
                <a:solidFill>
                  <a:schemeClr val="tx1"/>
                </a:solidFill>
                <a:ea typeface="ＭＳ Ｐゴシック" panose="020B0600070205080204" pitchFamily="34" charset="-128"/>
              </a:rPr>
              <a:t>Non-existence of boredom in computers when performing repetitive tasks allows jobs to be done faster and more efficiently.</a:t>
            </a:r>
          </a:p>
          <a:p>
            <a:endParaRPr lang="en-MY" sz="24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161216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Summarize of Chapter 1</a:t>
            </a:r>
            <a:endParaRPr lang="en-MY" dirty="0"/>
          </a:p>
        </p:txBody>
      </p:sp>
      <p:sp>
        <p:nvSpPr>
          <p:cNvPr id="3" name="Content Placeholder 2"/>
          <p:cNvSpPr>
            <a:spLocks noGrp="1"/>
          </p:cNvSpPr>
          <p:nvPr>
            <p:ph idx="1"/>
          </p:nvPr>
        </p:nvSpPr>
        <p:spPr>
          <a:xfrm>
            <a:off x="365125" y="1538818"/>
            <a:ext cx="8415338" cy="2566857"/>
          </a:xfrm>
        </p:spPr>
        <p:txBody>
          <a:bodyPr/>
          <a:lstStyle/>
          <a:p>
            <a:pPr algn="just"/>
            <a:r>
              <a:rPr lang="en-MY" sz="2400" dirty="0" smtClean="0">
                <a:solidFill>
                  <a:schemeClr val="tx1"/>
                </a:solidFill>
              </a:rPr>
              <a:t>C++ program is called as </a:t>
            </a:r>
            <a:r>
              <a:rPr lang="en-MY" sz="2400" b="1" dirty="0" smtClean="0">
                <a:solidFill>
                  <a:schemeClr val="tx1"/>
                </a:solidFill>
              </a:rPr>
              <a:t>source code </a:t>
            </a:r>
            <a:r>
              <a:rPr lang="en-MY" sz="2400" dirty="0" smtClean="0">
                <a:solidFill>
                  <a:schemeClr val="tx1"/>
                </a:solidFill>
              </a:rPr>
              <a:t>or </a:t>
            </a:r>
            <a:r>
              <a:rPr lang="en-MY" sz="2400" b="1" dirty="0" smtClean="0">
                <a:solidFill>
                  <a:schemeClr val="tx1"/>
                </a:solidFill>
              </a:rPr>
              <a:t>source program. </a:t>
            </a:r>
          </a:p>
          <a:p>
            <a:pPr algn="just"/>
            <a:r>
              <a:rPr lang="en-US" sz="2400" dirty="0" smtClean="0">
                <a:solidFill>
                  <a:schemeClr val="tx1"/>
                </a:solidFill>
              </a:rPr>
              <a:t>The </a:t>
            </a:r>
            <a:r>
              <a:rPr lang="en-US" sz="2400" dirty="0">
                <a:solidFill>
                  <a:schemeClr val="tx1"/>
                </a:solidFill>
              </a:rPr>
              <a:t>program must be saved in a text </a:t>
            </a:r>
            <a:r>
              <a:rPr lang="en-US" sz="2400" dirty="0" smtClean="0">
                <a:solidFill>
                  <a:schemeClr val="tx1"/>
                </a:solidFill>
              </a:rPr>
              <a:t>file that </a:t>
            </a:r>
            <a:r>
              <a:rPr lang="en-US" sz="2400" dirty="0">
                <a:solidFill>
                  <a:schemeClr val="tx1"/>
                </a:solidFill>
              </a:rPr>
              <a:t>has the extension .</a:t>
            </a:r>
            <a:r>
              <a:rPr lang="en-US" sz="2400" dirty="0" err="1">
                <a:solidFill>
                  <a:schemeClr val="tx1"/>
                </a:solidFill>
              </a:rPr>
              <a:t>cpp</a:t>
            </a:r>
            <a:r>
              <a:rPr lang="en-US" sz="2400" dirty="0">
                <a:solidFill>
                  <a:schemeClr val="tx1"/>
                </a:solidFill>
              </a:rPr>
              <a:t>. </a:t>
            </a:r>
            <a:endParaRPr lang="en-US" sz="2400" dirty="0" smtClean="0">
              <a:solidFill>
                <a:schemeClr val="tx1"/>
              </a:solidFill>
            </a:endParaRPr>
          </a:p>
          <a:p>
            <a:pPr algn="just"/>
            <a:r>
              <a:rPr lang="en-US" sz="2400" dirty="0" smtClean="0">
                <a:solidFill>
                  <a:schemeClr val="tx1"/>
                </a:solidFill>
              </a:rPr>
              <a:t>For </a:t>
            </a:r>
            <a:r>
              <a:rPr lang="en-US" sz="2400" dirty="0">
                <a:solidFill>
                  <a:schemeClr val="tx1"/>
                </a:solidFill>
              </a:rPr>
              <a:t>example, if you saved the </a:t>
            </a:r>
            <a:r>
              <a:rPr lang="en-US" sz="2400" dirty="0" smtClean="0">
                <a:solidFill>
                  <a:schemeClr val="tx1"/>
                </a:solidFill>
              </a:rPr>
              <a:t>preceding program </a:t>
            </a:r>
            <a:r>
              <a:rPr lang="en-US" sz="2400" dirty="0">
                <a:solidFill>
                  <a:schemeClr val="tx1"/>
                </a:solidFill>
              </a:rPr>
              <a:t>in the file named </a:t>
            </a:r>
            <a:r>
              <a:rPr lang="en-US" sz="2400" dirty="0" err="1">
                <a:solidFill>
                  <a:schemeClr val="tx1"/>
                </a:solidFill>
              </a:rPr>
              <a:t>FirstCPPProgram</a:t>
            </a:r>
            <a:r>
              <a:rPr lang="en-US" sz="2400" dirty="0">
                <a:solidFill>
                  <a:schemeClr val="tx1"/>
                </a:solidFill>
              </a:rPr>
              <a:t>, then its complete </a:t>
            </a:r>
            <a:r>
              <a:rPr lang="en-US" sz="2400" dirty="0" smtClean="0">
                <a:solidFill>
                  <a:schemeClr val="tx1"/>
                </a:solidFill>
              </a:rPr>
              <a:t>name </a:t>
            </a:r>
            <a:r>
              <a:rPr lang="en-MY" sz="2400" dirty="0" smtClean="0">
                <a:solidFill>
                  <a:schemeClr val="tx1"/>
                </a:solidFill>
              </a:rPr>
              <a:t>is </a:t>
            </a:r>
            <a:r>
              <a:rPr lang="en-MY" sz="2400" dirty="0">
                <a:solidFill>
                  <a:schemeClr val="tx1"/>
                </a:solidFill>
              </a:rPr>
              <a:t>FirstCPPProgram.cpp</a:t>
            </a:r>
            <a:r>
              <a:rPr lang="en-MY" sz="2400" dirty="0" smtClean="0">
                <a:solidFill>
                  <a:schemeClr val="tx1"/>
                </a:solidFill>
              </a:rPr>
              <a:t>.</a:t>
            </a:r>
          </a:p>
          <a:p>
            <a:pPr algn="just"/>
            <a:endParaRPr lang="en-MY" sz="2400" dirty="0">
              <a:solidFill>
                <a:schemeClr val="tx1"/>
              </a:solidFill>
            </a:endParaRPr>
          </a:p>
        </p:txBody>
      </p:sp>
      <p:sp>
        <p:nvSpPr>
          <p:cNvPr id="4" name="Footer Placeholder 3"/>
          <p:cNvSpPr>
            <a:spLocks noGrp="1"/>
          </p:cNvSpPr>
          <p:nvPr>
            <p:ph type="ftr" sz="quarter" idx="10"/>
          </p:nvPr>
        </p:nvSpPr>
        <p:spPr/>
        <p:txBody>
          <a:bodyPr/>
          <a:lstStyle/>
          <a:p>
            <a:r>
              <a:rPr lang="en-US" smtClean="0"/>
              <a:t>© 2018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675336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6184</TotalTime>
  <Words>3509</Words>
  <Application>Microsoft Office PowerPoint</Application>
  <PresentationFormat>On-screen Show (4:3)</PresentationFormat>
  <Paragraphs>234</Paragraphs>
  <Slides>32</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0" baseType="lpstr">
      <vt:lpstr>ＭＳ Ｐゴシック</vt:lpstr>
      <vt:lpstr>Arial</vt:lpstr>
      <vt:lpstr>Calibri</vt:lpstr>
      <vt:lpstr>Calibri Light</vt:lpstr>
      <vt:lpstr>Courier New</vt:lpstr>
      <vt:lpstr>Wingdings</vt:lpstr>
      <vt:lpstr>Office Theme</vt:lpstr>
      <vt:lpstr>Equation</vt:lpstr>
      <vt:lpstr>Chapter 1</vt:lpstr>
      <vt:lpstr>Objectives (1 of 2)</vt:lpstr>
      <vt:lpstr>Objectives (2 of 2)</vt:lpstr>
      <vt:lpstr>Introduction</vt:lpstr>
      <vt:lpstr>A Brief Overview of the History of Computers (1 of 3)</vt:lpstr>
      <vt:lpstr>A Brief Overview of the History of Computers (2 of 3)</vt:lpstr>
      <vt:lpstr>A Brief Overview of the History of Computers (3 of 3)</vt:lpstr>
      <vt:lpstr>The Language of a Computer (1 of 3)</vt:lpstr>
      <vt:lpstr>The Language of a Computer (2 of 3)</vt:lpstr>
      <vt:lpstr>The Language of a Computer (3 of 3)</vt:lpstr>
      <vt:lpstr>The Evolution of Programming Languages (1 of 4)</vt:lpstr>
      <vt:lpstr>The Evolution of Programming Languages (2 of 4)</vt:lpstr>
      <vt:lpstr>The Evolution of Programming Languages (3 of 3)</vt:lpstr>
      <vt:lpstr>The Evolution of Programming Languages (4 of 4)</vt:lpstr>
      <vt:lpstr>Processing a C++ Program (1 of 12)</vt:lpstr>
      <vt:lpstr>Program Development Life Cycle (PDLC) (1 of 12)</vt:lpstr>
      <vt:lpstr>Program Development Life Cycle (PDLC) (2 of 12)</vt:lpstr>
      <vt:lpstr>Program Development Life Cycle (PDLC) (3 of 12)</vt:lpstr>
      <vt:lpstr>Program Development Life Cycle (PDLC) (4 of 12)</vt:lpstr>
      <vt:lpstr>Program Development Life Cycle (PDLC) (5 of 12)</vt:lpstr>
      <vt:lpstr>Program Development Life Cycle (PDLC) (6 of 12)</vt:lpstr>
      <vt:lpstr>Program Development Life Cycle (PDLC) (7 of 12)</vt:lpstr>
      <vt:lpstr>Program Development Life Cycle (PDLC) (8 of 12)</vt:lpstr>
      <vt:lpstr>Program Development Life Cycle (PDLC) (9 of 12)</vt:lpstr>
      <vt:lpstr>Program Development Life Cycle (PDLC) (10 of 12)</vt:lpstr>
      <vt:lpstr>Program Development Life Cycle (PDLC) (11 of 12)</vt:lpstr>
      <vt:lpstr>Program Development Life Cycle (PDLC) (12 of 12)</vt:lpstr>
      <vt:lpstr>Processing a C++ Program (1 of 3)</vt:lpstr>
      <vt:lpstr>Processing a C++ Program (2 of 3)</vt:lpstr>
      <vt:lpstr>Processing a C++ Program (3 of 3)</vt:lpstr>
      <vt:lpstr>Importance of Computer Programming</vt:lpstr>
      <vt:lpstr>Summarize of Chapter 1</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Windows User</cp:lastModifiedBy>
  <cp:revision>258</cp:revision>
  <cp:lastPrinted>2010-11-12T17:54:40Z</cp:lastPrinted>
  <dcterms:created xsi:type="dcterms:W3CDTF">2007-02-15T20:50:52Z</dcterms:created>
  <dcterms:modified xsi:type="dcterms:W3CDTF">2020-02-10T04:54:43Z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Malik supps</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