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9" r:id="rId1"/>
  </p:sldMasterIdLst>
  <p:notesMasterIdLst>
    <p:notesMasterId r:id="rId34"/>
  </p:notesMasterIdLst>
  <p:sldIdLst>
    <p:sldId id="333" r:id="rId2"/>
    <p:sldId id="261" r:id="rId3"/>
    <p:sldId id="324" r:id="rId4"/>
    <p:sldId id="260" r:id="rId5"/>
    <p:sldId id="341" r:id="rId6"/>
    <p:sldId id="262" r:id="rId7"/>
    <p:sldId id="264" r:id="rId8"/>
    <p:sldId id="307" r:id="rId9"/>
    <p:sldId id="335" r:id="rId10"/>
    <p:sldId id="265" r:id="rId11"/>
    <p:sldId id="301" r:id="rId12"/>
    <p:sldId id="269" r:id="rId13"/>
    <p:sldId id="270" r:id="rId14"/>
    <p:sldId id="311" r:id="rId15"/>
    <p:sldId id="337" r:id="rId16"/>
    <p:sldId id="319" r:id="rId17"/>
    <p:sldId id="320" r:id="rId18"/>
    <p:sldId id="338" r:id="rId19"/>
    <p:sldId id="275" r:id="rId20"/>
    <p:sldId id="339" r:id="rId21"/>
    <p:sldId id="277" r:id="rId22"/>
    <p:sldId id="314" r:id="rId23"/>
    <p:sldId id="340" r:id="rId24"/>
    <p:sldId id="332" r:id="rId25"/>
    <p:sldId id="323" r:id="rId26"/>
    <p:sldId id="281" r:id="rId27"/>
    <p:sldId id="284" r:id="rId28"/>
    <p:sldId id="302" r:id="rId29"/>
    <p:sldId id="303" r:id="rId30"/>
    <p:sldId id="342" r:id="rId31"/>
    <p:sldId id="343" r:id="rId32"/>
    <p:sldId id="344" r:id="rId3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ourier New" pitchFamily="49" charset="0"/>
        <a:ea typeface="+mn-ea"/>
        <a:cs typeface="+mn-cs"/>
      </a:defRPr>
    </a:lvl1pPr>
    <a:lvl2pPr marL="457200" algn="l" rtl="0" fontAlgn="base">
      <a:spcBef>
        <a:spcPct val="0"/>
      </a:spcBef>
      <a:spcAft>
        <a:spcPct val="0"/>
      </a:spcAft>
      <a:defRPr kern="1200">
        <a:solidFill>
          <a:schemeClr val="tx1"/>
        </a:solidFill>
        <a:latin typeface="Courier New" pitchFamily="49" charset="0"/>
        <a:ea typeface="+mn-ea"/>
        <a:cs typeface="+mn-cs"/>
      </a:defRPr>
    </a:lvl2pPr>
    <a:lvl3pPr marL="914400" algn="l" rtl="0" fontAlgn="base">
      <a:spcBef>
        <a:spcPct val="0"/>
      </a:spcBef>
      <a:spcAft>
        <a:spcPct val="0"/>
      </a:spcAft>
      <a:defRPr kern="1200">
        <a:solidFill>
          <a:schemeClr val="tx1"/>
        </a:solidFill>
        <a:latin typeface="Courier New" pitchFamily="49" charset="0"/>
        <a:ea typeface="+mn-ea"/>
        <a:cs typeface="+mn-cs"/>
      </a:defRPr>
    </a:lvl3pPr>
    <a:lvl4pPr marL="1371600" algn="l" rtl="0" fontAlgn="base">
      <a:spcBef>
        <a:spcPct val="0"/>
      </a:spcBef>
      <a:spcAft>
        <a:spcPct val="0"/>
      </a:spcAft>
      <a:defRPr kern="1200">
        <a:solidFill>
          <a:schemeClr val="tx1"/>
        </a:solidFill>
        <a:latin typeface="Courier New" pitchFamily="49" charset="0"/>
        <a:ea typeface="+mn-ea"/>
        <a:cs typeface="+mn-cs"/>
      </a:defRPr>
    </a:lvl4pPr>
    <a:lvl5pPr marL="1828800" algn="l" rtl="0" fontAlgn="base">
      <a:spcBef>
        <a:spcPct val="0"/>
      </a:spcBef>
      <a:spcAft>
        <a:spcPct val="0"/>
      </a:spcAft>
      <a:defRPr kern="1200">
        <a:solidFill>
          <a:schemeClr val="tx1"/>
        </a:solidFill>
        <a:latin typeface="Courier New" pitchFamily="49" charset="0"/>
        <a:ea typeface="+mn-ea"/>
        <a:cs typeface="+mn-cs"/>
      </a:defRPr>
    </a:lvl5pPr>
    <a:lvl6pPr marL="2286000" algn="l" defTabSz="914400" rtl="0" eaLnBrk="1" latinLnBrk="0" hangingPunct="1">
      <a:defRPr kern="1200">
        <a:solidFill>
          <a:schemeClr val="tx1"/>
        </a:solidFill>
        <a:latin typeface="Courier New" pitchFamily="49" charset="0"/>
        <a:ea typeface="+mn-ea"/>
        <a:cs typeface="+mn-cs"/>
      </a:defRPr>
    </a:lvl6pPr>
    <a:lvl7pPr marL="2743200" algn="l" defTabSz="914400" rtl="0" eaLnBrk="1" latinLnBrk="0" hangingPunct="1">
      <a:defRPr kern="1200">
        <a:solidFill>
          <a:schemeClr val="tx1"/>
        </a:solidFill>
        <a:latin typeface="Courier New" pitchFamily="49" charset="0"/>
        <a:ea typeface="+mn-ea"/>
        <a:cs typeface="+mn-cs"/>
      </a:defRPr>
    </a:lvl7pPr>
    <a:lvl8pPr marL="3200400" algn="l" defTabSz="914400" rtl="0" eaLnBrk="1" latinLnBrk="0" hangingPunct="1">
      <a:defRPr kern="1200">
        <a:solidFill>
          <a:schemeClr val="tx1"/>
        </a:solidFill>
        <a:latin typeface="Courier New" pitchFamily="49" charset="0"/>
        <a:ea typeface="+mn-ea"/>
        <a:cs typeface="+mn-cs"/>
      </a:defRPr>
    </a:lvl8pPr>
    <a:lvl9pPr marL="3657600" algn="l" defTabSz="914400" rtl="0" eaLnBrk="1" latinLnBrk="0" hangingPunct="1">
      <a:defRPr kern="1200">
        <a:solidFill>
          <a:schemeClr val="tx1"/>
        </a:solidFill>
        <a:latin typeface="Courier New" pitchFamily="49" charset="0"/>
        <a:ea typeface="+mn-ea"/>
        <a:cs typeface="+mn-cs"/>
      </a:defRPr>
    </a:lvl9pPr>
  </p:defaultTextStyle>
  <p:extLst>
    <p:ext uri="{EFAFB233-063F-42B5-8137-9DF3F51BA10A}">
      <p15:sldGuideLst xmlns:p15="http://schemas.microsoft.com/office/powerpoint/2012/main">
        <p15:guide id="1" orient="horz" pos="912">
          <p15:clr>
            <a:srgbClr val="A4A3A4"/>
          </p15:clr>
        </p15:guide>
        <p15:guide id="2" pos="7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8DAD"/>
    <a:srgbClr val="00A589"/>
    <a:srgbClr val="3333FF"/>
    <a:srgbClr val="333399"/>
    <a:srgbClr val="B2B2B2"/>
    <a:srgbClr val="800000"/>
    <a:srgbClr val="996600"/>
    <a:srgbClr val="FF9999"/>
    <a:srgbClr val="33CC33"/>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59" autoAdjust="0"/>
    <p:restoredTop sz="94687" autoAdjust="0"/>
  </p:normalViewPr>
  <p:slideViewPr>
    <p:cSldViewPr>
      <p:cViewPr varScale="1">
        <p:scale>
          <a:sx n="66" d="100"/>
          <a:sy n="66" d="100"/>
        </p:scale>
        <p:origin x="726" y="60"/>
      </p:cViewPr>
      <p:guideLst>
        <p:guide orient="horz" pos="912"/>
        <p:guide pos="7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4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dirty="0"/>
          </a:p>
        </p:txBody>
      </p:sp>
      <p:sp>
        <p:nvSpPr>
          <p:cNvPr id="2641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dirty="0"/>
          </a:p>
        </p:txBody>
      </p:sp>
      <p:sp>
        <p:nvSpPr>
          <p:cNvPr id="634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41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41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dirty="0"/>
          </a:p>
        </p:txBody>
      </p:sp>
      <p:sp>
        <p:nvSpPr>
          <p:cNvPr id="264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20849F58-3C7B-4116-B7F8-CE1BF282C003}" type="slidenum">
              <a:rPr lang="en-US"/>
              <a:pPr>
                <a:defRPr/>
              </a:pPr>
              <a:t>‹#›</a:t>
            </a:fld>
            <a:endParaRPr lang="en-US" dirty="0"/>
          </a:p>
        </p:txBody>
      </p:sp>
    </p:spTree>
    <p:extLst>
      <p:ext uri="{BB962C8B-B14F-4D97-AF65-F5344CB8AC3E}">
        <p14:creationId xmlns:p14="http://schemas.microsoft.com/office/powerpoint/2010/main" val="38358961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5CCA22AF-6B76-4FAF-870A-D1A4236398C9}" type="slidenum">
              <a:rPr kumimoji="0" lang="en-US" altLang="en-US" smtClean="0"/>
              <a:pPr eaLnBrk="1" hangingPunct="1">
                <a:spcBef>
                  <a:spcPct val="0"/>
                </a:spcBef>
              </a:pPr>
              <a:t>1</a:t>
            </a:fld>
            <a:endParaRPr kumimoji="0"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8AA762CD-0D5F-41A8-908C-9428CA2310DB}" type="slidenum">
              <a:rPr kumimoji="0" lang="en-US" altLang="en-US" smtClean="0"/>
              <a:pPr eaLnBrk="1" hangingPunct="1">
                <a:spcBef>
                  <a:spcPct val="0"/>
                </a:spcBef>
              </a:pPr>
              <a:t>2</a:t>
            </a:fld>
            <a:endParaRPr kumimoji="0"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1D894FC7-1121-4107-83DE-C3B55FFF21C7}" type="slidenum">
              <a:rPr kumimoji="0" lang="en-US" altLang="en-US" smtClean="0"/>
              <a:pPr eaLnBrk="1" hangingPunct="1">
                <a:spcBef>
                  <a:spcPct val="0"/>
                </a:spcBef>
              </a:pPr>
              <a:t>3</a:t>
            </a:fld>
            <a:endParaRPr kumimoji="0"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75DD1F4A-40B5-4B5F-A00A-FC01822C50A9}" type="slidenum">
              <a:rPr kumimoji="0" lang="en-US" altLang="en-US" smtClean="0"/>
              <a:pPr eaLnBrk="1" hangingPunct="1">
                <a:spcBef>
                  <a:spcPct val="0"/>
                </a:spcBef>
              </a:pPr>
              <a:t>4</a:t>
            </a:fld>
            <a:endParaRPr kumimoji="0"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3ED5B831-440F-48FB-806C-9B8DAC6826D8}" type="slidenum">
              <a:rPr kumimoji="0" lang="en-US" altLang="en-US" smtClean="0"/>
              <a:pPr eaLnBrk="1" hangingPunct="1">
                <a:spcBef>
                  <a:spcPct val="0"/>
                </a:spcBef>
              </a:pPr>
              <a:t>6</a:t>
            </a:fld>
            <a:endParaRPr kumimoji="0"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D844B3F1-672C-476C-ADE7-D8411C28BCC2}" type="slidenum">
              <a:rPr kumimoji="0" lang="en-US" altLang="en-US" smtClean="0"/>
              <a:pPr eaLnBrk="1" hangingPunct="1">
                <a:spcBef>
                  <a:spcPct val="0"/>
                </a:spcBef>
              </a:pPr>
              <a:t>7</a:t>
            </a:fld>
            <a:endParaRPr kumimoji="0"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9FA1BA5F-6BEC-4066-A45D-0A33EE472219}" type="slidenum">
              <a:rPr kumimoji="0" lang="en-US" altLang="en-US" smtClean="0"/>
              <a:pPr eaLnBrk="1" hangingPunct="1">
                <a:spcBef>
                  <a:spcPct val="0"/>
                </a:spcBef>
              </a:pPr>
              <a:t>8</a:t>
            </a:fld>
            <a:endParaRPr kumimoji="0"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99A008AB-75C4-44A4-BBC5-AD269AD4E182}" type="slidenum">
              <a:rPr kumimoji="0" lang="en-US" altLang="en-US" smtClean="0"/>
              <a:pPr eaLnBrk="1" hangingPunct="1">
                <a:spcBef>
                  <a:spcPct val="0"/>
                </a:spcBef>
              </a:pPr>
              <a:t>9</a:t>
            </a:fld>
            <a:endParaRPr kumimoji="0"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9A39590C-782F-4ED6-9B1E-18ADBF335E07}" type="slidenum">
              <a:rPr kumimoji="0" lang="en-US" altLang="en-US" smtClean="0"/>
              <a:pPr eaLnBrk="1" hangingPunct="1">
                <a:spcBef>
                  <a:spcPct val="0"/>
                </a:spcBef>
              </a:pPr>
              <a:t>10</a:t>
            </a:fld>
            <a:endParaRPr kumimoji="0"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73B6FC43-1BBE-4F33-9168-B549E886CF58}" type="slidenum">
              <a:rPr kumimoji="0" lang="en-US" altLang="en-US" smtClean="0"/>
              <a:pPr eaLnBrk="1" hangingPunct="1">
                <a:spcBef>
                  <a:spcPct val="0"/>
                </a:spcBef>
              </a:pPr>
              <a:t>11</a:t>
            </a:fld>
            <a:endParaRPr kumimoji="0"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ln/>
        </p:spPr>
      </p:sp>
      <p:sp>
        <p:nvSpPr>
          <p:cNvPr id="942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42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7BBDCDB5-DAC4-4DEF-858B-929872DD3774}" type="slidenum">
              <a:rPr kumimoji="0" lang="en-US" altLang="en-US" smtClean="0"/>
              <a:pPr eaLnBrk="1" hangingPunct="1">
                <a:spcBef>
                  <a:spcPct val="0"/>
                </a:spcBef>
              </a:pPr>
              <a:t>12</a:t>
            </a:fld>
            <a:endParaRPr kumimoji="0"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952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52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05281F8C-5717-4C9D-BCB9-04A587D31858}" type="slidenum">
              <a:rPr kumimoji="0" lang="en-US" altLang="en-US" smtClean="0"/>
              <a:pPr eaLnBrk="1" hangingPunct="1">
                <a:spcBef>
                  <a:spcPct val="0"/>
                </a:spcBef>
              </a:pPr>
              <a:t>13</a:t>
            </a:fld>
            <a:endParaRPr kumimoji="0"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62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EC1CCEAD-DBF4-41BF-BEB0-AC5E618FD5CC}" type="slidenum">
              <a:rPr kumimoji="0" lang="en-US" altLang="en-US" smtClean="0"/>
              <a:pPr eaLnBrk="1" hangingPunct="1">
                <a:spcBef>
                  <a:spcPct val="0"/>
                </a:spcBef>
              </a:pPr>
              <a:t>14</a:t>
            </a:fld>
            <a:endParaRPr kumimoji="0"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72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FF251078-608D-4928-B943-4D2CF2D2E85D}" type="slidenum">
              <a:rPr kumimoji="0" lang="en-US" altLang="en-US" smtClean="0"/>
              <a:pPr eaLnBrk="1" hangingPunct="1">
                <a:spcBef>
                  <a:spcPct val="0"/>
                </a:spcBef>
              </a:pPr>
              <a:t>15</a:t>
            </a:fld>
            <a:endParaRPr kumimoji="0"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08BDB51B-C03B-4382-9637-6B328B2823D9}" type="slidenum">
              <a:rPr kumimoji="0" lang="en-US" altLang="en-US" smtClean="0"/>
              <a:pPr eaLnBrk="1" hangingPunct="1">
                <a:spcBef>
                  <a:spcPct val="0"/>
                </a:spcBef>
              </a:pPr>
              <a:t>16</a:t>
            </a:fld>
            <a:endParaRPr kumimoji="0"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26BC71C7-8121-40FF-AF13-28E14FC77215}" type="slidenum">
              <a:rPr kumimoji="0" lang="en-US" altLang="en-US" smtClean="0"/>
              <a:pPr eaLnBrk="1" hangingPunct="1">
                <a:spcBef>
                  <a:spcPct val="0"/>
                </a:spcBef>
              </a:pPr>
              <a:t>17</a:t>
            </a:fld>
            <a:endParaRPr kumimoji="0"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0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064D1F8C-E22F-4EC2-9526-F7E17C777643}" type="slidenum">
              <a:rPr kumimoji="0" lang="en-US" altLang="en-US" smtClean="0"/>
              <a:pPr eaLnBrk="1" hangingPunct="1">
                <a:spcBef>
                  <a:spcPct val="0"/>
                </a:spcBef>
              </a:pPr>
              <a:t>18</a:t>
            </a:fld>
            <a:endParaRPr kumimoji="0"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8AF0DF7C-3297-4F09-AFCB-7DB270E3F084}" type="slidenum">
              <a:rPr kumimoji="0" lang="en-US" altLang="en-US" smtClean="0"/>
              <a:pPr eaLnBrk="1" hangingPunct="1">
                <a:spcBef>
                  <a:spcPct val="0"/>
                </a:spcBef>
              </a:pPr>
              <a:t>19</a:t>
            </a:fld>
            <a:endParaRPr kumimoji="0"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7E8D4892-A7FD-4267-A714-12505B5CF67A}" type="slidenum">
              <a:rPr kumimoji="0" lang="en-US" altLang="en-US" smtClean="0"/>
              <a:pPr eaLnBrk="1" hangingPunct="1">
                <a:spcBef>
                  <a:spcPct val="0"/>
                </a:spcBef>
              </a:pPr>
              <a:t>20</a:t>
            </a:fld>
            <a:endParaRPr kumimoji="0"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9E4A4EA1-2C3C-42EF-8AEE-DB40D4057761}" type="slidenum">
              <a:rPr kumimoji="0" lang="en-US" altLang="en-US" smtClean="0"/>
              <a:pPr eaLnBrk="1" hangingPunct="1">
                <a:spcBef>
                  <a:spcPct val="0"/>
                </a:spcBef>
              </a:pPr>
              <a:t>21</a:t>
            </a:fld>
            <a:endParaRPr kumimoji="0"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44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F7EEC015-BA99-45DA-A615-FB6AEC89D446}" type="slidenum">
              <a:rPr kumimoji="0" lang="en-US" altLang="en-US" smtClean="0"/>
              <a:pPr eaLnBrk="1" hangingPunct="1">
                <a:spcBef>
                  <a:spcPct val="0"/>
                </a:spcBef>
              </a:pPr>
              <a:t>22</a:t>
            </a:fld>
            <a:endParaRPr kumimoji="0"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54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0586CA24-32C6-4FA7-9F05-BB976D920A92}" type="slidenum">
              <a:rPr kumimoji="0" lang="en-US" altLang="en-US" smtClean="0"/>
              <a:pPr eaLnBrk="1" hangingPunct="1">
                <a:spcBef>
                  <a:spcPct val="0"/>
                </a:spcBef>
              </a:pPr>
              <a:t>24</a:t>
            </a:fld>
            <a:endParaRPr kumimoji="0"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65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F44563FC-DA23-420E-828C-111A0094A156}" type="slidenum">
              <a:rPr kumimoji="0" lang="en-US" altLang="en-US" smtClean="0"/>
              <a:pPr eaLnBrk="1" hangingPunct="1">
                <a:spcBef>
                  <a:spcPct val="0"/>
                </a:spcBef>
              </a:pPr>
              <a:t>25</a:t>
            </a:fld>
            <a:endParaRPr kumimoji="0"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95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66A2288E-6BC9-473C-B94D-383CAC775D46}" type="slidenum">
              <a:rPr kumimoji="0" lang="en-US" altLang="en-US" smtClean="0"/>
              <a:pPr eaLnBrk="1" hangingPunct="1">
                <a:spcBef>
                  <a:spcPct val="0"/>
                </a:spcBef>
              </a:pPr>
              <a:t>26</a:t>
            </a:fld>
            <a:endParaRPr kumimoji="0"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a:ln/>
        </p:spPr>
      </p:sp>
      <p:sp>
        <p:nvSpPr>
          <p:cNvPr id="1105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105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C5BB2EC0-1465-4B57-9EFC-CED890AC1C60}" type="slidenum">
              <a:rPr kumimoji="0" lang="en-US" altLang="en-US" smtClean="0"/>
              <a:pPr eaLnBrk="1" hangingPunct="1">
                <a:spcBef>
                  <a:spcPct val="0"/>
                </a:spcBef>
              </a:pPr>
              <a:t>27</a:t>
            </a:fld>
            <a:endParaRPr kumimoji="0"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136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B39FCDF9-2D54-483B-B1CD-9B768282D1C6}" type="slidenum">
              <a:rPr kumimoji="0" lang="en-US" altLang="en-US" smtClean="0"/>
              <a:pPr eaLnBrk="1" hangingPunct="1">
                <a:spcBef>
                  <a:spcPct val="0"/>
                </a:spcBef>
              </a:pPr>
              <a:t>28</a:t>
            </a:fld>
            <a:endParaRPr kumimoji="0"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ln/>
        </p:spPr>
      </p:sp>
      <p:sp>
        <p:nvSpPr>
          <p:cNvPr id="1146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146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Arial" charset="0"/>
              </a:defRPr>
            </a:lvl1pPr>
            <a:lvl2pPr marL="742950" indent="-285750" eaLnBrk="0" hangingPunct="0">
              <a:spcBef>
                <a:spcPct val="30000"/>
              </a:spcBef>
              <a:defRPr kumimoji="1" sz="1200">
                <a:solidFill>
                  <a:schemeClr val="tx1"/>
                </a:solidFill>
                <a:latin typeface="Arial" charset="0"/>
              </a:defRPr>
            </a:lvl2pPr>
            <a:lvl3pPr marL="1143000" indent="-228600" eaLnBrk="0" hangingPunct="0">
              <a:spcBef>
                <a:spcPct val="30000"/>
              </a:spcBef>
              <a:defRPr kumimoji="1" sz="1200">
                <a:solidFill>
                  <a:schemeClr val="tx1"/>
                </a:solidFill>
                <a:latin typeface="Arial" charset="0"/>
              </a:defRPr>
            </a:lvl3pPr>
            <a:lvl4pPr marL="1600200" indent="-228600" eaLnBrk="0" hangingPunct="0">
              <a:spcBef>
                <a:spcPct val="30000"/>
              </a:spcBef>
              <a:defRPr kumimoji="1" sz="1200">
                <a:solidFill>
                  <a:schemeClr val="tx1"/>
                </a:solidFill>
                <a:latin typeface="Arial" charset="0"/>
              </a:defRPr>
            </a:lvl4pPr>
            <a:lvl5pPr marL="2057400" indent="-228600" eaLnBrk="0" hangingPunct="0">
              <a:spcBef>
                <a:spcPct val="30000"/>
              </a:spcBef>
              <a:defRPr kumimoji="1" sz="1200">
                <a:solidFill>
                  <a:schemeClr val="tx1"/>
                </a:solidFill>
                <a:latin typeface="Arial" charset="0"/>
              </a:defRPr>
            </a:lvl5pPr>
            <a:lvl6pPr marL="2514600" indent="-228600" eaLnBrk="0" fontAlgn="base" hangingPunct="0">
              <a:spcBef>
                <a:spcPct val="30000"/>
              </a:spcBef>
              <a:spcAft>
                <a:spcPct val="0"/>
              </a:spcAft>
              <a:defRPr kumimoji="1" sz="1200">
                <a:solidFill>
                  <a:schemeClr val="tx1"/>
                </a:solidFill>
                <a:latin typeface="Arial" charset="0"/>
              </a:defRPr>
            </a:lvl6pPr>
            <a:lvl7pPr marL="2971800" indent="-228600" eaLnBrk="0" fontAlgn="base" hangingPunct="0">
              <a:spcBef>
                <a:spcPct val="30000"/>
              </a:spcBef>
              <a:spcAft>
                <a:spcPct val="0"/>
              </a:spcAft>
              <a:defRPr kumimoji="1" sz="1200">
                <a:solidFill>
                  <a:schemeClr val="tx1"/>
                </a:solidFill>
                <a:latin typeface="Arial" charset="0"/>
              </a:defRPr>
            </a:lvl7pPr>
            <a:lvl8pPr marL="3429000" indent="-228600" eaLnBrk="0" fontAlgn="base" hangingPunct="0">
              <a:spcBef>
                <a:spcPct val="30000"/>
              </a:spcBef>
              <a:spcAft>
                <a:spcPct val="0"/>
              </a:spcAft>
              <a:defRPr kumimoji="1" sz="1200">
                <a:solidFill>
                  <a:schemeClr val="tx1"/>
                </a:solidFill>
                <a:latin typeface="Arial" charset="0"/>
              </a:defRPr>
            </a:lvl8pPr>
            <a:lvl9pPr marL="3886200" indent="-228600" eaLnBrk="0" fontAlgn="base" hangingPunct="0">
              <a:spcBef>
                <a:spcPct val="30000"/>
              </a:spcBef>
              <a:spcAft>
                <a:spcPct val="0"/>
              </a:spcAft>
              <a:defRPr kumimoji="1" sz="1200">
                <a:solidFill>
                  <a:schemeClr val="tx1"/>
                </a:solidFill>
                <a:latin typeface="Arial" charset="0"/>
              </a:defRPr>
            </a:lvl9pPr>
          </a:lstStyle>
          <a:p>
            <a:pPr eaLnBrk="1" hangingPunct="1">
              <a:spcBef>
                <a:spcPct val="0"/>
              </a:spcBef>
            </a:pPr>
            <a:fld id="{720CBAEA-530A-49AA-8067-52E30A36A3F4}" type="slidenum">
              <a:rPr kumimoji="0" lang="en-US" altLang="en-US" smtClean="0"/>
              <a:pPr eaLnBrk="1" hangingPunct="1">
                <a:spcBef>
                  <a:spcPct val="0"/>
                </a:spcBef>
              </a:pPr>
              <a:t>29</a:t>
            </a:fld>
            <a:endParaRPr kumimoji="0"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jpe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3090672"/>
            <a:ext cx="7747000" cy="377026"/>
          </a:xfrm>
        </p:spPr>
        <p:txBody>
          <a:bodyPr anchor="b"/>
          <a:lstStyle>
            <a:lvl1pPr algn="ctr">
              <a:defRPr sz="2800">
                <a:solidFill>
                  <a:schemeClr val="accent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98500" y="3730752"/>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11" name="Picture 10" descr="Title_Slid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pic>
        <p:nvPicPr>
          <p:cNvPr id="8" name="Picture 7"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80" y="6257889"/>
            <a:ext cx="634845" cy="262424"/>
          </a:xfrm>
          <a:prstGeom prst="rect">
            <a:avLst/>
          </a:prstGeom>
        </p:spPr>
      </p:pic>
      <p:sp>
        <p:nvSpPr>
          <p:cNvPr id="5" name="Rectangle 4"/>
          <p:cNvSpPr/>
          <p:nvPr/>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p:nvPicPr>
        <p:blipFill rotWithShape="1">
          <a:blip r:embed="rId6"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p:nvPicPr>
        <p:blipFill rotWithShape="1">
          <a:blip r:embed="rId9"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9" name="TextBox 8"/>
          <p:cNvSpPr txBox="1"/>
          <p:nvPr/>
        </p:nvSpPr>
        <p:spPr>
          <a:xfrm>
            <a:off x="1015924" y="6222910"/>
            <a:ext cx="6400800" cy="230832"/>
          </a:xfrm>
          <a:prstGeom prst="rect">
            <a:avLst/>
          </a:prstGeom>
          <a:noFill/>
        </p:spPr>
        <p:txBody>
          <a:bodyPr wrap="square" rtlCol="0">
            <a:spAutoFit/>
          </a:bodyPr>
          <a:lstStyle/>
          <a:p>
            <a:pPr algn="ctr"/>
            <a:r>
              <a:rPr lang="en-US" sz="900" dirty="0">
                <a:solidFill>
                  <a:schemeClr val="accent2"/>
                </a:solidFill>
              </a:rPr>
              <a:t>C++ Programming: From Problem Analysis to Program Design, Eighth</a:t>
            </a:r>
            <a:r>
              <a:rPr lang="en-US" sz="900" baseline="0" dirty="0">
                <a:solidFill>
                  <a:schemeClr val="accent2"/>
                </a:solidFill>
              </a:rPr>
              <a:t> </a:t>
            </a:r>
            <a:r>
              <a:rPr lang="en-US" sz="900" dirty="0">
                <a:solidFill>
                  <a:schemeClr val="accent2"/>
                </a:solidFill>
              </a:rPr>
              <a:t>Edition</a:t>
            </a:r>
          </a:p>
        </p:txBody>
      </p:sp>
      <p:sp>
        <p:nvSpPr>
          <p:cNvPr id="6" name="Footer Placeholder 5"/>
          <p:cNvSpPr>
            <a:spLocks noGrp="1"/>
          </p:cNvSpPr>
          <p:nvPr>
            <p:ph type="ftr" sz="quarter" idx="10"/>
          </p:nvPr>
        </p:nvSpPr>
        <p:spPr>
          <a:xfrm>
            <a:off x="1015922" y="6456817"/>
            <a:ext cx="6399830" cy="366183"/>
          </a:xfrm>
        </p:spPr>
        <p:txBody>
          <a:bodyPr/>
          <a:lstStyle>
            <a:lvl1pPr>
              <a:defRPr sz="600"/>
            </a:lvl1p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pic>
        <p:nvPicPr>
          <p:cNvPr id="5" name="Picture 4" descr="CL_Logo_DRAWN.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6" name="Picture 5" descr="Rules_Single_A.png"/>
          <p:cNvPicPr>
            <a:picLocks noChangeAspect="1"/>
          </p:cNvPicPr>
          <p:nvPr/>
        </p:nvPicPr>
        <p:blipFill rotWithShape="1">
          <a:blip r:embed="rId3"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p:nvPicPr>
        <p:blipFill rotWithShape="1">
          <a:blip r:embed="rId7"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p:nvPicPr>
        <p:blipFill rotWithShape="1">
          <a:blip r:embed="rId9"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marL="171450" indent="-17145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Split Content with Objec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365125" y="1538818"/>
            <a:ext cx="8415338" cy="1412951"/>
          </a:xfrm>
        </p:spPr>
        <p:txBody>
          <a:bodyPr/>
          <a:lstStyle>
            <a:lvl1pPr marL="171450" indent="-17145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9" name="Content Placeholder 2"/>
          <p:cNvSpPr>
            <a:spLocks noGrp="1"/>
          </p:cNvSpPr>
          <p:nvPr>
            <p:ph idx="11"/>
          </p:nvPr>
        </p:nvSpPr>
        <p:spPr>
          <a:xfrm>
            <a:off x="365125" y="3997249"/>
            <a:ext cx="8415338" cy="1412951"/>
          </a:xfrm>
        </p:spPr>
        <p:txBody>
          <a:bodyPr/>
          <a:lstStyle>
            <a:lvl1pPr marL="171450" indent="-17145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533053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Tab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smtClean="0"/>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10" name="Text Placeholder 4"/>
          <p:cNvSpPr>
            <a:spLocks noGrp="1"/>
          </p:cNvSpPr>
          <p:nvPr>
            <p:ph type="body" sz="quarter" idx="11" hasCustomPrompt="1"/>
          </p:nvPr>
        </p:nvSpPr>
        <p:spPr>
          <a:xfrm>
            <a:off x="990600" y="1340048"/>
            <a:ext cx="6949440" cy="297004"/>
          </a:xfrm>
        </p:spPr>
        <p:txBody>
          <a:bodyPr lIns="45720" tIns="45720" rIns="45720" bIns="45720"/>
          <a:lstStyle>
            <a:lvl1pPr marL="0" indent="0">
              <a:buNone/>
              <a:defRPr sz="1400" b="0" baseline="0">
                <a:solidFill>
                  <a:srgbClr val="6A6466"/>
                </a:solidFill>
              </a:defRPr>
            </a:lvl1pPr>
          </a:lstStyle>
          <a:p>
            <a:pPr lvl="0"/>
            <a:r>
              <a:rPr lang="en-US" dirty="0"/>
              <a:t>&lt;TABLE #-# apply bold&gt; &lt;Table title normal&gt;</a:t>
            </a:r>
          </a:p>
        </p:txBody>
      </p:sp>
      <p:sp>
        <p:nvSpPr>
          <p:cNvPr id="9" name="Content Placeholder 2"/>
          <p:cNvSpPr>
            <a:spLocks noGrp="1"/>
          </p:cNvSpPr>
          <p:nvPr>
            <p:ph idx="12"/>
          </p:nvPr>
        </p:nvSpPr>
        <p:spPr>
          <a:xfrm>
            <a:off x="365125" y="3997249"/>
            <a:ext cx="8415338" cy="1412951"/>
          </a:xfrm>
        </p:spPr>
        <p:txBody>
          <a:bodyPr/>
          <a:lstStyle>
            <a:lvl1pPr marL="171450" indent="-17145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2849045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Figure">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smtClean="0"/>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5" name="Text Placeholder 4"/>
          <p:cNvSpPr>
            <a:spLocks noGrp="1"/>
          </p:cNvSpPr>
          <p:nvPr>
            <p:ph type="body" sz="quarter" idx="11" hasCustomPrompt="1"/>
          </p:nvPr>
        </p:nvSpPr>
        <p:spPr>
          <a:xfrm>
            <a:off x="1066800" y="5102423"/>
            <a:ext cx="6949440" cy="297004"/>
          </a:xfrm>
        </p:spPr>
        <p:txBody>
          <a:bodyPr lIns="45720" tIns="45720" rIns="45720" bIns="45720"/>
          <a:lstStyle>
            <a:lvl1pPr marL="0" indent="0">
              <a:buNone/>
              <a:defRPr sz="1400" b="0">
                <a:solidFill>
                  <a:srgbClr val="6A6466"/>
                </a:solidFill>
              </a:defRPr>
            </a:lvl1pPr>
          </a:lstStyle>
          <a:p>
            <a:pPr lvl="0"/>
            <a:r>
              <a:rPr lang="en-US" dirty="0"/>
              <a:t>&lt;FIGURE #-# apply bold&gt; &lt;Figure caption text normal&gt;</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415393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smtClean="0"/>
              <a:t>Click to edit Master title style</a:t>
            </a:r>
            <a:endParaRPr lang="en-US" dirty="0"/>
          </a:p>
        </p:txBody>
      </p:sp>
      <p:sp>
        <p:nvSpPr>
          <p:cNvPr id="10" name="Text Placeholder 4"/>
          <p:cNvSpPr>
            <a:spLocks noGrp="1"/>
          </p:cNvSpPr>
          <p:nvPr>
            <p:ph type="body" sz="quarter" idx="11" hasCustomPrompt="1"/>
          </p:nvPr>
        </p:nvSpPr>
        <p:spPr>
          <a:xfrm>
            <a:off x="990600" y="1340048"/>
            <a:ext cx="6949440" cy="297004"/>
          </a:xfrm>
        </p:spPr>
        <p:txBody>
          <a:bodyPr lIns="45720" tIns="45720" rIns="45720" bIns="45720"/>
          <a:lstStyle>
            <a:lvl1pPr marL="0" indent="0">
              <a:buNone/>
              <a:defRPr sz="1400" b="0" baseline="0">
                <a:solidFill>
                  <a:srgbClr val="6A6466"/>
                </a:solidFill>
              </a:defRPr>
            </a:lvl1pPr>
          </a:lstStyle>
          <a:p>
            <a:pPr lvl="0"/>
            <a:r>
              <a:rPr lang="en-US" dirty="0"/>
              <a:t>&lt;TABLE #-# apply bold&gt; &lt;Table title normal&gt;</a:t>
            </a:r>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2287905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Content Picture">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365125" y="1538818"/>
            <a:ext cx="3673475" cy="1412951"/>
          </a:xfrm>
        </p:spPr>
        <p:txBody>
          <a:bodyPr/>
          <a:lstStyle>
            <a:lvl1pPr marL="171450" indent="-17145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11" name="Text Placeholder 4"/>
          <p:cNvSpPr>
            <a:spLocks noGrp="1"/>
          </p:cNvSpPr>
          <p:nvPr>
            <p:ph type="body" sz="quarter" idx="12" hasCustomPrompt="1"/>
          </p:nvPr>
        </p:nvSpPr>
        <p:spPr>
          <a:xfrm>
            <a:off x="4572000" y="5722796"/>
            <a:ext cx="4114800" cy="297004"/>
          </a:xfrm>
        </p:spPr>
        <p:txBody>
          <a:bodyPr lIns="91440" tIns="45720" rIns="91440" bIns="45720"/>
          <a:lstStyle>
            <a:lvl1pPr marL="0" indent="0">
              <a:buNone/>
              <a:defRPr sz="1400" b="0">
                <a:solidFill>
                  <a:srgbClr val="6A6466"/>
                </a:solidFill>
              </a:defRPr>
            </a:lvl1pPr>
          </a:lstStyle>
          <a:p>
            <a:pPr lvl="0"/>
            <a:r>
              <a:rPr lang="en-US" dirty="0"/>
              <a:t>&lt;FIGURE #-# apply bold&gt; &lt;Figure caption text normal&gt;</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1239122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smtClean="0"/>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1336393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smtClean="0"/>
              <a:t>Click to edit Master title style</a:t>
            </a:r>
            <a:endParaRPr lang="en-US" dirty="0"/>
          </a:p>
        </p:txBody>
      </p:sp>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Footer Placeholder 3"/>
          <p:cNvSpPr>
            <a:spLocks noGrp="1"/>
          </p:cNvSpPr>
          <p:nvPr>
            <p:ph type="ftr" sz="quarter" idx="3"/>
          </p:nvPr>
        </p:nvSpPr>
        <p:spPr>
          <a:xfrm>
            <a:off x="1014984" y="6455663"/>
            <a:ext cx="6400800" cy="365760"/>
          </a:xfrm>
          <a:prstGeom prst="rect">
            <a:avLst/>
          </a:prstGeom>
        </p:spPr>
        <p:txBody>
          <a:bodyPr vert="horz" lIns="91440" tIns="45720" rIns="91440" bIns="45720" rtlCol="0" anchor="ctr"/>
          <a:lstStyle>
            <a:lvl1pPr algn="ctr">
              <a:defRPr sz="600">
                <a:solidFill>
                  <a:schemeClr val="tx1">
                    <a:tint val="75000"/>
                  </a:schemeClr>
                </a:solidFill>
              </a:defRPr>
            </a:lvl1p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
        <p:nvSpPr>
          <p:cNvPr id="7" name="Slide Number Placeholder 5"/>
          <p:cNvSpPr txBox="1">
            <a:spLocks/>
          </p:cNvSpPr>
          <p:nvPr/>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47" r:id="rId8"/>
    <p:sldLayoutId id="2147483948" r:id="rId9"/>
    <p:sldLayoutId id="2147483949" r:id="rId10"/>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ctrTitle"/>
          </p:nvPr>
        </p:nvSpPr>
        <p:spPr>
          <a:xfrm>
            <a:off x="698500" y="3098238"/>
            <a:ext cx="7747000" cy="369460"/>
          </a:xfrm>
        </p:spPr>
        <p:txBody>
          <a:bodyPr/>
          <a:lstStyle/>
          <a:p>
            <a:r>
              <a:rPr lang="en-US" altLang="en-US" dirty="0"/>
              <a:t>Chapter 5</a:t>
            </a:r>
          </a:p>
        </p:txBody>
      </p:sp>
      <p:sp>
        <p:nvSpPr>
          <p:cNvPr id="3" name="Subtitle 2"/>
          <p:cNvSpPr>
            <a:spLocks noGrp="1"/>
          </p:cNvSpPr>
          <p:nvPr>
            <p:ph type="subTitle" idx="1"/>
          </p:nvPr>
        </p:nvSpPr>
        <p:spPr>
          <a:xfrm>
            <a:off x="698500" y="3730752"/>
            <a:ext cx="7747000" cy="233910"/>
          </a:xfrm>
        </p:spPr>
        <p:txBody>
          <a:bodyPr/>
          <a:lstStyle/>
          <a:p>
            <a:r>
              <a:rPr lang="en-US" altLang="en-US" dirty="0"/>
              <a:t>Control Structures II (Repetition)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en-US" altLang="en-US" dirty="0"/>
              <a:t>Objectives (1 of 2)</a:t>
            </a:r>
          </a:p>
        </p:txBody>
      </p:sp>
      <p:sp>
        <p:nvSpPr>
          <p:cNvPr id="12290" name="Rectangle 3"/>
          <p:cNvSpPr>
            <a:spLocks noGrp="1" noChangeArrowheads="1"/>
          </p:cNvSpPr>
          <p:nvPr>
            <p:ph idx="1"/>
          </p:nvPr>
        </p:nvSpPr>
        <p:spPr/>
        <p:txBody>
          <a:bodyPr/>
          <a:lstStyle/>
          <a:p>
            <a:r>
              <a:rPr lang="en-US" altLang="en-US" dirty="0"/>
              <a:t>In this chapter, you will:</a:t>
            </a:r>
          </a:p>
          <a:p>
            <a:pPr lvl="1"/>
            <a:r>
              <a:rPr lang="en-US" altLang="en-US" dirty="0"/>
              <a:t>Learn about repetition (looping) control structures</a:t>
            </a:r>
          </a:p>
          <a:p>
            <a:pPr lvl="1"/>
            <a:r>
              <a:rPr lang="en-US" altLang="en-US" dirty="0"/>
              <a:t>Learn how to use a </a:t>
            </a:r>
            <a:r>
              <a:rPr lang="en-US" altLang="en-US" b="1" dirty="0">
                <a:latin typeface="Courier New" pitchFamily="49" charset="0"/>
                <a:cs typeface="Courier New" pitchFamily="49" charset="0"/>
              </a:rPr>
              <a:t>while</a:t>
            </a:r>
            <a:r>
              <a:rPr lang="en-US" altLang="en-US" dirty="0"/>
              <a:t> loop in a program</a:t>
            </a:r>
          </a:p>
          <a:p>
            <a:pPr lvl="1"/>
            <a:r>
              <a:rPr lang="en-US" altLang="en-US" dirty="0"/>
              <a:t>Explore how to construct and use counter-controlled, sentinel-controlled, flag-controlled, and EOF-controlled repetition structures</a:t>
            </a:r>
          </a:p>
          <a:p>
            <a:pPr lvl="1"/>
            <a:r>
              <a:rPr lang="en-US" altLang="en-US" dirty="0"/>
              <a:t>Learn how to use a </a:t>
            </a:r>
            <a:r>
              <a:rPr lang="en-US" altLang="en-US" b="1" dirty="0">
                <a:latin typeface="Courier New" pitchFamily="49" charset="0"/>
                <a:cs typeface="Courier New" pitchFamily="49" charset="0"/>
              </a:rPr>
              <a:t>for</a:t>
            </a:r>
            <a:r>
              <a:rPr lang="en-US" altLang="en-US" dirty="0"/>
              <a:t> loop in a program</a:t>
            </a:r>
          </a:p>
          <a:p>
            <a:pPr lvl="1"/>
            <a:r>
              <a:rPr lang="en-US" altLang="en-US" dirty="0"/>
              <a:t>Learn how to use a </a:t>
            </a:r>
            <a:r>
              <a:rPr lang="en-US" altLang="en-US" b="1" dirty="0">
                <a:latin typeface="Courier New" pitchFamily="49" charset="0"/>
                <a:cs typeface="Courier New" pitchFamily="49" charset="0"/>
              </a:rPr>
              <a:t>do…while</a:t>
            </a:r>
            <a:r>
              <a:rPr lang="en-US" altLang="en-US" dirty="0"/>
              <a:t> loop in a program</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title"/>
          </p:nvPr>
        </p:nvSpPr>
        <p:spPr/>
        <p:txBody>
          <a:bodyPr/>
          <a:lstStyle/>
          <a:p>
            <a:r>
              <a:rPr lang="en-US" altLang="en-US" dirty="0"/>
              <a:t>Objectives (2 of 2)</a:t>
            </a:r>
          </a:p>
        </p:txBody>
      </p:sp>
      <p:sp>
        <p:nvSpPr>
          <p:cNvPr id="13314" name="Content Placeholder 2"/>
          <p:cNvSpPr>
            <a:spLocks noGrp="1"/>
          </p:cNvSpPr>
          <p:nvPr>
            <p:ph idx="1"/>
          </p:nvPr>
        </p:nvSpPr>
        <p:spPr/>
        <p:txBody>
          <a:bodyPr/>
          <a:lstStyle/>
          <a:p>
            <a:pPr lvl="1"/>
            <a:r>
              <a:rPr lang="en-US" altLang="en-US" dirty="0"/>
              <a:t>Examine </a:t>
            </a:r>
            <a:r>
              <a:rPr lang="en-US" altLang="en-US" b="1" dirty="0">
                <a:latin typeface="Courier New" panose="02070309020205020404" pitchFamily="49" charset="0"/>
                <a:cs typeface="Courier New" panose="02070309020205020404" pitchFamily="49" charset="0"/>
              </a:rPr>
              <a:t>break</a:t>
            </a:r>
            <a:r>
              <a:rPr lang="en-US" altLang="en-US" dirty="0"/>
              <a:t> and </a:t>
            </a:r>
            <a:r>
              <a:rPr lang="en-US" altLang="en-US" b="1" dirty="0">
                <a:latin typeface="Courier New" panose="02070309020205020404" pitchFamily="49" charset="0"/>
                <a:cs typeface="Courier New" panose="02070309020205020404" pitchFamily="49" charset="0"/>
              </a:rPr>
              <a:t>continue</a:t>
            </a:r>
            <a:r>
              <a:rPr lang="en-US" altLang="en-US" dirty="0"/>
              <a:t> statements</a:t>
            </a:r>
          </a:p>
          <a:p>
            <a:pPr lvl="1"/>
            <a:r>
              <a:rPr lang="en-US" altLang="en-US" dirty="0"/>
              <a:t>Discover how to form and use nested control structures</a:t>
            </a:r>
          </a:p>
          <a:p>
            <a:pPr lvl="1"/>
            <a:r>
              <a:rPr lang="en-US" altLang="en-US" dirty="0"/>
              <a:t>Learn how to avoid bugs by avoiding patches</a:t>
            </a:r>
          </a:p>
          <a:p>
            <a:pPr lvl="1"/>
            <a:r>
              <a:rPr lang="en-US" altLang="en-US" dirty="0"/>
              <a:t>Learn how to debug loops</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en-US" altLang="en-US" dirty="0"/>
              <a:t>Why Is Repetition Needed?</a:t>
            </a:r>
          </a:p>
        </p:txBody>
      </p:sp>
      <p:sp>
        <p:nvSpPr>
          <p:cNvPr id="14338" name="Rectangle 3"/>
          <p:cNvSpPr>
            <a:spLocks noGrp="1" noChangeArrowheads="1"/>
          </p:cNvSpPr>
          <p:nvPr>
            <p:ph idx="1"/>
          </p:nvPr>
        </p:nvSpPr>
        <p:spPr/>
        <p:txBody>
          <a:bodyPr/>
          <a:lstStyle/>
          <a:p>
            <a:r>
              <a:rPr lang="en-US" altLang="en-US" dirty="0"/>
              <a:t>Repetition allows efficient use of variables</a:t>
            </a:r>
          </a:p>
          <a:p>
            <a:r>
              <a:rPr lang="en-US" altLang="en-US" dirty="0"/>
              <a:t>It is possible to input, add, and average multiple numbers using a limited number of variables</a:t>
            </a:r>
          </a:p>
          <a:p>
            <a:r>
              <a:rPr lang="en-US" altLang="en-US" dirty="0"/>
              <a:t>Consider the code to determine the average number of calories burned each day doing regular exercise</a:t>
            </a:r>
          </a:p>
          <a:p>
            <a:pPr lvl="1"/>
            <a:r>
              <a:rPr lang="en-US" altLang="en-US" dirty="0"/>
              <a:t>Method 1: Declare a variable for each day and enter the number of calories burned, add the values and store in a variable for the week’s total, and divide the total by </a:t>
            </a:r>
            <a:r>
              <a:rPr lang="en-US" altLang="en-US" b="1" dirty="0">
                <a:latin typeface="Courier New" panose="02070309020205020404" pitchFamily="49" charset="0"/>
                <a:cs typeface="Courier New" panose="02070309020205020404" pitchFamily="49" charset="0"/>
              </a:rPr>
              <a:t>7</a:t>
            </a:r>
            <a:r>
              <a:rPr lang="en-US" altLang="en-US" dirty="0"/>
              <a:t> to find the average</a:t>
            </a:r>
          </a:p>
          <a:p>
            <a:pPr lvl="1"/>
            <a:r>
              <a:rPr lang="en-US" altLang="en-US" dirty="0"/>
              <a:t>Method 2: Create a loop that reads a number into a variable and adds it to a variable that contains the sum of the numbers  (only two variables needed)</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Requirements of loop control variable (LVC)</a:t>
            </a:r>
            <a:endParaRPr lang="en-MY" dirty="0"/>
          </a:p>
        </p:txBody>
      </p:sp>
      <p:sp>
        <p:nvSpPr>
          <p:cNvPr id="3" name="Content Placeholder 2"/>
          <p:cNvSpPr>
            <a:spLocks noGrp="1"/>
          </p:cNvSpPr>
          <p:nvPr>
            <p:ph idx="1"/>
          </p:nvPr>
        </p:nvSpPr>
        <p:spPr>
          <a:xfrm>
            <a:off x="365125" y="1538818"/>
            <a:ext cx="8415338" cy="3954929"/>
          </a:xfrm>
        </p:spPr>
        <p:txBody>
          <a:bodyPr/>
          <a:lstStyle/>
          <a:p>
            <a:r>
              <a:rPr lang="en-MY" dirty="0" smtClean="0"/>
              <a:t>LVC used to control the loop body initialize and execution.</a:t>
            </a:r>
          </a:p>
          <a:p>
            <a:r>
              <a:rPr lang="en-MY" dirty="0" smtClean="0"/>
              <a:t>Three requirements of LVC</a:t>
            </a:r>
          </a:p>
          <a:p>
            <a:pPr marL="571500" lvl="1" indent="-342900">
              <a:buAutoNum type="arabicPeriod"/>
            </a:pPr>
            <a:r>
              <a:rPr lang="en-MY" sz="2000" b="1" dirty="0" smtClean="0"/>
              <a:t>Initialization</a:t>
            </a:r>
          </a:p>
          <a:p>
            <a:pPr marL="228600" lvl="1" indent="0">
              <a:buNone/>
            </a:pPr>
            <a:r>
              <a:rPr lang="en-MY" sz="2000" dirty="0"/>
              <a:t>	</a:t>
            </a:r>
            <a:r>
              <a:rPr lang="en-MY" sz="2000" dirty="0" smtClean="0"/>
              <a:t>- process of giving a variable an initial value.</a:t>
            </a:r>
          </a:p>
          <a:p>
            <a:pPr marL="228600" lvl="1" indent="0">
              <a:buNone/>
            </a:pPr>
            <a:r>
              <a:rPr lang="en-MY" sz="2000" dirty="0"/>
              <a:t>	</a:t>
            </a:r>
            <a:r>
              <a:rPr lang="en-MY" sz="2000" dirty="0" smtClean="0"/>
              <a:t>- Important for counting number or sum of variable</a:t>
            </a:r>
          </a:p>
          <a:p>
            <a:pPr marL="571500" lvl="1" indent="-342900">
              <a:buAutoNum type="arabicPeriod" startAt="2"/>
            </a:pPr>
            <a:r>
              <a:rPr lang="en-MY" sz="2000" b="1" dirty="0" smtClean="0"/>
              <a:t>Evaluation</a:t>
            </a:r>
          </a:p>
          <a:p>
            <a:pPr marL="400050" lvl="2" indent="0">
              <a:buNone/>
            </a:pPr>
            <a:r>
              <a:rPr lang="en-MY" sz="2000" dirty="0"/>
              <a:t>	</a:t>
            </a:r>
            <a:r>
              <a:rPr lang="en-MY" sz="2000" dirty="0" smtClean="0"/>
              <a:t>- How many loops will be done.</a:t>
            </a:r>
          </a:p>
          <a:p>
            <a:pPr marL="400050" lvl="2" indent="0">
              <a:buNone/>
            </a:pPr>
            <a:r>
              <a:rPr lang="en-MY" sz="2000" dirty="0"/>
              <a:t>	</a:t>
            </a:r>
            <a:r>
              <a:rPr lang="en-MY" sz="2000" dirty="0" smtClean="0"/>
              <a:t>- The process will be repeated as long as the condition is true.</a:t>
            </a:r>
          </a:p>
          <a:p>
            <a:pPr marL="228600" lvl="1" indent="0">
              <a:buNone/>
            </a:pPr>
            <a:r>
              <a:rPr lang="en-MY" sz="2000" b="1" dirty="0" smtClean="0"/>
              <a:t>3.   Updating</a:t>
            </a:r>
          </a:p>
          <a:p>
            <a:pPr marL="228600" lvl="1" indent="0">
              <a:buNone/>
            </a:pPr>
            <a:r>
              <a:rPr lang="en-MY" sz="2000" dirty="0" smtClean="0"/>
              <a:t>	- Update the initial value followed by an increase or decrease in the value until the ending value is reached.</a:t>
            </a:r>
            <a:endParaRPr lang="en-MY" sz="2000" dirty="0"/>
          </a:p>
        </p:txBody>
      </p:sp>
      <p:sp>
        <p:nvSpPr>
          <p:cNvPr id="4" name="Footer Placeholder 3"/>
          <p:cNvSpPr>
            <a:spLocks noGrp="1"/>
          </p:cNvSpPr>
          <p:nvPr>
            <p:ph type="ftr" sz="quarter" idx="10"/>
          </p:nvPr>
        </p:nvSpPr>
        <p:spPr/>
        <p:txBody>
          <a:body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2877441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en-US" altLang="en-US" dirty="0">
                <a:latin typeface="Courier New" pitchFamily="49" charset="0"/>
                <a:cs typeface="Courier New" pitchFamily="49" charset="0"/>
              </a:rPr>
              <a:t>while</a:t>
            </a:r>
            <a:r>
              <a:rPr lang="en-US" altLang="en-US" dirty="0"/>
              <a:t> Looping (Repetition) Structure (1 of 3)</a:t>
            </a:r>
          </a:p>
        </p:txBody>
      </p:sp>
      <p:sp>
        <p:nvSpPr>
          <p:cNvPr id="9219" name="Rectangle 3"/>
          <p:cNvSpPr>
            <a:spLocks noGrp="1" noChangeArrowheads="1"/>
          </p:cNvSpPr>
          <p:nvPr>
            <p:ph idx="1"/>
          </p:nvPr>
        </p:nvSpPr>
        <p:spPr>
          <a:xfrm>
            <a:off x="365125" y="1538818"/>
            <a:ext cx="8415338" cy="851957"/>
          </a:xfrm>
        </p:spPr>
        <p:txBody>
          <a:bodyPr rtlCol="0"/>
          <a:lstStyle/>
          <a:p>
            <a:pPr fontAlgn="auto">
              <a:spcAft>
                <a:spcPts val="0"/>
              </a:spcAft>
              <a:buFont typeface="Arial" pitchFamily="34" charset="0"/>
              <a:buChar char="•"/>
              <a:defRPr/>
            </a:pPr>
            <a:r>
              <a:rPr lang="en-US" dirty="0">
                <a:solidFill>
                  <a:schemeClr val="tx1">
                    <a:lumMod val="75000"/>
                    <a:lumOff val="25000"/>
                  </a:schemeClr>
                </a:solidFill>
              </a:rPr>
              <a:t>A </a:t>
            </a:r>
            <a:r>
              <a:rPr lang="en-US" b="1" u="sng" dirty="0">
                <a:solidFill>
                  <a:srgbClr val="638DAD"/>
                </a:solidFill>
                <a:uFill>
                  <a:solidFill>
                    <a:schemeClr val="tx1">
                      <a:lumMod val="75000"/>
                      <a:lumOff val="25000"/>
                    </a:schemeClr>
                  </a:solidFill>
                </a:uFill>
                <a:latin typeface="Courier New" panose="02070309020205020404" pitchFamily="49" charset="0"/>
                <a:cs typeface="Courier New" panose="02070309020205020404" pitchFamily="49" charset="0"/>
              </a:rPr>
              <a:t>while</a:t>
            </a:r>
            <a:r>
              <a:rPr lang="en-US" u="sng" dirty="0">
                <a:solidFill>
                  <a:schemeClr val="tx1">
                    <a:lumMod val="75000"/>
                    <a:lumOff val="25000"/>
                  </a:schemeClr>
                </a:solidFill>
                <a:uFill>
                  <a:solidFill>
                    <a:schemeClr val="tx1">
                      <a:lumMod val="75000"/>
                      <a:lumOff val="25000"/>
                    </a:schemeClr>
                  </a:solidFill>
                </a:uFill>
              </a:rPr>
              <a:t> </a:t>
            </a:r>
            <a:r>
              <a:rPr lang="en-US" u="sng" dirty="0">
                <a:solidFill>
                  <a:schemeClr val="tx1">
                    <a:lumMod val="75000"/>
                    <a:lumOff val="25000"/>
                  </a:schemeClr>
                </a:solidFill>
              </a:rPr>
              <a:t>loop</a:t>
            </a:r>
            <a:r>
              <a:rPr lang="en-US" dirty="0">
                <a:solidFill>
                  <a:schemeClr val="tx1">
                    <a:lumMod val="75000"/>
                    <a:lumOff val="25000"/>
                  </a:schemeClr>
                </a:solidFill>
              </a:rPr>
              <a:t> is one of three repetition, or looping structures in C++</a:t>
            </a:r>
          </a:p>
          <a:p>
            <a:pPr fontAlgn="auto">
              <a:spcAft>
                <a:spcPts val="0"/>
              </a:spcAft>
              <a:buFont typeface="Arial" pitchFamily="34" charset="0"/>
              <a:buChar char="•"/>
              <a:defRPr/>
            </a:pPr>
            <a:r>
              <a:rPr lang="en-US" dirty="0">
                <a:solidFill>
                  <a:schemeClr val="tx1">
                    <a:lumMod val="75000"/>
                    <a:lumOff val="25000"/>
                  </a:schemeClr>
                </a:solidFill>
              </a:rPr>
              <a:t>Syntax of the </a:t>
            </a:r>
            <a:r>
              <a:rPr lang="en-US" b="1" dirty="0">
                <a:solidFill>
                  <a:schemeClr val="tx1">
                    <a:lumMod val="75000"/>
                    <a:lumOff val="25000"/>
                  </a:schemeClr>
                </a:solidFill>
                <a:latin typeface="Courier New" pitchFamily="49" charset="0"/>
                <a:cs typeface="Courier New" pitchFamily="49" charset="0"/>
              </a:rPr>
              <a:t>while</a:t>
            </a:r>
            <a:r>
              <a:rPr lang="en-US" dirty="0">
                <a:solidFill>
                  <a:schemeClr val="tx1">
                    <a:lumMod val="75000"/>
                    <a:lumOff val="25000"/>
                  </a:schemeClr>
                </a:solidFill>
              </a:rPr>
              <a:t> statement</a:t>
            </a:r>
          </a:p>
          <a:p>
            <a:pPr marL="0" indent="0" fontAlgn="auto">
              <a:spcAft>
                <a:spcPts val="0"/>
              </a:spcAft>
              <a:buFont typeface="Arial" charset="0"/>
              <a:buNone/>
              <a:defRPr/>
            </a:pPr>
            <a:r>
              <a:rPr lang="en-US" dirty="0">
                <a:solidFill>
                  <a:schemeClr val="tx1">
                    <a:lumMod val="75000"/>
                    <a:lumOff val="25000"/>
                  </a:schemeClr>
                </a:solidFill>
              </a:rPr>
              <a:t>	    </a:t>
            </a:r>
          </a:p>
          <a:p>
            <a:pPr fontAlgn="auto">
              <a:spcAft>
                <a:spcPts val="0"/>
              </a:spcAft>
              <a:buFont typeface="Arial" pitchFamily="34" charset="0"/>
              <a:buChar char="•"/>
              <a:defRPr/>
            </a:pPr>
            <a:endParaRPr lang="en-US" dirty="0">
              <a:solidFill>
                <a:schemeClr val="tx1">
                  <a:lumMod val="75000"/>
                  <a:lumOff val="25000"/>
                </a:schemeClr>
              </a:solidFill>
            </a:endParaRPr>
          </a:p>
        </p:txBody>
      </p:sp>
      <p:sp>
        <p:nvSpPr>
          <p:cNvPr id="3" name="Content Placeholder 2"/>
          <p:cNvSpPr>
            <a:spLocks noGrp="1"/>
          </p:cNvSpPr>
          <p:nvPr>
            <p:ph idx="11"/>
          </p:nvPr>
        </p:nvSpPr>
        <p:spPr>
          <a:xfrm>
            <a:off x="365125" y="3321784"/>
            <a:ext cx="8415338" cy="1631216"/>
          </a:xfrm>
        </p:spPr>
        <p:txBody>
          <a:bodyPr/>
          <a:lstStyle/>
          <a:p>
            <a:pPr fontAlgn="auto">
              <a:spcAft>
                <a:spcPts val="0"/>
              </a:spcAft>
              <a:buFont typeface="Arial" pitchFamily="34" charset="0"/>
              <a:buChar char="•"/>
              <a:defRPr/>
            </a:pPr>
            <a:r>
              <a:rPr lang="en-US" dirty="0">
                <a:solidFill>
                  <a:schemeClr val="tx1">
                    <a:lumMod val="75000"/>
                    <a:lumOff val="25000"/>
                  </a:schemeClr>
                </a:solidFill>
              </a:rPr>
              <a:t>The </a:t>
            </a:r>
            <a:r>
              <a:rPr lang="en-US" b="1" dirty="0">
                <a:solidFill>
                  <a:schemeClr val="tx1">
                    <a:lumMod val="75000"/>
                    <a:lumOff val="25000"/>
                  </a:schemeClr>
                </a:solidFill>
                <a:latin typeface="Courier New" pitchFamily="49" charset="0"/>
                <a:cs typeface="Courier New" pitchFamily="49" charset="0"/>
              </a:rPr>
              <a:t>statement</a:t>
            </a:r>
            <a:r>
              <a:rPr lang="en-US" dirty="0">
                <a:solidFill>
                  <a:schemeClr val="tx1">
                    <a:lumMod val="75000"/>
                    <a:lumOff val="25000"/>
                  </a:schemeClr>
                </a:solidFill>
              </a:rPr>
              <a:t> can be simple or compound</a:t>
            </a:r>
          </a:p>
          <a:p>
            <a:pPr fontAlgn="auto">
              <a:spcAft>
                <a:spcPts val="0"/>
              </a:spcAft>
              <a:buFont typeface="Arial" pitchFamily="34" charset="0"/>
              <a:buChar char="•"/>
              <a:defRPr/>
            </a:pPr>
            <a:r>
              <a:rPr lang="en-US" dirty="0">
                <a:solidFill>
                  <a:schemeClr val="tx1">
                    <a:lumMod val="75000"/>
                    <a:lumOff val="25000"/>
                  </a:schemeClr>
                </a:solidFill>
              </a:rPr>
              <a:t>The </a:t>
            </a:r>
            <a:r>
              <a:rPr lang="en-US" b="1" dirty="0">
                <a:solidFill>
                  <a:schemeClr val="tx1">
                    <a:lumMod val="75000"/>
                    <a:lumOff val="25000"/>
                  </a:schemeClr>
                </a:solidFill>
                <a:latin typeface="Courier New" pitchFamily="49" charset="0"/>
                <a:cs typeface="Courier New" pitchFamily="49" charset="0"/>
              </a:rPr>
              <a:t>expression</a:t>
            </a:r>
            <a:r>
              <a:rPr lang="en-US" dirty="0">
                <a:solidFill>
                  <a:schemeClr val="tx1">
                    <a:lumMod val="75000"/>
                    <a:lumOff val="25000"/>
                  </a:schemeClr>
                </a:solidFill>
              </a:rPr>
              <a:t> acts as a </a:t>
            </a:r>
            <a:r>
              <a:rPr lang="en-US" u="sng" dirty="0">
                <a:solidFill>
                  <a:schemeClr val="tx1">
                    <a:lumMod val="75000"/>
                    <a:lumOff val="25000"/>
                  </a:schemeClr>
                </a:solidFill>
              </a:rPr>
              <a:t>decision maker</a:t>
            </a:r>
            <a:r>
              <a:rPr lang="en-US" dirty="0">
                <a:solidFill>
                  <a:schemeClr val="tx1">
                    <a:lumMod val="75000"/>
                    <a:lumOff val="25000"/>
                  </a:schemeClr>
                </a:solidFill>
              </a:rPr>
              <a:t> and is usually a logical expression </a:t>
            </a:r>
          </a:p>
          <a:p>
            <a:pPr fontAlgn="auto">
              <a:spcAft>
                <a:spcPts val="0"/>
              </a:spcAft>
              <a:buFont typeface="Arial" pitchFamily="34" charset="0"/>
              <a:buChar char="•"/>
              <a:defRPr/>
            </a:pPr>
            <a:r>
              <a:rPr lang="en-US" dirty="0">
                <a:solidFill>
                  <a:schemeClr val="tx1">
                    <a:lumMod val="75000"/>
                    <a:lumOff val="25000"/>
                  </a:schemeClr>
                </a:solidFill>
              </a:rPr>
              <a:t>The </a:t>
            </a:r>
            <a:r>
              <a:rPr lang="en-US" b="1" dirty="0">
                <a:solidFill>
                  <a:schemeClr val="tx1">
                    <a:lumMod val="75000"/>
                    <a:lumOff val="25000"/>
                  </a:schemeClr>
                </a:solidFill>
                <a:latin typeface="Courier New" pitchFamily="49" charset="0"/>
                <a:cs typeface="Courier New" pitchFamily="49" charset="0"/>
              </a:rPr>
              <a:t>statement</a:t>
            </a:r>
            <a:r>
              <a:rPr lang="en-US" dirty="0">
                <a:solidFill>
                  <a:schemeClr val="tx1">
                    <a:lumMod val="75000"/>
                    <a:lumOff val="25000"/>
                  </a:schemeClr>
                </a:solidFill>
              </a:rPr>
              <a:t> is called the body of the loop </a:t>
            </a:r>
          </a:p>
          <a:p>
            <a:pPr fontAlgn="auto">
              <a:spcAft>
                <a:spcPts val="0"/>
              </a:spcAft>
              <a:buFont typeface="Arial" pitchFamily="34" charset="0"/>
              <a:buChar char="•"/>
              <a:defRPr/>
            </a:pPr>
            <a:r>
              <a:rPr lang="en-US" dirty="0">
                <a:solidFill>
                  <a:schemeClr val="tx1">
                    <a:lumMod val="75000"/>
                    <a:lumOff val="25000"/>
                  </a:schemeClr>
                </a:solidFill>
              </a:rPr>
              <a:t>The parentheses are part of the syntax</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15366" name="Picture 6" descr="while (expression)&#10;    stat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574" y="2390775"/>
            <a:ext cx="2657475" cy="73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6"/>
          <p:cNvSpPr>
            <a:spLocks noGrp="1" noChangeArrowheads="1"/>
          </p:cNvSpPr>
          <p:nvPr>
            <p:ph type="title"/>
          </p:nvPr>
        </p:nvSpPr>
        <p:spPr>
          <a:xfrm>
            <a:off x="762000" y="410490"/>
            <a:ext cx="8026400" cy="287771"/>
          </a:xfrm>
        </p:spPr>
        <p:txBody>
          <a:bodyPr/>
          <a:lstStyle/>
          <a:p>
            <a:r>
              <a:rPr lang="en-US" altLang="en-US" dirty="0">
                <a:latin typeface="Courier New" panose="02070309020205020404" pitchFamily="49" charset="0"/>
                <a:cs typeface="Courier New" panose="02070309020205020404" pitchFamily="49" charset="0"/>
              </a:rPr>
              <a:t>while</a:t>
            </a:r>
            <a:r>
              <a:rPr lang="en-US" altLang="en-US" dirty="0"/>
              <a:t> Looping (Repetition) Structure (2 of 3)</a:t>
            </a:r>
          </a:p>
        </p:txBody>
      </p:sp>
      <p:sp>
        <p:nvSpPr>
          <p:cNvPr id="16386" name="Rectangle 7"/>
          <p:cNvSpPr>
            <a:spLocks noGrp="1" noChangeArrowheads="1"/>
          </p:cNvSpPr>
          <p:nvPr>
            <p:ph type="body" sz="quarter" idx="11"/>
          </p:nvPr>
        </p:nvSpPr>
        <p:spPr>
          <a:xfrm>
            <a:off x="914400" y="3463160"/>
            <a:ext cx="6949440" cy="297004"/>
          </a:xfrm>
        </p:spPr>
        <p:txBody>
          <a:bodyPr/>
          <a:lstStyle/>
          <a:p>
            <a:r>
              <a:rPr lang="en-US" b="1" dirty="0"/>
              <a:t>FIGURE 5-1 </a:t>
            </a:r>
            <a:r>
              <a:rPr lang="en-US" b="1" dirty="0">
                <a:solidFill>
                  <a:srgbClr val="638DAD"/>
                </a:solidFill>
                <a:latin typeface="Courier New" panose="02070309020205020404" pitchFamily="49" charset="0"/>
                <a:cs typeface="Courier New" panose="02070309020205020404" pitchFamily="49" charset="0"/>
              </a:rPr>
              <a:t>while</a:t>
            </a:r>
            <a:r>
              <a:rPr lang="en-US" b="1" dirty="0">
                <a:solidFill>
                  <a:srgbClr val="638DAD"/>
                </a:solidFill>
              </a:rPr>
              <a:t> </a:t>
            </a:r>
            <a:r>
              <a:rPr lang="en-US" dirty="0"/>
              <a:t>loop</a:t>
            </a:r>
            <a:endParaRPr lang="en-US" altLang="en-US" dirty="0"/>
          </a:p>
        </p:txBody>
      </p:sp>
      <p:sp>
        <p:nvSpPr>
          <p:cNvPr id="2" name="Footer Placeholder 1"/>
          <p:cNvSpPr>
            <a:spLocks noGrp="1"/>
          </p:cNvSpPr>
          <p:nvPr>
            <p:ph type="ftr" sz="quarter" idx="10"/>
          </p:nvPr>
        </p:nvSpPr>
        <p:spPr/>
        <p:txBody>
          <a:body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16391" name="Picture 7" descr="Figure 5-1 shows the flow of&#10;execution of a while l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447800"/>
            <a:ext cx="6400800" cy="20079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14" name="Content Placeholder 2"/>
          <p:cNvSpPr txBox="1">
            <a:spLocks/>
          </p:cNvSpPr>
          <p:nvPr/>
        </p:nvSpPr>
        <p:spPr bwMode="auto">
          <a:xfrm>
            <a:off x="365125" y="4038600"/>
            <a:ext cx="84153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prstTxWarp prst="textNoShape">
              <a:avLst/>
            </a:prstTxWarp>
            <a:spAutoFit/>
          </a:bodyPr>
          <a:lstStyle>
            <a:lvl1pPr marL="0" indent="0" algn="l" rtl="0" fontAlgn="base">
              <a:lnSpc>
                <a:spcPct val="95000"/>
              </a:lnSpc>
              <a:spcBef>
                <a:spcPts val="1200"/>
              </a:spcBef>
              <a:spcAft>
                <a:spcPct val="0"/>
              </a:spcAft>
              <a:buClr>
                <a:schemeClr val="accent2"/>
              </a:buClr>
              <a:buFont typeface="Arial" charset="0"/>
              <a:buNone/>
              <a:defRPr sz="1400" b="0" kern="1200">
                <a:solidFill>
                  <a:srgbClr val="6A6466"/>
                </a:solidFill>
                <a:latin typeface="+mn-lt"/>
                <a:ea typeface="+mn-ea"/>
                <a:cs typeface="+mn-cs"/>
              </a:defRPr>
            </a:lvl1pPr>
            <a:lvl2pPr marL="400050" indent="-171450" algn="l" rtl="0" fontAlgn="base">
              <a:lnSpc>
                <a:spcPct val="95000"/>
              </a:lnSpc>
              <a:spcBef>
                <a:spcPts val="600"/>
              </a:spcBef>
              <a:spcAft>
                <a:spcPct val="0"/>
              </a:spcAft>
              <a:buClr>
                <a:schemeClr val="accent1"/>
              </a:buClr>
              <a:buFont typeface="Arial" charset="0"/>
              <a:buChar char="•"/>
              <a:defRPr kern="1200">
                <a:solidFill>
                  <a:srgbClr val="404040"/>
                </a:solidFill>
                <a:latin typeface="+mn-lt"/>
                <a:ea typeface="+mn-ea"/>
                <a:cs typeface="+mn-cs"/>
              </a:defRPr>
            </a:lvl2pPr>
            <a:lvl3pPr marL="571500" indent="-114300" algn="l" rtl="0" fontAlgn="base">
              <a:lnSpc>
                <a:spcPct val="95000"/>
              </a:lnSpc>
              <a:spcBef>
                <a:spcPct val="20000"/>
              </a:spcBef>
              <a:spcAft>
                <a:spcPct val="0"/>
              </a:spcAft>
              <a:buClr>
                <a:srgbClr val="404040"/>
              </a:buClr>
              <a:buFont typeface="Arial" charset="0"/>
              <a:buChar char="-"/>
              <a:defRPr sz="1600" kern="1200">
                <a:solidFill>
                  <a:srgbClr val="404040"/>
                </a:solidFill>
                <a:latin typeface="+mn-lt"/>
                <a:ea typeface="+mn-ea"/>
                <a:cs typeface="+mn-cs"/>
              </a:defRPr>
            </a:lvl3pPr>
            <a:lvl4pPr marL="742950" indent="-114300" algn="l" rtl="0" fontAlgn="base">
              <a:lnSpc>
                <a:spcPct val="95000"/>
              </a:lnSpc>
              <a:spcBef>
                <a:spcPct val="20000"/>
              </a:spcBef>
              <a:spcAft>
                <a:spcPct val="0"/>
              </a:spcAft>
              <a:buFont typeface="Arial" charset="0"/>
              <a:buChar char="•"/>
              <a:defRPr sz="1400" kern="1200">
                <a:solidFill>
                  <a:srgbClr val="404040"/>
                </a:solidFill>
                <a:latin typeface="+mn-lt"/>
                <a:ea typeface="+mn-ea"/>
                <a:cs typeface="+mn-cs"/>
              </a:defRPr>
            </a:lvl4pPr>
            <a:lvl5pPr marL="914400" indent="-114300" algn="l" rtl="0" fontAlgn="base">
              <a:lnSpc>
                <a:spcPct val="95000"/>
              </a:lnSpc>
              <a:spcBef>
                <a:spcPct val="20000"/>
              </a:spcBef>
              <a:spcAft>
                <a:spcPct val="0"/>
              </a:spcAft>
              <a:buFont typeface="Arial" charset="0"/>
              <a:buChar char="-"/>
              <a:defRPr sz="1400" kern="1200">
                <a:solidFill>
                  <a:srgbClr val="40404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68275" indent="-168275" fontAlgn="auto">
              <a:spcAft>
                <a:spcPts val="0"/>
              </a:spcAft>
              <a:buFont typeface="Arial" pitchFamily="34" charset="0"/>
              <a:buChar char="•"/>
              <a:defRPr/>
            </a:pPr>
            <a:r>
              <a:rPr lang="en-US" sz="2000" dirty="0">
                <a:solidFill>
                  <a:schemeClr val="tx1">
                    <a:lumMod val="75000"/>
                    <a:lumOff val="25000"/>
                  </a:schemeClr>
                </a:solidFill>
              </a:rPr>
              <a:t>The </a:t>
            </a:r>
            <a:r>
              <a:rPr lang="en-US" sz="2000" b="1" dirty="0">
                <a:solidFill>
                  <a:schemeClr val="tx1">
                    <a:lumMod val="75000"/>
                    <a:lumOff val="25000"/>
                  </a:schemeClr>
                </a:solidFill>
                <a:latin typeface="Courier New" panose="02070309020205020404" pitchFamily="49" charset="0"/>
                <a:cs typeface="Courier New" panose="02070309020205020404" pitchFamily="49" charset="0"/>
              </a:rPr>
              <a:t>expression</a:t>
            </a:r>
            <a:r>
              <a:rPr lang="en-US" sz="2000" dirty="0">
                <a:solidFill>
                  <a:schemeClr val="tx1">
                    <a:lumMod val="75000"/>
                    <a:lumOff val="25000"/>
                  </a:schemeClr>
                </a:solidFill>
              </a:rPr>
              <a:t> provides an entry condition to the loop </a:t>
            </a:r>
          </a:p>
          <a:p>
            <a:pPr marL="168275" indent="-168275" fontAlgn="auto">
              <a:spcAft>
                <a:spcPts val="0"/>
              </a:spcAft>
              <a:buFont typeface="Arial" pitchFamily="34" charset="0"/>
              <a:buChar char="•"/>
              <a:defRPr/>
            </a:pPr>
            <a:r>
              <a:rPr lang="en-US" sz="2000" dirty="0">
                <a:solidFill>
                  <a:schemeClr val="tx1">
                    <a:lumMod val="75000"/>
                    <a:lumOff val="25000"/>
                  </a:schemeClr>
                </a:solidFill>
              </a:rPr>
              <a:t>The </a:t>
            </a:r>
            <a:r>
              <a:rPr lang="en-US" sz="2000" b="1" dirty="0">
                <a:solidFill>
                  <a:schemeClr val="tx1">
                    <a:lumMod val="75000"/>
                    <a:lumOff val="25000"/>
                  </a:schemeClr>
                </a:solidFill>
                <a:latin typeface="Courier New" pitchFamily="49" charset="0"/>
                <a:cs typeface="Courier New" pitchFamily="49" charset="0"/>
              </a:rPr>
              <a:t>statement</a:t>
            </a:r>
            <a:r>
              <a:rPr lang="en-US" sz="2000" dirty="0">
                <a:solidFill>
                  <a:schemeClr val="tx1">
                    <a:lumMod val="75000"/>
                    <a:lumOff val="25000"/>
                  </a:schemeClr>
                </a:solidFill>
              </a:rPr>
              <a:t> (body of the loop) continues to execute until the expression is no longer </a:t>
            </a:r>
            <a:r>
              <a:rPr lang="en-US" sz="2000" b="1" dirty="0">
                <a:solidFill>
                  <a:srgbClr val="638DAD"/>
                </a:solidFill>
                <a:latin typeface="Courier New" panose="02070309020205020404" pitchFamily="49" charset="0"/>
                <a:cs typeface="Courier New" panose="02070309020205020404" pitchFamily="49" charset="0"/>
              </a:rPr>
              <a:t>true</a:t>
            </a:r>
          </a:p>
          <a:p>
            <a:pPr marL="168275" indent="-168275" fontAlgn="auto">
              <a:spcAft>
                <a:spcPts val="0"/>
              </a:spcAft>
              <a:buFont typeface="Arial" pitchFamily="34" charset="0"/>
              <a:buChar char="•"/>
              <a:defRPr/>
            </a:pPr>
            <a:r>
              <a:rPr lang="en-US" altLang="en-US" sz="2000" dirty="0">
                <a:solidFill>
                  <a:schemeClr val="tx1">
                    <a:lumMod val="75000"/>
                    <a:lumOff val="25000"/>
                  </a:schemeClr>
                </a:solidFill>
              </a:rPr>
              <a:t>An infinite loop continues to execute endlessly</a:t>
            </a:r>
            <a:endParaRPr lang="en-US" sz="2000" dirty="0">
              <a:solidFill>
                <a:schemeClr val="tx1">
                  <a:lumMod val="75000"/>
                  <a:lumOff val="25000"/>
                </a:schemeClr>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p:cNvSpPr>
            <a:spLocks noGrp="1" noChangeArrowheads="1"/>
          </p:cNvSpPr>
          <p:nvPr>
            <p:ph type="title"/>
          </p:nvPr>
        </p:nvSpPr>
        <p:spPr>
          <a:xfrm>
            <a:off x="762000" y="410490"/>
            <a:ext cx="8026400" cy="287771"/>
          </a:xfrm>
        </p:spPr>
        <p:txBody>
          <a:bodyPr/>
          <a:lstStyle/>
          <a:p>
            <a:r>
              <a:rPr lang="en-US" altLang="en-US" dirty="0">
                <a:latin typeface="Courier New" pitchFamily="49" charset="0"/>
                <a:cs typeface="Courier New" pitchFamily="49" charset="0"/>
              </a:rPr>
              <a:t>while</a:t>
            </a:r>
            <a:r>
              <a:rPr lang="en-US" altLang="en-US" dirty="0"/>
              <a:t> Looping (Repetition) Structure (3 of 3)</a:t>
            </a:r>
          </a:p>
        </p:txBody>
      </p:sp>
      <p:sp>
        <p:nvSpPr>
          <p:cNvPr id="3" name="Content Placeholder 2"/>
          <p:cNvSpPr>
            <a:spLocks noGrp="1"/>
          </p:cNvSpPr>
          <p:nvPr>
            <p:ph idx="1"/>
          </p:nvPr>
        </p:nvSpPr>
        <p:spPr>
          <a:xfrm>
            <a:off x="365125" y="4419600"/>
            <a:ext cx="8415338" cy="1184940"/>
          </a:xfrm>
        </p:spPr>
        <p:txBody>
          <a:bodyPr/>
          <a:lstStyle/>
          <a:p>
            <a:r>
              <a:rPr lang="en-US" dirty="0"/>
              <a:t>The preceding </a:t>
            </a:r>
            <a:r>
              <a:rPr lang="en-US" b="1" dirty="0">
                <a:solidFill>
                  <a:srgbClr val="638DAD"/>
                </a:solidFill>
                <a:latin typeface="Courier New" panose="02070309020205020404" pitchFamily="49" charset="0"/>
                <a:cs typeface="Courier New" panose="02070309020205020404" pitchFamily="49" charset="0"/>
              </a:rPr>
              <a:t>while</a:t>
            </a:r>
            <a:r>
              <a:rPr lang="en-US" b="1" dirty="0"/>
              <a:t> </a:t>
            </a:r>
            <a:r>
              <a:rPr lang="en-US" dirty="0"/>
              <a:t>loop produces the following output:</a:t>
            </a:r>
          </a:p>
          <a:p>
            <a:pPr marL="346075" indent="0">
              <a:buNone/>
            </a:pPr>
            <a:r>
              <a:rPr lang="en-US" b="1" dirty="0">
                <a:latin typeface="Courier New" panose="02070309020205020404" pitchFamily="49" charset="0"/>
                <a:cs typeface="Courier New" panose="02070309020205020404" pitchFamily="49" charset="0"/>
              </a:rPr>
              <a:t>0 5 10 15 20</a:t>
            </a:r>
          </a:p>
          <a:p>
            <a:pPr>
              <a:buClr>
                <a:srgbClr val="055C91"/>
              </a:buClr>
            </a:pPr>
            <a:r>
              <a:rPr lang="en-US" altLang="en-US" dirty="0"/>
              <a:t>The variable </a:t>
            </a:r>
            <a:r>
              <a:rPr lang="en-US" altLang="en-US" b="1" dirty="0">
                <a:latin typeface="Courier New" panose="02070309020205020404" pitchFamily="49" charset="0"/>
                <a:cs typeface="Courier New" panose="02070309020205020404" pitchFamily="49" charset="0"/>
              </a:rPr>
              <a:t>i</a:t>
            </a:r>
            <a:r>
              <a:rPr lang="en-US" altLang="en-US" dirty="0"/>
              <a:t> in Example 5-1 is called the </a:t>
            </a:r>
            <a:r>
              <a:rPr lang="en-US" altLang="en-US" u="sng" dirty="0"/>
              <a:t>loop control variable</a:t>
            </a:r>
            <a:r>
              <a:rPr lang="en-US" altLang="en-US" dirty="0"/>
              <a:t> (</a:t>
            </a:r>
            <a:r>
              <a:rPr lang="en-US" altLang="en-US" u="sng" dirty="0"/>
              <a:t>LCV</a:t>
            </a:r>
            <a:r>
              <a:rPr lang="en-US" altLang="en-US" dirty="0"/>
              <a:t>)</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17413" name="Picture 5" descr="Example 5-1 illustrates while loo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609104"/>
            <a:ext cx="6400800" cy="25818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dirty="0">
                <a:latin typeface="Courier New" pitchFamily="49" charset="0"/>
                <a:cs typeface="Courier New" pitchFamily="49" charset="0"/>
              </a:rPr>
              <a:t>while</a:t>
            </a:r>
            <a:r>
              <a:rPr lang="en-US" altLang="en-US" dirty="0"/>
              <a:t> Looping (Repetition) Structure (cont’d.)</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19462" name="Picture 6" descr="Example 5-2 is the same code as Example 5-1, except i is initialized to 20 rather than 1. In this case, the loop never execu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028825"/>
            <a:ext cx="6400800" cy="2114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en-US" altLang="en-US" dirty="0"/>
              <a:t>Case 1: Counter-Controlled </a:t>
            </a:r>
            <a:r>
              <a:rPr lang="en-US" altLang="en-US" dirty="0">
                <a:latin typeface="Courier New" pitchFamily="49" charset="0"/>
                <a:cs typeface="Courier New" pitchFamily="49" charset="0"/>
              </a:rPr>
              <a:t>while</a:t>
            </a:r>
            <a:r>
              <a:rPr lang="en-US" altLang="en-US" dirty="0"/>
              <a:t> Loops</a:t>
            </a:r>
          </a:p>
        </p:txBody>
      </p:sp>
      <p:sp>
        <p:nvSpPr>
          <p:cNvPr id="20482" name="Rectangle 3"/>
          <p:cNvSpPr>
            <a:spLocks noGrp="1" noChangeArrowheads="1"/>
          </p:cNvSpPr>
          <p:nvPr>
            <p:ph idx="1"/>
          </p:nvPr>
        </p:nvSpPr>
        <p:spPr/>
        <p:txBody>
          <a:bodyPr/>
          <a:lstStyle/>
          <a:p>
            <a:r>
              <a:rPr lang="en-US" altLang="en-US" dirty="0"/>
              <a:t>When you know exactly how many times the statements need to be executed</a:t>
            </a:r>
          </a:p>
          <a:p>
            <a:pPr lvl="1"/>
            <a:r>
              <a:rPr lang="en-US" altLang="en-US" dirty="0"/>
              <a:t> Use a </a:t>
            </a:r>
            <a:r>
              <a:rPr lang="en-US" altLang="en-US" u="sng" dirty="0"/>
              <a:t>counter-controlled </a:t>
            </a:r>
            <a:r>
              <a:rPr lang="en-US" altLang="en-US" b="1" u="sng" dirty="0">
                <a:solidFill>
                  <a:srgbClr val="638DAD"/>
                </a:solidFill>
                <a:uFill>
                  <a:solidFill>
                    <a:schemeClr val="tx1">
                      <a:lumMod val="75000"/>
                      <a:lumOff val="25000"/>
                    </a:schemeClr>
                  </a:solidFill>
                </a:uFill>
                <a:latin typeface="Courier New" pitchFamily="49" charset="0"/>
                <a:cs typeface="Courier New" pitchFamily="49" charset="0"/>
              </a:rPr>
              <a:t>while</a:t>
            </a:r>
            <a:r>
              <a:rPr lang="en-US" altLang="en-US" u="sng" dirty="0"/>
              <a:t> loop</a:t>
            </a:r>
          </a:p>
          <a:p>
            <a:pPr marL="0" indent="0">
              <a:lnSpc>
                <a:spcPct val="100000"/>
              </a:lnSpc>
              <a:spcBef>
                <a:spcPts val="0"/>
              </a:spcBef>
              <a:buNone/>
            </a:pPr>
            <a:endParaRPr lang="en-US" b="1" dirty="0">
              <a:latin typeface="Courier New" panose="02070309020205020404" pitchFamily="49" charset="0"/>
              <a:cs typeface="Courier New" panose="02070309020205020404" pitchFamily="49" charset="0"/>
            </a:endParaRP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counter =</a:t>
            </a:r>
            <a:r>
              <a:rPr lang="en-US" sz="1800" dirty="0">
                <a:latin typeface="Courier New" panose="02070309020205020404" pitchFamily="49" charset="0"/>
                <a:cs typeface="Courier New" panose="02070309020205020404" pitchFamily="49" charset="0"/>
              </a:rPr>
              <a:t> </a:t>
            </a:r>
            <a:r>
              <a:rPr lang="en-US" sz="1800" b="1" dirty="0">
                <a:latin typeface="Courier New" panose="02070309020205020404" pitchFamily="49" charset="0"/>
                <a:cs typeface="Courier New" panose="02070309020205020404" pitchFamily="49" charset="0"/>
              </a:rPr>
              <a:t>0;        </a:t>
            </a:r>
            <a:r>
              <a:rPr lang="en-US" sz="1800" b="1" dirty="0">
                <a:solidFill>
                  <a:srgbClr val="00A589"/>
                </a:solidFill>
                <a:latin typeface="Courier New" panose="02070309020205020404" pitchFamily="49" charset="0"/>
                <a:cs typeface="Courier New" panose="02070309020205020404" pitchFamily="49" charset="0"/>
              </a:rPr>
              <a:t>//initialize the loop control variable</a:t>
            </a:r>
          </a:p>
          <a:p>
            <a:pPr marL="231775" indent="0">
              <a:lnSpc>
                <a:spcPct val="100000"/>
              </a:lnSpc>
              <a:spcBef>
                <a:spcPts val="0"/>
              </a:spcBef>
              <a:buNone/>
            </a:pPr>
            <a:r>
              <a:rPr lang="en-US" sz="1800" b="1" dirty="0">
                <a:solidFill>
                  <a:srgbClr val="638DAD"/>
                </a:solidFill>
                <a:latin typeface="Courier New" panose="02070309020205020404" pitchFamily="49" charset="0"/>
                <a:cs typeface="Courier New" panose="02070309020205020404" pitchFamily="49" charset="0"/>
              </a:rPr>
              <a:t>while</a:t>
            </a:r>
            <a:r>
              <a:rPr lang="en-US" sz="1800" b="1" dirty="0">
                <a:latin typeface="Courier New" panose="02070309020205020404" pitchFamily="49" charset="0"/>
                <a:cs typeface="Courier New" panose="02070309020205020404" pitchFamily="49" charset="0"/>
              </a:rPr>
              <a:t> (counter &lt; N) </a:t>
            </a:r>
            <a:r>
              <a:rPr lang="en-US" sz="1800" b="1" dirty="0">
                <a:solidFill>
                  <a:srgbClr val="00A589"/>
                </a:solidFill>
                <a:latin typeface="Courier New" panose="02070309020205020404" pitchFamily="49" charset="0"/>
                <a:cs typeface="Courier New" panose="02070309020205020404" pitchFamily="49" charset="0"/>
              </a:rPr>
              <a:t>//test the loop control variable</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counter++;      </a:t>
            </a:r>
            <a:r>
              <a:rPr lang="en-US" sz="1800" b="1" dirty="0">
                <a:solidFill>
                  <a:srgbClr val="00A589"/>
                </a:solidFill>
                <a:latin typeface="Courier New" panose="02070309020205020404" pitchFamily="49" charset="0"/>
                <a:cs typeface="Courier New" panose="02070309020205020404" pitchFamily="49" charset="0"/>
              </a:rPr>
              <a:t>//update the loop control variable</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a:t>
            </a:r>
            <a:endParaRPr lang="en-US" altLang="en-US" sz="1800" u="sng" dirty="0">
              <a:latin typeface="Courier New" panose="02070309020205020404" pitchFamily="49" charset="0"/>
              <a:cs typeface="Courier New" panose="02070309020205020404" pitchFamily="49" charset="0"/>
            </a:endParaRPr>
          </a:p>
          <a:p>
            <a:endParaRPr lang="en-US" altLang="en-US" u="sng" dirty="0"/>
          </a:p>
          <a:p>
            <a:endParaRPr lang="en-US" altLang="en-US" dirty="0"/>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en-US" altLang="en-US" dirty="0"/>
              <a:t>Case 2: Sentinel-Controlled </a:t>
            </a:r>
            <a:r>
              <a:rPr lang="en-US" altLang="en-US" dirty="0">
                <a:latin typeface="Courier New" pitchFamily="49" charset="0"/>
                <a:cs typeface="Courier New" pitchFamily="49" charset="0"/>
              </a:rPr>
              <a:t>while</a:t>
            </a:r>
            <a:r>
              <a:rPr lang="en-US" altLang="en-US" dirty="0"/>
              <a:t> Loops</a:t>
            </a:r>
          </a:p>
        </p:txBody>
      </p:sp>
      <p:sp>
        <p:nvSpPr>
          <p:cNvPr id="21506" name="Rectangle 3"/>
          <p:cNvSpPr>
            <a:spLocks noGrp="1" noChangeArrowheads="1"/>
          </p:cNvSpPr>
          <p:nvPr>
            <p:ph idx="1"/>
          </p:nvPr>
        </p:nvSpPr>
        <p:spPr/>
        <p:txBody>
          <a:bodyPr/>
          <a:lstStyle/>
          <a:p>
            <a:r>
              <a:rPr lang="en-US" altLang="en-US" dirty="0"/>
              <a:t>A </a:t>
            </a:r>
            <a:r>
              <a:rPr lang="en-US" altLang="en-US" u="sng" dirty="0"/>
              <a:t>sentinel</a:t>
            </a:r>
            <a:r>
              <a:rPr lang="en-US" altLang="en-US" dirty="0"/>
              <a:t> variable is tested in the condition </a:t>
            </a:r>
          </a:p>
          <a:p>
            <a:r>
              <a:rPr lang="en-US" altLang="en-US" dirty="0"/>
              <a:t>The loop ends when the sentinel is encountered</a:t>
            </a:r>
          </a:p>
          <a:p>
            <a:r>
              <a:rPr lang="en-US" altLang="en-US" dirty="0"/>
              <a:t>The following is an example of a </a:t>
            </a:r>
            <a:r>
              <a:rPr lang="en-US" u="sng" dirty="0"/>
              <a:t>sentinel-controlled</a:t>
            </a:r>
            <a:r>
              <a:rPr lang="en-US" b="1" u="sng" dirty="0"/>
              <a:t> </a:t>
            </a:r>
            <a:r>
              <a:rPr lang="en-US" b="1" u="sng" dirty="0">
                <a:solidFill>
                  <a:srgbClr val="638DAD"/>
                </a:solidFill>
                <a:uFill>
                  <a:solidFill>
                    <a:schemeClr val="tx1">
                      <a:lumMod val="75000"/>
                      <a:lumOff val="25000"/>
                    </a:schemeClr>
                  </a:solidFill>
                </a:uFill>
                <a:latin typeface="Courier New" panose="02070309020205020404" pitchFamily="49" charset="0"/>
                <a:cs typeface="Courier New" panose="02070309020205020404" pitchFamily="49" charset="0"/>
              </a:rPr>
              <a:t>while</a:t>
            </a:r>
            <a:r>
              <a:rPr lang="en-US" b="1" u="sng" dirty="0"/>
              <a:t> </a:t>
            </a:r>
            <a:r>
              <a:rPr lang="en-US" u="sng" dirty="0"/>
              <a:t>loop</a:t>
            </a:r>
            <a:r>
              <a:rPr lang="en-US" dirty="0"/>
              <a:t>:</a:t>
            </a:r>
            <a:endParaRPr lang="en-US" altLang="en-US" u="sng" dirty="0"/>
          </a:p>
          <a:p>
            <a:pPr marL="231775" indent="0">
              <a:lnSpc>
                <a:spcPct val="100000"/>
              </a:lnSpc>
              <a:spcBef>
                <a:spcPts val="600"/>
              </a:spcBef>
              <a:buNone/>
            </a:pPr>
            <a:r>
              <a:rPr lang="en-US" sz="1800" b="1" dirty="0">
                <a:latin typeface="Courier New" panose="02070309020205020404" pitchFamily="49" charset="0"/>
                <a:cs typeface="Courier New" panose="02070309020205020404" pitchFamily="49" charset="0"/>
              </a:rPr>
              <a:t>cin &gt;&gt; variable;     </a:t>
            </a:r>
            <a:r>
              <a:rPr lang="en-US" sz="1800" b="1" dirty="0">
                <a:solidFill>
                  <a:srgbClr val="00A589"/>
                </a:solidFill>
                <a:latin typeface="Courier New" panose="02070309020205020404" pitchFamily="49" charset="0"/>
                <a:cs typeface="Courier New" panose="02070309020205020404" pitchFamily="49" charset="0"/>
              </a:rPr>
              <a:t>//initialize the loop control variable</a:t>
            </a:r>
          </a:p>
          <a:p>
            <a:pPr marL="231775" indent="0">
              <a:lnSpc>
                <a:spcPct val="100000"/>
              </a:lnSpc>
              <a:spcBef>
                <a:spcPts val="0"/>
              </a:spcBef>
              <a:buNone/>
            </a:pPr>
            <a:r>
              <a:rPr lang="en-US" sz="1800" b="1" dirty="0">
                <a:solidFill>
                  <a:srgbClr val="638DAD"/>
                </a:solidFill>
                <a:latin typeface="Courier New" panose="02070309020205020404" pitchFamily="49" charset="0"/>
                <a:cs typeface="Courier New" panose="02070309020205020404" pitchFamily="49" charset="0"/>
              </a:rPr>
              <a:t>while</a:t>
            </a:r>
            <a:r>
              <a:rPr lang="en-US" sz="1800" b="1" dirty="0">
                <a:latin typeface="Courier New" panose="02070309020205020404" pitchFamily="49" charset="0"/>
                <a:cs typeface="Courier New" panose="02070309020205020404" pitchFamily="49" charset="0"/>
              </a:rPr>
              <a:t> (variable !=</a:t>
            </a:r>
            <a:r>
              <a:rPr lang="en-US" sz="1800" dirty="0">
                <a:latin typeface="Courier New" panose="02070309020205020404" pitchFamily="49" charset="0"/>
                <a:cs typeface="Courier New" panose="02070309020205020404" pitchFamily="49" charset="0"/>
              </a:rPr>
              <a:t> </a:t>
            </a:r>
            <a:r>
              <a:rPr lang="en-US" sz="1800" b="1" dirty="0">
                <a:latin typeface="Courier New" panose="02070309020205020404" pitchFamily="49" charset="0"/>
                <a:cs typeface="Courier New" panose="02070309020205020404" pitchFamily="49" charset="0"/>
              </a:rPr>
              <a:t>sentinel) </a:t>
            </a:r>
            <a:r>
              <a:rPr lang="en-US" sz="1800" b="1" dirty="0">
                <a:solidFill>
                  <a:srgbClr val="00A589"/>
                </a:solidFill>
                <a:latin typeface="Courier New" panose="02070309020205020404" pitchFamily="49" charset="0"/>
                <a:cs typeface="Courier New" panose="02070309020205020404" pitchFamily="49" charset="0"/>
              </a:rPr>
              <a:t>//test the loop control</a:t>
            </a:r>
            <a:r>
              <a:rPr lang="en-US" sz="1800" b="1" dirty="0">
                <a:latin typeface="Courier New" panose="02070309020205020404" pitchFamily="49" charset="0"/>
                <a:cs typeface="Courier New" panose="02070309020205020404" pitchFamily="49" charset="0"/>
              </a:rPr>
              <a:t> variable</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cin &gt;&gt; variable; </a:t>
            </a:r>
            <a:r>
              <a:rPr lang="en-US" sz="1800" b="1" dirty="0">
                <a:solidFill>
                  <a:srgbClr val="00A589"/>
                </a:solidFill>
                <a:latin typeface="Courier New" panose="02070309020205020404" pitchFamily="49" charset="0"/>
                <a:cs typeface="Courier New" panose="02070309020205020404" pitchFamily="49" charset="0"/>
              </a:rPr>
              <a:t>//update the loop control variable</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    .</a:t>
            </a:r>
          </a:p>
          <a:p>
            <a:pPr marL="231775" indent="0">
              <a:lnSpc>
                <a:spcPct val="100000"/>
              </a:lnSpc>
              <a:spcBef>
                <a:spcPts val="0"/>
              </a:spcBef>
              <a:buNone/>
            </a:pPr>
            <a:r>
              <a:rPr lang="en-US" sz="1800" b="1" dirty="0">
                <a:latin typeface="Courier New" panose="02070309020205020404" pitchFamily="49" charset="0"/>
                <a:cs typeface="Courier New" panose="02070309020205020404" pitchFamily="49" charset="0"/>
              </a:rPr>
              <a:t>}</a:t>
            </a:r>
            <a:endParaRPr lang="en-US" altLang="en-US" sz="1800" dirty="0">
              <a:latin typeface="Courier New" panose="02070309020205020404" pitchFamily="49" charset="0"/>
              <a:cs typeface="Courier New" panose="02070309020205020404" pitchFamily="49" charset="0"/>
            </a:endParaRPr>
          </a:p>
          <a:p>
            <a:endParaRPr lang="en-US" altLang="en-US" dirty="0"/>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en-US" altLang="en-US" dirty="0">
                <a:latin typeface="Courier New" pitchFamily="49" charset="0"/>
                <a:cs typeface="Courier New" pitchFamily="49" charset="0"/>
              </a:rPr>
              <a:t>for</a:t>
            </a:r>
            <a:r>
              <a:rPr lang="en-US" altLang="en-US" dirty="0"/>
              <a:t> Looping (Repetition) Structure (1 of 7)</a:t>
            </a:r>
          </a:p>
        </p:txBody>
      </p:sp>
      <p:sp>
        <p:nvSpPr>
          <p:cNvPr id="34819" name="Rectangle 3"/>
          <p:cNvSpPr>
            <a:spLocks noGrp="1" noChangeArrowheads="1"/>
          </p:cNvSpPr>
          <p:nvPr>
            <p:ph idx="1"/>
          </p:nvPr>
        </p:nvSpPr>
        <p:spPr>
          <a:xfrm>
            <a:off x="365125" y="1538818"/>
            <a:ext cx="8415338" cy="738664"/>
          </a:xfrm>
        </p:spPr>
        <p:txBody>
          <a:bodyPr rtlCol="0"/>
          <a:lstStyle/>
          <a:p>
            <a:pPr fontAlgn="auto">
              <a:spcAft>
                <a:spcPts val="0"/>
              </a:spcAft>
              <a:buFont typeface="Arial" pitchFamily="34" charset="0"/>
              <a:buChar char="•"/>
              <a:defRPr/>
            </a:pPr>
            <a:r>
              <a:rPr lang="en-US" b="1" dirty="0">
                <a:solidFill>
                  <a:srgbClr val="638DAD"/>
                </a:solidFill>
                <a:latin typeface="Courier New" pitchFamily="49" charset="0"/>
                <a:cs typeface="Courier New" pitchFamily="49" charset="0"/>
              </a:rPr>
              <a:t>for</a:t>
            </a:r>
            <a:r>
              <a:rPr lang="en-US" dirty="0">
                <a:solidFill>
                  <a:schemeClr val="tx1">
                    <a:lumMod val="75000"/>
                    <a:lumOff val="25000"/>
                  </a:schemeClr>
                </a:solidFill>
              </a:rPr>
              <a:t> loop: called a counted or indexed </a:t>
            </a:r>
            <a:r>
              <a:rPr lang="en-US" b="1" dirty="0">
                <a:solidFill>
                  <a:srgbClr val="638DAD"/>
                </a:solidFill>
                <a:latin typeface="Courier New" pitchFamily="49" charset="0"/>
                <a:cs typeface="Courier New" pitchFamily="49" charset="0"/>
              </a:rPr>
              <a:t>for</a:t>
            </a:r>
            <a:r>
              <a:rPr lang="en-US" dirty="0">
                <a:solidFill>
                  <a:schemeClr val="tx1">
                    <a:lumMod val="75000"/>
                    <a:lumOff val="25000"/>
                  </a:schemeClr>
                </a:solidFill>
              </a:rPr>
              <a:t> loop</a:t>
            </a:r>
          </a:p>
          <a:p>
            <a:pPr fontAlgn="auto">
              <a:spcAft>
                <a:spcPts val="0"/>
              </a:spcAft>
              <a:buFont typeface="Arial" pitchFamily="34" charset="0"/>
              <a:buChar char="•"/>
              <a:defRPr/>
            </a:pPr>
            <a:r>
              <a:rPr lang="en-US" dirty="0">
                <a:solidFill>
                  <a:schemeClr val="tx1">
                    <a:lumMod val="75000"/>
                    <a:lumOff val="25000"/>
                  </a:schemeClr>
                </a:solidFill>
              </a:rPr>
              <a:t>Syntax of the </a:t>
            </a:r>
            <a:r>
              <a:rPr lang="en-US" b="1" dirty="0">
                <a:solidFill>
                  <a:srgbClr val="638DAD"/>
                </a:solidFill>
                <a:latin typeface="Courier New" pitchFamily="49" charset="0"/>
                <a:cs typeface="Courier New" pitchFamily="49" charset="0"/>
              </a:rPr>
              <a:t>for</a:t>
            </a:r>
            <a:r>
              <a:rPr lang="en-US" dirty="0">
                <a:solidFill>
                  <a:schemeClr val="tx1">
                    <a:lumMod val="75000"/>
                    <a:lumOff val="25000"/>
                  </a:schemeClr>
                </a:solidFill>
              </a:rPr>
              <a:t> statement</a:t>
            </a:r>
          </a:p>
        </p:txBody>
      </p:sp>
      <p:sp>
        <p:nvSpPr>
          <p:cNvPr id="3" name="Content Placeholder 2"/>
          <p:cNvSpPr>
            <a:spLocks noGrp="1"/>
          </p:cNvSpPr>
          <p:nvPr>
            <p:ph idx="11"/>
          </p:nvPr>
        </p:nvSpPr>
        <p:spPr>
          <a:xfrm>
            <a:off x="365125" y="3352801"/>
            <a:ext cx="8415338" cy="584775"/>
          </a:xfrm>
        </p:spPr>
        <p:txBody>
          <a:bodyPr/>
          <a:lstStyle/>
          <a:p>
            <a:r>
              <a:rPr lang="en-US" dirty="0">
                <a:solidFill>
                  <a:schemeClr val="tx1">
                    <a:lumMod val="75000"/>
                    <a:lumOff val="25000"/>
                  </a:schemeClr>
                </a:solidFill>
              </a:rPr>
              <a:t>The </a:t>
            </a:r>
            <a:r>
              <a:rPr lang="en-US" b="1" dirty="0">
                <a:solidFill>
                  <a:schemeClr val="tx1">
                    <a:lumMod val="75000"/>
                    <a:lumOff val="25000"/>
                  </a:schemeClr>
                </a:solidFill>
                <a:latin typeface="Courier New" pitchFamily="49" charset="0"/>
                <a:cs typeface="Courier New" pitchFamily="49" charset="0"/>
              </a:rPr>
              <a:t>initial</a:t>
            </a:r>
            <a:r>
              <a:rPr lang="en-US" b="1" dirty="0">
                <a:solidFill>
                  <a:schemeClr val="tx1">
                    <a:lumMod val="75000"/>
                    <a:lumOff val="25000"/>
                  </a:schemeClr>
                </a:solidFill>
              </a:rPr>
              <a:t> </a:t>
            </a:r>
            <a:r>
              <a:rPr lang="en-US" b="1" dirty="0">
                <a:solidFill>
                  <a:schemeClr val="tx1">
                    <a:lumMod val="75000"/>
                    <a:lumOff val="25000"/>
                  </a:schemeClr>
                </a:solidFill>
                <a:latin typeface="Courier New" pitchFamily="49" charset="0"/>
                <a:cs typeface="Courier New" pitchFamily="49" charset="0"/>
              </a:rPr>
              <a:t>statement</a:t>
            </a:r>
            <a:r>
              <a:rPr lang="en-US" dirty="0">
                <a:solidFill>
                  <a:schemeClr val="tx1">
                    <a:lumMod val="75000"/>
                    <a:lumOff val="25000"/>
                  </a:schemeClr>
                </a:solidFill>
              </a:rPr>
              <a:t>, </a:t>
            </a:r>
            <a:r>
              <a:rPr lang="en-US" b="1" dirty="0">
                <a:solidFill>
                  <a:schemeClr val="tx1">
                    <a:lumMod val="75000"/>
                    <a:lumOff val="25000"/>
                  </a:schemeClr>
                </a:solidFill>
                <a:latin typeface="Courier New" pitchFamily="49" charset="0"/>
                <a:cs typeface="Courier New" pitchFamily="49" charset="0"/>
              </a:rPr>
              <a:t>loop</a:t>
            </a:r>
            <a:r>
              <a:rPr lang="en-US" b="1" dirty="0">
                <a:solidFill>
                  <a:schemeClr val="tx1">
                    <a:lumMod val="75000"/>
                    <a:lumOff val="25000"/>
                  </a:schemeClr>
                </a:solidFill>
              </a:rPr>
              <a:t> </a:t>
            </a:r>
            <a:r>
              <a:rPr lang="en-US" b="1" dirty="0">
                <a:solidFill>
                  <a:schemeClr val="tx1">
                    <a:lumMod val="75000"/>
                    <a:lumOff val="25000"/>
                  </a:schemeClr>
                </a:solidFill>
                <a:latin typeface="Courier New" pitchFamily="49" charset="0"/>
                <a:cs typeface="Courier New" pitchFamily="49" charset="0"/>
              </a:rPr>
              <a:t>condition</a:t>
            </a:r>
            <a:r>
              <a:rPr lang="en-US" dirty="0">
                <a:solidFill>
                  <a:schemeClr val="tx1">
                    <a:lumMod val="75000"/>
                    <a:lumOff val="25000"/>
                  </a:schemeClr>
                </a:solidFill>
              </a:rPr>
              <a:t>, and </a:t>
            </a:r>
            <a:r>
              <a:rPr lang="en-US" b="1" dirty="0">
                <a:solidFill>
                  <a:schemeClr val="tx1">
                    <a:lumMod val="75000"/>
                    <a:lumOff val="25000"/>
                  </a:schemeClr>
                </a:solidFill>
                <a:latin typeface="Courier New" pitchFamily="49" charset="0"/>
                <a:cs typeface="Courier New" pitchFamily="49" charset="0"/>
              </a:rPr>
              <a:t>update</a:t>
            </a:r>
            <a:r>
              <a:rPr lang="en-US" b="1" dirty="0">
                <a:solidFill>
                  <a:schemeClr val="tx1">
                    <a:lumMod val="75000"/>
                    <a:lumOff val="25000"/>
                  </a:schemeClr>
                </a:solidFill>
              </a:rPr>
              <a:t> </a:t>
            </a:r>
            <a:r>
              <a:rPr lang="en-US" b="1" dirty="0">
                <a:solidFill>
                  <a:schemeClr val="tx1">
                    <a:lumMod val="75000"/>
                    <a:lumOff val="25000"/>
                  </a:schemeClr>
                </a:solidFill>
                <a:latin typeface="Courier New" pitchFamily="49" charset="0"/>
                <a:cs typeface="Courier New" pitchFamily="49" charset="0"/>
              </a:rPr>
              <a:t>statement</a:t>
            </a:r>
            <a:r>
              <a:rPr lang="en-US" b="1" dirty="0">
                <a:solidFill>
                  <a:schemeClr val="tx1">
                    <a:lumMod val="75000"/>
                    <a:lumOff val="25000"/>
                  </a:schemeClr>
                </a:solidFill>
              </a:rPr>
              <a:t> </a:t>
            </a:r>
            <a:r>
              <a:rPr lang="en-US" dirty="0">
                <a:solidFill>
                  <a:schemeClr val="tx1">
                    <a:lumMod val="75000"/>
                    <a:lumOff val="25000"/>
                  </a:schemeClr>
                </a:solidFill>
              </a:rPr>
              <a:t>are called </a:t>
            </a:r>
            <a:r>
              <a:rPr lang="en-US" b="1" dirty="0">
                <a:solidFill>
                  <a:srgbClr val="638DAD"/>
                </a:solidFill>
                <a:latin typeface="Courier New" pitchFamily="49" charset="0"/>
                <a:cs typeface="Courier New" pitchFamily="49" charset="0"/>
              </a:rPr>
              <a:t>for</a:t>
            </a:r>
            <a:r>
              <a:rPr lang="en-US" dirty="0">
                <a:solidFill>
                  <a:schemeClr val="tx1">
                    <a:lumMod val="75000"/>
                    <a:lumOff val="25000"/>
                  </a:schemeClr>
                </a:solidFill>
              </a:rPr>
              <a:t> loop control statements</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40966" name="Picture 6" descr="for (initial statement; loop condition; update statement)&#10;    stat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438400"/>
            <a:ext cx="7372350" cy="73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title"/>
          </p:nvPr>
        </p:nvSpPr>
        <p:spPr>
          <a:xfrm>
            <a:off x="762000" y="410490"/>
            <a:ext cx="8026400" cy="287771"/>
          </a:xfrm>
        </p:spPr>
        <p:txBody>
          <a:bodyPr/>
          <a:lstStyle/>
          <a:p>
            <a:r>
              <a:rPr lang="en-US" altLang="en-US" dirty="0">
                <a:latin typeface="Courier New" pitchFamily="49" charset="0"/>
                <a:cs typeface="Courier New" pitchFamily="49" charset="0"/>
              </a:rPr>
              <a:t>for</a:t>
            </a:r>
            <a:r>
              <a:rPr lang="en-US" altLang="en-US" dirty="0"/>
              <a:t> Looping (Repetition) Structure (2 of 7)</a:t>
            </a:r>
          </a:p>
        </p:txBody>
      </p:sp>
      <p:sp>
        <p:nvSpPr>
          <p:cNvPr id="3" name="Text Placeholder 2"/>
          <p:cNvSpPr>
            <a:spLocks noGrp="1"/>
          </p:cNvSpPr>
          <p:nvPr>
            <p:ph type="body" sz="quarter" idx="11"/>
          </p:nvPr>
        </p:nvSpPr>
        <p:spPr>
          <a:xfrm>
            <a:off x="1382110" y="4934394"/>
            <a:ext cx="6949440" cy="297004"/>
          </a:xfrm>
        </p:spPr>
        <p:txBody>
          <a:bodyPr/>
          <a:lstStyle/>
          <a:p>
            <a:r>
              <a:rPr lang="en-US" b="1" dirty="0"/>
              <a:t>FIGURE 5-2 </a:t>
            </a:r>
            <a:r>
              <a:rPr lang="en-US" b="1" dirty="0">
                <a:solidFill>
                  <a:srgbClr val="638DAD"/>
                </a:solidFill>
                <a:latin typeface="Courier New" panose="02070309020205020404" pitchFamily="49" charset="0"/>
                <a:cs typeface="Courier New" panose="02070309020205020404" pitchFamily="49" charset="0"/>
              </a:rPr>
              <a:t>for</a:t>
            </a:r>
            <a:r>
              <a:rPr lang="en-US" b="1" dirty="0">
                <a:solidFill>
                  <a:srgbClr val="638DAD"/>
                </a:solidFill>
              </a:rPr>
              <a:t> </a:t>
            </a:r>
            <a:r>
              <a:rPr lang="en-US" dirty="0"/>
              <a:t>loop</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41991" name="Picture 7" descr="Figure 5-2 shows the flow of execution of a for l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524000"/>
            <a:ext cx="6400800" cy="34051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9"/>
          <p:cNvSpPr>
            <a:spLocks noGrp="1" noChangeArrowheads="1"/>
          </p:cNvSpPr>
          <p:nvPr>
            <p:ph type="title"/>
          </p:nvPr>
        </p:nvSpPr>
        <p:spPr>
          <a:xfrm>
            <a:off x="762000" y="410490"/>
            <a:ext cx="8026400" cy="287771"/>
          </a:xfrm>
        </p:spPr>
        <p:txBody>
          <a:bodyPr/>
          <a:lstStyle/>
          <a:p>
            <a:r>
              <a:rPr lang="en-US" altLang="en-US" dirty="0">
                <a:latin typeface="Courier New" pitchFamily="49" charset="0"/>
                <a:cs typeface="Courier New" pitchFamily="49" charset="0"/>
              </a:rPr>
              <a:t>for</a:t>
            </a:r>
            <a:r>
              <a:rPr lang="en-US" altLang="en-US" dirty="0"/>
              <a:t> Looping (Repetition) Structure (3 of 7)</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43013" name="Picture 5" descr="Example 5-9 illustrates a for loop that prints the first 10 nonnegative integers:&#10;for (i = 0; i &lt; 10; i++)&#10;    cout &lt;&lt; i &lt;&lt; &quot; &quot;;&#10;    cout &lt;&lt; endl;&#10;&#10;The initial statement, i = 0;, initializes the int variable i to 0. Next, the loop condition, i &lt; 10, is evaluated. Because 0 &lt; 10 is true, the print statement executes and outputs 0. The update statement, i++, then executes, which sets the value of i to 1. Once again, the loop condition is evaluated, which is still true, and so on. When i becomes 10, the loop condition evaluates to false, the for loop terminates, and the first statement following the for loop execu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476375"/>
            <a:ext cx="6400800" cy="29354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9"/>
          <p:cNvSpPr>
            <a:spLocks noGrp="1" noChangeArrowheads="1"/>
          </p:cNvSpPr>
          <p:nvPr>
            <p:ph type="title"/>
          </p:nvPr>
        </p:nvSpPr>
        <p:spPr>
          <a:xfrm>
            <a:off x="762000" y="410490"/>
            <a:ext cx="8026400" cy="287771"/>
          </a:xfrm>
        </p:spPr>
        <p:txBody>
          <a:bodyPr/>
          <a:lstStyle/>
          <a:p>
            <a:r>
              <a:rPr lang="en-US" altLang="en-US" dirty="0">
                <a:latin typeface="Courier New" pitchFamily="49" charset="0"/>
                <a:cs typeface="Courier New" pitchFamily="49" charset="0"/>
              </a:rPr>
              <a:t>for</a:t>
            </a:r>
            <a:r>
              <a:rPr lang="en-US" altLang="en-US" dirty="0"/>
              <a:t> Looping (Repetition) Structure (4 of 7)</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44039" name="Picture 7" descr="Example 5-10 further illustrates how a for loop executes with two different examples:&#10;1.&#10;for (i = 1; i &lt;= 5; i++)&#10;{&#10;    cout &lt;&lt; &quot;Hello!&quot; &lt;&lt; endl;&#10;    cout &lt;&lt; &quot;*&quot; &lt;&lt; endl;&#10;}&#10;&#10;2.&#10;for (i = 1; i &lt;= 5; i++)&#10;    cout &lt;&lt; &quot;Hello!&quot; &lt;&lt; endl;&#10;    cout &lt;&lt; &quot;*&quot; &lt;&lt; end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418519"/>
            <a:ext cx="6400800" cy="43726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762000" y="410490"/>
            <a:ext cx="8026400" cy="287771"/>
          </a:xfrm>
        </p:spPr>
        <p:txBody>
          <a:bodyPr/>
          <a:lstStyle/>
          <a:p>
            <a:r>
              <a:rPr lang="en-US" altLang="en-US" smtClean="0">
                <a:latin typeface="Courier New" pitchFamily="49" charset="0"/>
                <a:cs typeface="Courier New" pitchFamily="49" charset="0"/>
              </a:rPr>
              <a:t>for</a:t>
            </a:r>
            <a:r>
              <a:rPr lang="en-US" altLang="en-US" smtClean="0"/>
              <a:t> Looping (Repetition) Structure (5 of 7)</a:t>
            </a:r>
            <a:endParaRPr lang="en-US" altLang="en-US" dirty="0"/>
          </a:p>
        </p:txBody>
      </p:sp>
      <p:sp>
        <p:nvSpPr>
          <p:cNvPr id="45058" name="Rectangle 3"/>
          <p:cNvSpPr>
            <a:spLocks noGrp="1" noChangeArrowheads="1"/>
          </p:cNvSpPr>
          <p:nvPr>
            <p:ph idx="1"/>
          </p:nvPr>
        </p:nvSpPr>
        <p:spPr>
          <a:xfrm>
            <a:off x="365125" y="1538818"/>
            <a:ext cx="8415338" cy="292388"/>
          </a:xfrm>
        </p:spPr>
        <p:txBody>
          <a:bodyPr/>
          <a:lstStyle/>
          <a:p>
            <a:r>
              <a:rPr lang="en-US" altLang="en-US" dirty="0" smtClean="0"/>
              <a:t>The following is a semantic error:</a:t>
            </a:r>
            <a:endParaRPr lang="en-US" altLang="en-US" dirty="0"/>
          </a:p>
        </p:txBody>
      </p:sp>
      <p:sp>
        <p:nvSpPr>
          <p:cNvPr id="3" name="Content Placeholder 2"/>
          <p:cNvSpPr>
            <a:spLocks noGrp="1"/>
          </p:cNvSpPr>
          <p:nvPr>
            <p:ph idx="11"/>
          </p:nvPr>
        </p:nvSpPr>
        <p:spPr>
          <a:xfrm>
            <a:off x="365125" y="4495800"/>
            <a:ext cx="8415338" cy="1031051"/>
          </a:xfrm>
        </p:spPr>
        <p:txBody>
          <a:bodyPr/>
          <a:lstStyle/>
          <a:p>
            <a:r>
              <a:rPr lang="en-US" altLang="en-US" smtClean="0"/>
              <a:t>The following is a legal (but infinite) </a:t>
            </a:r>
            <a:r>
              <a:rPr lang="en-US" altLang="en-US" smtClean="0">
                <a:latin typeface="Courier New" pitchFamily="49" charset="0"/>
                <a:cs typeface="Courier New" pitchFamily="49" charset="0"/>
              </a:rPr>
              <a:t>for</a:t>
            </a:r>
            <a:r>
              <a:rPr lang="en-US" altLang="en-US" smtClean="0"/>
              <a:t> loop:</a:t>
            </a:r>
          </a:p>
          <a:p>
            <a:pPr marL="457200" lvl="1" indent="0">
              <a:buNone/>
            </a:pPr>
            <a:r>
              <a:rPr lang="en-US" altLang="en-US" sz="2000" smtClean="0">
                <a:latin typeface="Courier New" pitchFamily="49" charset="0"/>
                <a:cs typeface="Courier New" pitchFamily="49" charset="0"/>
              </a:rPr>
              <a:t>	</a:t>
            </a:r>
            <a:r>
              <a:rPr lang="en-US" altLang="en-US" sz="2000" b="1" smtClean="0">
                <a:solidFill>
                  <a:srgbClr val="638DAD"/>
                </a:solidFill>
                <a:latin typeface="Courier New" pitchFamily="49" charset="0"/>
                <a:cs typeface="Courier New" pitchFamily="49" charset="0"/>
              </a:rPr>
              <a:t>for</a:t>
            </a:r>
            <a:r>
              <a:rPr lang="en-US" altLang="en-US" sz="2000" b="1" smtClean="0">
                <a:latin typeface="Courier New" pitchFamily="49" charset="0"/>
                <a:cs typeface="Courier New" pitchFamily="49" charset="0"/>
              </a:rPr>
              <a:t> (;;)</a:t>
            </a:r>
          </a:p>
          <a:p>
            <a:pPr marL="457200" lvl="1" indent="0">
              <a:buNone/>
            </a:pPr>
            <a:r>
              <a:rPr lang="en-US" altLang="en-US" sz="2000" b="1" smtClean="0">
                <a:latin typeface="Courier New" pitchFamily="49" charset="0"/>
                <a:cs typeface="Courier New" pitchFamily="49" charset="0"/>
              </a:rPr>
              <a:t>      cout &lt;&lt; "Hello" &lt;&lt; endl;</a:t>
            </a:r>
            <a:endParaRPr lang="en-US" altLang="en-US" sz="2000" b="1" dirty="0">
              <a:latin typeface="Courier New" pitchFamily="49" charset="0"/>
              <a:cs typeface="Courier New" pitchFamily="49" charset="0"/>
            </a:endParaRPr>
          </a:p>
        </p:txBody>
      </p:sp>
      <p:sp>
        <p:nvSpPr>
          <p:cNvPr id="2" name="Footer Placeholder 1"/>
          <p:cNvSpPr>
            <a:spLocks noGrp="1"/>
          </p:cNvSpPr>
          <p:nvPr>
            <p:ph type="ftr" sz="quarter" idx="10"/>
          </p:nvPr>
        </p:nvSpPr>
        <p:spPr/>
        <p:txBody>
          <a:body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pic>
        <p:nvPicPr>
          <p:cNvPr id="45062" name="Picture 6" descr="Example 5-11 illustrates a for loop with a semantic error—a semicolon at the for loop statement (before the output stat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000251"/>
            <a:ext cx="6400800" cy="214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762000" y="410490"/>
            <a:ext cx="8026400" cy="287771"/>
          </a:xfrm>
        </p:spPr>
        <p:txBody>
          <a:bodyPr/>
          <a:lstStyle/>
          <a:p>
            <a:r>
              <a:rPr lang="en-US" altLang="en-US" dirty="0">
                <a:latin typeface="Courier New" pitchFamily="49" charset="0"/>
                <a:cs typeface="Courier New" pitchFamily="49" charset="0"/>
              </a:rPr>
              <a:t>for</a:t>
            </a:r>
            <a:r>
              <a:rPr lang="en-US" altLang="en-US" dirty="0"/>
              <a:t> Looping (Repetition) Structure (6 of 7)</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46087" name="Picture 7" descr="Example 5-12 shows that ou can count backward using a for loop if the for loop control expressions are set correctly.&#10;&#10;for (i = 10; i &gt;= 1; i--)&#10;     cout &lt;&lt; &quot; &quot; &lt;&lt; i;&#10;cout &lt;&lt; end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698842"/>
            <a:ext cx="6400800" cy="3254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762000" y="410490"/>
            <a:ext cx="8026400" cy="287771"/>
          </a:xfrm>
        </p:spPr>
        <p:txBody>
          <a:bodyPr/>
          <a:lstStyle/>
          <a:p>
            <a:r>
              <a:rPr lang="en-US" altLang="en-US" dirty="0">
                <a:latin typeface="Courier New" pitchFamily="49" charset="0"/>
                <a:cs typeface="Courier New" pitchFamily="49" charset="0"/>
              </a:rPr>
              <a:t>for</a:t>
            </a:r>
            <a:r>
              <a:rPr lang="en-US" altLang="en-US" dirty="0"/>
              <a:t> Looping (Repetition) Structure (7 of 7)</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47109" name="Picture 5" descr="Example 5-13 shows that you can increment (or decrement) the loop control variable by any fixed numb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700213"/>
            <a:ext cx="6400800" cy="26048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en-US" altLang="en-US" dirty="0">
                <a:latin typeface="Courier New" pitchFamily="49" charset="0"/>
                <a:cs typeface="Courier New" pitchFamily="49" charset="0"/>
              </a:rPr>
              <a:t>do…while</a:t>
            </a:r>
            <a:r>
              <a:rPr lang="en-US" altLang="en-US" dirty="0"/>
              <a:t> Looping (Repetition) Structure (1 of 6)</a:t>
            </a:r>
          </a:p>
        </p:txBody>
      </p:sp>
      <p:sp>
        <p:nvSpPr>
          <p:cNvPr id="39939" name="Rectangle 3"/>
          <p:cNvSpPr>
            <a:spLocks noGrp="1" noChangeArrowheads="1"/>
          </p:cNvSpPr>
          <p:nvPr>
            <p:ph idx="1"/>
          </p:nvPr>
        </p:nvSpPr>
        <p:spPr>
          <a:xfrm>
            <a:off x="365125" y="1538818"/>
            <a:ext cx="8415338" cy="296235"/>
          </a:xfrm>
        </p:spPr>
        <p:txBody>
          <a:bodyPr rtlCol="0"/>
          <a:lstStyle/>
          <a:p>
            <a:pPr fontAlgn="auto">
              <a:spcAft>
                <a:spcPts val="0"/>
              </a:spcAft>
              <a:buFont typeface="Arial" pitchFamily="34" charset="0"/>
              <a:buChar char="•"/>
              <a:defRPr/>
            </a:pPr>
            <a:r>
              <a:rPr lang="en-US" dirty="0">
                <a:solidFill>
                  <a:schemeClr val="tx1">
                    <a:lumMod val="75000"/>
                    <a:lumOff val="25000"/>
                  </a:schemeClr>
                </a:solidFill>
              </a:rPr>
              <a:t>Syntax of a </a:t>
            </a:r>
            <a:r>
              <a:rPr lang="en-US" b="1" dirty="0">
                <a:solidFill>
                  <a:srgbClr val="638DAD"/>
                </a:solidFill>
                <a:latin typeface="Courier New" pitchFamily="49" charset="0"/>
                <a:cs typeface="Courier New" pitchFamily="49" charset="0"/>
              </a:rPr>
              <a:t>do...while</a:t>
            </a:r>
            <a:r>
              <a:rPr lang="en-US" b="1" dirty="0">
                <a:solidFill>
                  <a:srgbClr val="638DAD"/>
                </a:solidFill>
              </a:rPr>
              <a:t> </a:t>
            </a:r>
            <a:r>
              <a:rPr lang="en-US" dirty="0">
                <a:solidFill>
                  <a:schemeClr val="tx1">
                    <a:lumMod val="75000"/>
                    <a:lumOff val="25000"/>
                  </a:schemeClr>
                </a:solidFill>
              </a:rPr>
              <a:t>loop</a:t>
            </a:r>
          </a:p>
        </p:txBody>
      </p:sp>
      <p:sp>
        <p:nvSpPr>
          <p:cNvPr id="3" name="Content Placeholder 2"/>
          <p:cNvSpPr>
            <a:spLocks noGrp="1"/>
          </p:cNvSpPr>
          <p:nvPr>
            <p:ph idx="11"/>
          </p:nvPr>
        </p:nvSpPr>
        <p:spPr>
          <a:xfrm>
            <a:off x="365125" y="3200401"/>
            <a:ext cx="8415338" cy="1817421"/>
          </a:xfrm>
        </p:spPr>
        <p:txBody>
          <a:bodyPr/>
          <a:lstStyle/>
          <a:p>
            <a:pPr fontAlgn="auto">
              <a:spcAft>
                <a:spcPts val="0"/>
              </a:spcAft>
              <a:buFont typeface="Arial" pitchFamily="34" charset="0"/>
              <a:buChar char="•"/>
              <a:defRPr/>
            </a:pPr>
            <a:r>
              <a:rPr lang="en-US" dirty="0">
                <a:solidFill>
                  <a:schemeClr val="tx1">
                    <a:lumMod val="75000"/>
                    <a:lumOff val="25000"/>
                  </a:schemeClr>
                </a:solidFill>
              </a:rPr>
              <a:t>The </a:t>
            </a:r>
            <a:r>
              <a:rPr lang="en-US" b="1" dirty="0">
                <a:solidFill>
                  <a:schemeClr val="tx1">
                    <a:lumMod val="75000"/>
                    <a:lumOff val="25000"/>
                  </a:schemeClr>
                </a:solidFill>
                <a:latin typeface="Courier New" pitchFamily="49" charset="0"/>
                <a:cs typeface="Courier New" pitchFamily="49" charset="0"/>
              </a:rPr>
              <a:t>statement</a:t>
            </a:r>
            <a:r>
              <a:rPr lang="en-US" dirty="0">
                <a:solidFill>
                  <a:schemeClr val="tx1">
                    <a:lumMod val="75000"/>
                    <a:lumOff val="25000"/>
                  </a:schemeClr>
                </a:solidFill>
              </a:rPr>
              <a:t> executes first, and then the </a:t>
            </a:r>
            <a:r>
              <a:rPr lang="en-US" b="1" dirty="0">
                <a:solidFill>
                  <a:schemeClr val="tx1">
                    <a:lumMod val="75000"/>
                    <a:lumOff val="25000"/>
                  </a:schemeClr>
                </a:solidFill>
                <a:latin typeface="Courier New" pitchFamily="49" charset="0"/>
                <a:cs typeface="Courier New" pitchFamily="49" charset="0"/>
              </a:rPr>
              <a:t>expression</a:t>
            </a:r>
            <a:r>
              <a:rPr lang="en-US" dirty="0">
                <a:solidFill>
                  <a:schemeClr val="tx1">
                    <a:lumMod val="75000"/>
                    <a:lumOff val="25000"/>
                  </a:schemeClr>
                </a:solidFill>
              </a:rPr>
              <a:t> is evaluated </a:t>
            </a:r>
          </a:p>
          <a:p>
            <a:pPr lvl="1" fontAlgn="auto">
              <a:spcAft>
                <a:spcPts val="0"/>
              </a:spcAft>
              <a:buFont typeface="Arial" pitchFamily="34" charset="0"/>
              <a:buChar char="•"/>
              <a:defRPr/>
            </a:pPr>
            <a:r>
              <a:rPr lang="en-US" dirty="0">
                <a:solidFill>
                  <a:schemeClr val="tx1">
                    <a:lumMod val="75000"/>
                    <a:lumOff val="25000"/>
                  </a:schemeClr>
                </a:solidFill>
              </a:rPr>
              <a:t>As long as </a:t>
            </a:r>
            <a:r>
              <a:rPr lang="en-US" b="1" dirty="0">
                <a:solidFill>
                  <a:schemeClr val="tx1">
                    <a:lumMod val="75000"/>
                    <a:lumOff val="25000"/>
                  </a:schemeClr>
                </a:solidFill>
                <a:latin typeface="Courier New" pitchFamily="49" charset="0"/>
                <a:cs typeface="Courier New" pitchFamily="49" charset="0"/>
              </a:rPr>
              <a:t>expression</a:t>
            </a:r>
            <a:r>
              <a:rPr lang="en-US" dirty="0">
                <a:solidFill>
                  <a:schemeClr val="tx1">
                    <a:lumMod val="75000"/>
                    <a:lumOff val="25000"/>
                  </a:schemeClr>
                </a:solidFill>
              </a:rPr>
              <a:t> is </a:t>
            </a:r>
            <a:r>
              <a:rPr lang="en-US" b="1" dirty="0">
                <a:solidFill>
                  <a:srgbClr val="638DAD"/>
                </a:solidFill>
                <a:latin typeface="Courier New" panose="02070309020205020404" pitchFamily="49" charset="0"/>
                <a:cs typeface="Courier New" panose="02070309020205020404" pitchFamily="49" charset="0"/>
              </a:rPr>
              <a:t>true</a:t>
            </a:r>
            <a:r>
              <a:rPr lang="en-US" dirty="0">
                <a:solidFill>
                  <a:schemeClr val="tx1">
                    <a:lumMod val="75000"/>
                    <a:lumOff val="25000"/>
                  </a:schemeClr>
                </a:solidFill>
              </a:rPr>
              <a:t>, loop continues</a:t>
            </a:r>
          </a:p>
          <a:p>
            <a:pPr fontAlgn="auto">
              <a:spcAft>
                <a:spcPts val="0"/>
              </a:spcAft>
              <a:buFont typeface="Arial" pitchFamily="34" charset="0"/>
              <a:buChar char="•"/>
              <a:defRPr/>
            </a:pPr>
            <a:r>
              <a:rPr lang="en-US" dirty="0">
                <a:solidFill>
                  <a:schemeClr val="tx1">
                    <a:lumMod val="75000"/>
                    <a:lumOff val="25000"/>
                  </a:schemeClr>
                </a:solidFill>
              </a:rPr>
              <a:t>To avoid an infinite loop, body must contain a statement that makes the </a:t>
            </a:r>
            <a:r>
              <a:rPr lang="en-US" b="1" dirty="0">
                <a:solidFill>
                  <a:schemeClr val="tx1">
                    <a:lumMod val="75000"/>
                    <a:lumOff val="25000"/>
                  </a:schemeClr>
                </a:solidFill>
                <a:latin typeface="Courier New" pitchFamily="49" charset="0"/>
                <a:cs typeface="Courier New" pitchFamily="49" charset="0"/>
              </a:rPr>
              <a:t>expression</a:t>
            </a:r>
            <a:r>
              <a:rPr lang="en-US" dirty="0">
                <a:solidFill>
                  <a:schemeClr val="tx1">
                    <a:lumMod val="75000"/>
                    <a:lumOff val="25000"/>
                  </a:schemeClr>
                </a:solidFill>
              </a:rPr>
              <a:t> </a:t>
            </a:r>
            <a:r>
              <a:rPr lang="en-US" b="1" dirty="0">
                <a:solidFill>
                  <a:srgbClr val="638DAD"/>
                </a:solidFill>
                <a:latin typeface="Courier New" panose="02070309020205020404" pitchFamily="49" charset="0"/>
                <a:cs typeface="Courier New" panose="02070309020205020404" pitchFamily="49" charset="0"/>
              </a:rPr>
              <a:t>false</a:t>
            </a:r>
          </a:p>
          <a:p>
            <a:endParaRPr lang="en-US" dirty="0"/>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48134" name="Picture 6" descr="do&#10;    statement&#10;while (express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71675"/>
            <a:ext cx="2743200" cy="97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762000" y="410490"/>
            <a:ext cx="8026400" cy="287771"/>
          </a:xfrm>
        </p:spPr>
        <p:txBody>
          <a:bodyPr/>
          <a:lstStyle/>
          <a:p>
            <a:r>
              <a:rPr lang="en-US" altLang="en-US" dirty="0">
                <a:latin typeface="Courier New" pitchFamily="49" charset="0"/>
                <a:cs typeface="Courier New" pitchFamily="49" charset="0"/>
              </a:rPr>
              <a:t>do…while</a:t>
            </a:r>
            <a:r>
              <a:rPr lang="en-US" altLang="en-US" dirty="0"/>
              <a:t> Looping (Repetition) Structure (2 of 6)</a:t>
            </a:r>
          </a:p>
        </p:txBody>
      </p:sp>
      <p:sp>
        <p:nvSpPr>
          <p:cNvPr id="49154" name="Rectangle 3"/>
          <p:cNvSpPr>
            <a:spLocks noGrp="1" noChangeArrowheads="1"/>
          </p:cNvSpPr>
          <p:nvPr>
            <p:ph idx="1"/>
          </p:nvPr>
        </p:nvSpPr>
        <p:spPr/>
        <p:txBody>
          <a:bodyPr/>
          <a:lstStyle/>
          <a:p>
            <a:r>
              <a:rPr lang="en-US" altLang="en-US" dirty="0"/>
              <a:t>The statement can be simple or compound</a:t>
            </a:r>
          </a:p>
          <a:p>
            <a:r>
              <a:rPr lang="en-US" altLang="en-US" dirty="0"/>
              <a:t>Loop always iterates at least once</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p:nvPr>
        </p:nvSpPr>
        <p:spPr>
          <a:xfrm>
            <a:off x="762000" y="410490"/>
            <a:ext cx="8026400" cy="287771"/>
          </a:xfrm>
        </p:spPr>
        <p:txBody>
          <a:bodyPr/>
          <a:lstStyle/>
          <a:p>
            <a:r>
              <a:rPr lang="en-US" altLang="en-US" dirty="0">
                <a:latin typeface="Courier New" pitchFamily="49" charset="0"/>
                <a:cs typeface="Courier New" pitchFamily="49" charset="0"/>
              </a:rPr>
              <a:t>do…while</a:t>
            </a:r>
            <a:r>
              <a:rPr lang="en-US" altLang="en-US" dirty="0"/>
              <a:t> Looping (Repetition) Structure (3 of 6)</a:t>
            </a:r>
          </a:p>
        </p:txBody>
      </p:sp>
      <p:sp>
        <p:nvSpPr>
          <p:cNvPr id="3" name="Text Placeholder 2"/>
          <p:cNvSpPr>
            <a:spLocks noGrp="1"/>
          </p:cNvSpPr>
          <p:nvPr>
            <p:ph type="body" sz="quarter" idx="11"/>
          </p:nvPr>
        </p:nvSpPr>
        <p:spPr>
          <a:xfrm>
            <a:off x="1371600" y="5060383"/>
            <a:ext cx="6400800" cy="297004"/>
          </a:xfrm>
        </p:spPr>
        <p:txBody>
          <a:bodyPr/>
          <a:lstStyle/>
          <a:p>
            <a:r>
              <a:rPr lang="en-US" b="1" dirty="0"/>
              <a:t>FIGURE 5-3</a:t>
            </a:r>
            <a:r>
              <a:rPr lang="en-US" b="1" dirty="0">
                <a:latin typeface="Courier New" panose="02070309020205020404" pitchFamily="49" charset="0"/>
                <a:cs typeface="Courier New" panose="02070309020205020404" pitchFamily="49" charset="0"/>
              </a:rPr>
              <a:t> </a:t>
            </a:r>
            <a:r>
              <a:rPr lang="en-US" b="1" dirty="0">
                <a:solidFill>
                  <a:srgbClr val="638DAD"/>
                </a:solidFill>
                <a:latin typeface="Courier New" panose="02070309020205020404" pitchFamily="49" charset="0"/>
                <a:cs typeface="Courier New" panose="02070309020205020404" pitchFamily="49" charset="0"/>
              </a:rPr>
              <a:t>do</a:t>
            </a:r>
            <a:r>
              <a:rPr lang="en-US" dirty="0">
                <a:solidFill>
                  <a:srgbClr val="638DAD"/>
                </a:solidFill>
                <a:latin typeface="Courier New" panose="02070309020205020404" pitchFamily="49" charset="0"/>
                <a:cs typeface="Courier New" panose="02070309020205020404" pitchFamily="49" charset="0"/>
              </a:rPr>
              <a:t>. . .</a:t>
            </a:r>
            <a:r>
              <a:rPr lang="en-US" b="1" dirty="0">
                <a:solidFill>
                  <a:srgbClr val="638DAD"/>
                </a:solidFill>
                <a:latin typeface="Courier New" panose="02070309020205020404" pitchFamily="49" charset="0"/>
                <a:cs typeface="Courier New" panose="02070309020205020404" pitchFamily="49" charset="0"/>
              </a:rPr>
              <a:t>while</a:t>
            </a:r>
            <a:r>
              <a:rPr lang="en-US" dirty="0"/>
              <a:t> loop</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50183" name="Picture 7" descr="Figure 5-3 shows the flow of execution of a do. . .while l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735095"/>
            <a:ext cx="6400800" cy="32941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p:cNvSpPr>
            <a:spLocks noGrp="1" noChangeArrowheads="1"/>
          </p:cNvSpPr>
          <p:nvPr>
            <p:ph type="title"/>
          </p:nvPr>
        </p:nvSpPr>
        <p:spPr/>
        <p:txBody>
          <a:bodyPr/>
          <a:lstStyle/>
          <a:p>
            <a:r>
              <a:rPr lang="en-US" altLang="en-US" dirty="0">
                <a:latin typeface="Courier New" pitchFamily="49" charset="0"/>
                <a:cs typeface="Courier New" pitchFamily="49" charset="0"/>
              </a:rPr>
              <a:t>do…while</a:t>
            </a:r>
            <a:r>
              <a:rPr lang="en-US" altLang="en-US" dirty="0"/>
              <a:t> Looping (Repetition) Structure (4 of 6)</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51205" name="Picture 5" descr="Example 5-18 illustrates a do...while loop with a loop body containing a statement that ultimately makes the expression false and assures that the loop exits properl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0579" y="1600883"/>
            <a:ext cx="6400800" cy="35807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410490"/>
            <a:ext cx="8026400" cy="287771"/>
          </a:xfrm>
        </p:spPr>
        <p:txBody>
          <a:bodyPr/>
          <a:lstStyle/>
          <a:p>
            <a:r>
              <a:rPr lang="en-US" altLang="en-US" dirty="0">
                <a:latin typeface="Courier New" pitchFamily="49" charset="0"/>
                <a:cs typeface="Courier New" pitchFamily="49" charset="0"/>
              </a:rPr>
              <a:t>do…while</a:t>
            </a:r>
            <a:r>
              <a:rPr lang="en-US" altLang="en-US" dirty="0"/>
              <a:t> Looping (Repetition) Structure (5 of 6)</a:t>
            </a:r>
            <a:endParaRPr lang="en-US" dirty="0"/>
          </a:p>
        </p:txBody>
      </p:sp>
      <p:sp>
        <p:nvSpPr>
          <p:cNvPr id="2" name="Content Placeholder 1"/>
          <p:cNvSpPr>
            <a:spLocks noGrp="1"/>
          </p:cNvSpPr>
          <p:nvPr>
            <p:ph idx="1"/>
          </p:nvPr>
        </p:nvSpPr>
        <p:spPr>
          <a:xfrm>
            <a:off x="365125" y="1538288"/>
            <a:ext cx="8415338" cy="1865126"/>
          </a:xfrm>
        </p:spPr>
        <p:txBody>
          <a:bodyPr/>
          <a:lstStyle/>
          <a:p>
            <a:r>
              <a:rPr lang="en-US" dirty="0"/>
              <a:t>Note that </a:t>
            </a:r>
            <a:r>
              <a:rPr lang="en-US" b="1" dirty="0">
                <a:solidFill>
                  <a:srgbClr val="638DAD"/>
                </a:solidFill>
                <a:latin typeface="Courier New" panose="02070309020205020404" pitchFamily="49" charset="0"/>
                <a:cs typeface="Courier New" panose="02070309020205020404" pitchFamily="49" charset="0"/>
              </a:rPr>
              <a:t>while</a:t>
            </a:r>
            <a:r>
              <a:rPr lang="en-US" b="1" dirty="0"/>
              <a:t> </a:t>
            </a:r>
            <a:r>
              <a:rPr lang="en-US" dirty="0"/>
              <a:t>and </a:t>
            </a:r>
            <a:r>
              <a:rPr lang="en-US" b="1" dirty="0">
                <a:solidFill>
                  <a:srgbClr val="638DAD"/>
                </a:solidFill>
                <a:latin typeface="Courier New" panose="02070309020205020404" pitchFamily="49" charset="0"/>
                <a:cs typeface="Courier New" panose="02070309020205020404" pitchFamily="49" charset="0"/>
              </a:rPr>
              <a:t>for</a:t>
            </a:r>
            <a:r>
              <a:rPr lang="en-US" b="1" dirty="0"/>
              <a:t> </a:t>
            </a:r>
            <a:r>
              <a:rPr lang="en-US" dirty="0"/>
              <a:t>loops are </a:t>
            </a:r>
            <a:r>
              <a:rPr lang="en-US" u="sng" dirty="0"/>
              <a:t>pretest loops</a:t>
            </a:r>
            <a:endParaRPr lang="en-US" dirty="0"/>
          </a:p>
          <a:p>
            <a:pPr lvl="1"/>
            <a:r>
              <a:rPr lang="en-US" dirty="0"/>
              <a:t>It is possible that these loops many never activate due to entry conditions</a:t>
            </a:r>
          </a:p>
          <a:p>
            <a:r>
              <a:rPr lang="en-US" dirty="0"/>
              <a:t>In contrast, </a:t>
            </a:r>
            <a:r>
              <a:rPr lang="en-US" b="1" dirty="0">
                <a:solidFill>
                  <a:srgbClr val="638DAD"/>
                </a:solidFill>
                <a:latin typeface="Courier New" panose="02070309020205020404" pitchFamily="49" charset="0"/>
                <a:cs typeface="Courier New" panose="02070309020205020404" pitchFamily="49" charset="0"/>
              </a:rPr>
              <a:t>do</a:t>
            </a:r>
            <a:r>
              <a:rPr lang="en-US" dirty="0">
                <a:solidFill>
                  <a:srgbClr val="638DAD"/>
                </a:solidFill>
                <a:latin typeface="Courier New" panose="02070309020205020404" pitchFamily="49" charset="0"/>
                <a:cs typeface="Courier New" panose="02070309020205020404" pitchFamily="49" charset="0"/>
              </a:rPr>
              <a:t>. . .</a:t>
            </a:r>
            <a:r>
              <a:rPr lang="en-US" b="1" dirty="0">
                <a:solidFill>
                  <a:srgbClr val="638DAD"/>
                </a:solidFill>
                <a:latin typeface="Courier New" panose="02070309020205020404" pitchFamily="49" charset="0"/>
                <a:cs typeface="Courier New" panose="02070309020205020404" pitchFamily="49" charset="0"/>
              </a:rPr>
              <a:t>while </a:t>
            </a:r>
            <a:r>
              <a:rPr lang="en-US" dirty="0"/>
              <a:t>loops are </a:t>
            </a:r>
            <a:r>
              <a:rPr lang="en-US" u="sng" dirty="0"/>
              <a:t>posttest loops</a:t>
            </a:r>
          </a:p>
          <a:p>
            <a:pPr lvl="1"/>
            <a:r>
              <a:rPr lang="en-US" dirty="0"/>
              <a:t>These loops always execute at least once</a:t>
            </a:r>
          </a:p>
          <a:p>
            <a:endParaRPr lang="en-US" dirty="0"/>
          </a:p>
        </p:txBody>
      </p:sp>
      <p:sp>
        <p:nvSpPr>
          <p:cNvPr id="4" name="Footer Placeholder 3"/>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9577805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a:spLocks noGrp="1" noChangeArrowheads="1"/>
          </p:cNvSpPr>
          <p:nvPr>
            <p:ph type="title"/>
          </p:nvPr>
        </p:nvSpPr>
        <p:spPr>
          <a:xfrm>
            <a:off x="762000" y="410490"/>
            <a:ext cx="8026400" cy="287771"/>
          </a:xfrm>
        </p:spPr>
        <p:txBody>
          <a:bodyPr/>
          <a:lstStyle/>
          <a:p>
            <a:r>
              <a:rPr lang="en-US" altLang="en-US" dirty="0">
                <a:latin typeface="Courier New" pitchFamily="49" charset="0"/>
                <a:cs typeface="Courier New" pitchFamily="49" charset="0"/>
              </a:rPr>
              <a:t>do…while</a:t>
            </a:r>
            <a:r>
              <a:rPr lang="en-US" altLang="en-US" dirty="0"/>
              <a:t> Looping (Repetition) Structure (6 of 6)</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pic>
        <p:nvPicPr>
          <p:cNvPr id="52230" name="Picture 6" descr="Example 5-19 compares a while loop (pretest loop) to a do...while loop (posttest l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371600"/>
            <a:ext cx="6400800" cy="45515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r>
              <a:rPr lang="en-US" altLang="en-US" dirty="0"/>
              <a:t>Choosing the Right Looping Structure</a:t>
            </a:r>
          </a:p>
        </p:txBody>
      </p:sp>
      <p:sp>
        <p:nvSpPr>
          <p:cNvPr id="53250" name="Rectangle 3"/>
          <p:cNvSpPr>
            <a:spLocks noGrp="1" noChangeArrowheads="1"/>
          </p:cNvSpPr>
          <p:nvPr>
            <p:ph idx="1"/>
          </p:nvPr>
        </p:nvSpPr>
        <p:spPr/>
        <p:txBody>
          <a:bodyPr/>
          <a:lstStyle/>
          <a:p>
            <a:r>
              <a:rPr lang="en-US" altLang="en-US" dirty="0"/>
              <a:t>All three loops have their place in C++</a:t>
            </a:r>
          </a:p>
          <a:p>
            <a:pPr lvl="1"/>
            <a:r>
              <a:rPr lang="en-US" altLang="en-US" dirty="0"/>
              <a:t>If you can determine in advance the number of repetitions needed, the </a:t>
            </a:r>
            <a:r>
              <a:rPr lang="en-US" altLang="en-US" b="1" dirty="0">
                <a:solidFill>
                  <a:srgbClr val="638DAD"/>
                </a:solidFill>
                <a:latin typeface="Courier New" pitchFamily="49" charset="0"/>
                <a:cs typeface="Courier New" pitchFamily="49" charset="0"/>
              </a:rPr>
              <a:t>for</a:t>
            </a:r>
            <a:r>
              <a:rPr lang="en-US" altLang="en-US" dirty="0">
                <a:solidFill>
                  <a:srgbClr val="638DAD"/>
                </a:solidFill>
              </a:rPr>
              <a:t> </a:t>
            </a:r>
            <a:r>
              <a:rPr lang="en-US" altLang="en-US" dirty="0"/>
              <a:t>loop is the correct choice</a:t>
            </a:r>
          </a:p>
          <a:p>
            <a:pPr lvl="1"/>
            <a:r>
              <a:rPr lang="en-US" altLang="en-US" dirty="0"/>
              <a:t>If you do not know and cannot determine in advance the number of repetitions needed, and it could be zero, use a </a:t>
            </a:r>
            <a:r>
              <a:rPr lang="en-US" altLang="en-US" b="1" dirty="0">
                <a:solidFill>
                  <a:srgbClr val="638DAD"/>
                </a:solidFill>
                <a:latin typeface="Courier New" pitchFamily="49" charset="0"/>
                <a:cs typeface="Courier New" pitchFamily="49" charset="0"/>
              </a:rPr>
              <a:t>while</a:t>
            </a:r>
            <a:r>
              <a:rPr lang="en-US" altLang="en-US" dirty="0"/>
              <a:t> loop</a:t>
            </a:r>
          </a:p>
          <a:p>
            <a:pPr lvl="1"/>
            <a:r>
              <a:rPr lang="en-US" altLang="en-US" dirty="0"/>
              <a:t>If you do not know and cannot determine in advance the number of repetitions needed, and it is at least one, use a </a:t>
            </a:r>
            <a:r>
              <a:rPr lang="en-US" altLang="en-US" b="1" dirty="0">
                <a:solidFill>
                  <a:srgbClr val="638DAD"/>
                </a:solidFill>
                <a:latin typeface="Courier New" pitchFamily="49" charset="0"/>
                <a:cs typeface="Courier New" pitchFamily="49" charset="0"/>
              </a:rPr>
              <a:t>do...while </a:t>
            </a:r>
            <a:r>
              <a:rPr lang="en-US" altLang="en-US" dirty="0"/>
              <a:t>loop</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r>
              <a:rPr lang="en-US" altLang="en-US" dirty="0"/>
              <a:t>Nested Control Structures (1 of 2)</a:t>
            </a:r>
          </a:p>
        </p:txBody>
      </p:sp>
      <p:sp>
        <p:nvSpPr>
          <p:cNvPr id="48131" name="Rectangle 3"/>
          <p:cNvSpPr>
            <a:spLocks noGrp="1" noChangeArrowheads="1"/>
          </p:cNvSpPr>
          <p:nvPr>
            <p:ph idx="1"/>
          </p:nvPr>
        </p:nvSpPr>
        <p:spPr/>
        <p:txBody>
          <a:bodyPr rtlCol="0"/>
          <a:lstStyle/>
          <a:p>
            <a:pPr fontAlgn="auto">
              <a:spcAft>
                <a:spcPts val="0"/>
              </a:spcAft>
              <a:buFont typeface="Arial" pitchFamily="34" charset="0"/>
              <a:buChar char="•"/>
              <a:defRPr/>
            </a:pPr>
            <a:r>
              <a:rPr lang="en-US" dirty="0">
                <a:solidFill>
                  <a:schemeClr val="tx1">
                    <a:lumMod val="75000"/>
                    <a:lumOff val="25000"/>
                  </a:schemeClr>
                </a:solidFill>
              </a:rPr>
              <a:t>To create the following pattern: </a:t>
            </a:r>
          </a:p>
          <a:p>
            <a:pPr marL="461963" indent="0" fontAlgn="auto">
              <a:lnSpc>
                <a:spcPct val="100000"/>
              </a:lnSpc>
              <a:spcBef>
                <a:spcPts val="0"/>
              </a:spcBef>
              <a:spcAft>
                <a:spcPts val="0"/>
              </a:spcAft>
              <a:buFont typeface="Arial" charset="0"/>
              <a:buNone/>
              <a:defRPr/>
            </a:pPr>
            <a:r>
              <a:rPr lang="en-US" sz="1400" b="1" dirty="0">
                <a:solidFill>
                  <a:schemeClr val="tx1">
                    <a:lumMod val="75000"/>
                    <a:lumOff val="25000"/>
                  </a:schemeClr>
                </a:solidFill>
                <a:latin typeface="Courier New" pitchFamily="49" charset="0"/>
                <a:cs typeface="Courier New" pitchFamily="49" charset="0"/>
              </a:rPr>
              <a:t>*</a:t>
            </a:r>
          </a:p>
          <a:p>
            <a:pPr marL="461963" indent="0" fontAlgn="auto">
              <a:lnSpc>
                <a:spcPct val="100000"/>
              </a:lnSpc>
              <a:spcBef>
                <a:spcPts val="0"/>
              </a:spcBef>
              <a:spcAft>
                <a:spcPts val="0"/>
              </a:spcAft>
              <a:buFont typeface="Arial" charset="0"/>
              <a:buNone/>
              <a:defRPr/>
            </a:pPr>
            <a:r>
              <a:rPr lang="en-US" sz="1400" b="1" dirty="0">
                <a:solidFill>
                  <a:schemeClr val="tx1">
                    <a:lumMod val="75000"/>
                    <a:lumOff val="25000"/>
                  </a:schemeClr>
                </a:solidFill>
                <a:latin typeface="Courier New" pitchFamily="49" charset="0"/>
                <a:cs typeface="Courier New" pitchFamily="49" charset="0"/>
              </a:rPr>
              <a:t>**</a:t>
            </a:r>
          </a:p>
          <a:p>
            <a:pPr marL="461963" indent="0" fontAlgn="auto">
              <a:lnSpc>
                <a:spcPct val="100000"/>
              </a:lnSpc>
              <a:spcBef>
                <a:spcPts val="0"/>
              </a:spcBef>
              <a:spcAft>
                <a:spcPts val="0"/>
              </a:spcAft>
              <a:buFont typeface="Arial" charset="0"/>
              <a:buNone/>
              <a:defRPr/>
            </a:pPr>
            <a:r>
              <a:rPr lang="en-US" sz="1400" b="1" dirty="0">
                <a:solidFill>
                  <a:schemeClr val="tx1">
                    <a:lumMod val="75000"/>
                    <a:lumOff val="25000"/>
                  </a:schemeClr>
                </a:solidFill>
                <a:latin typeface="Courier New" pitchFamily="49" charset="0"/>
                <a:cs typeface="Courier New" pitchFamily="49" charset="0"/>
              </a:rPr>
              <a:t>***</a:t>
            </a:r>
          </a:p>
          <a:p>
            <a:pPr marL="461963" indent="0" fontAlgn="auto">
              <a:lnSpc>
                <a:spcPct val="100000"/>
              </a:lnSpc>
              <a:spcBef>
                <a:spcPts val="0"/>
              </a:spcBef>
              <a:spcAft>
                <a:spcPts val="0"/>
              </a:spcAft>
              <a:buFont typeface="Arial" charset="0"/>
              <a:buNone/>
              <a:defRPr/>
            </a:pPr>
            <a:r>
              <a:rPr lang="en-US" sz="1400" b="1" dirty="0">
                <a:solidFill>
                  <a:schemeClr val="tx1">
                    <a:lumMod val="75000"/>
                    <a:lumOff val="25000"/>
                  </a:schemeClr>
                </a:solidFill>
                <a:latin typeface="Courier New" pitchFamily="49" charset="0"/>
                <a:cs typeface="Courier New" pitchFamily="49" charset="0"/>
              </a:rPr>
              <a:t>****</a:t>
            </a:r>
          </a:p>
          <a:p>
            <a:pPr marL="461963" indent="0" fontAlgn="auto">
              <a:lnSpc>
                <a:spcPct val="100000"/>
              </a:lnSpc>
              <a:spcBef>
                <a:spcPts val="0"/>
              </a:spcBef>
              <a:spcAft>
                <a:spcPts val="0"/>
              </a:spcAft>
              <a:buFont typeface="Arial" charset="0"/>
              <a:buNone/>
              <a:defRPr/>
            </a:pPr>
            <a:r>
              <a:rPr lang="en-US" sz="1400" b="1" dirty="0">
                <a:solidFill>
                  <a:schemeClr val="tx1">
                    <a:lumMod val="75000"/>
                    <a:lumOff val="25000"/>
                  </a:schemeClr>
                </a:solidFill>
                <a:latin typeface="Courier New" pitchFamily="49" charset="0"/>
                <a:cs typeface="Courier New" pitchFamily="49" charset="0"/>
              </a:rPr>
              <a:t>*****</a:t>
            </a:r>
          </a:p>
          <a:p>
            <a:pPr fontAlgn="auto">
              <a:spcAft>
                <a:spcPts val="0"/>
              </a:spcAft>
              <a:buFont typeface="Arial" pitchFamily="34" charset="0"/>
              <a:buChar char="•"/>
              <a:defRPr/>
            </a:pPr>
            <a:r>
              <a:rPr lang="en-US" dirty="0">
                <a:solidFill>
                  <a:schemeClr val="tx1">
                    <a:lumMod val="75000"/>
                    <a:lumOff val="25000"/>
                  </a:schemeClr>
                </a:solidFill>
              </a:rPr>
              <a:t>We can use the following code:</a:t>
            </a:r>
          </a:p>
          <a:p>
            <a:pPr marL="461963" lvl="1" indent="0" fontAlgn="auto">
              <a:lnSpc>
                <a:spcPct val="100000"/>
              </a:lnSpc>
              <a:spcBef>
                <a:spcPts val="0"/>
              </a:spcBef>
              <a:spcAft>
                <a:spcPts val="0"/>
              </a:spcAft>
              <a:buNone/>
              <a:defRPr/>
            </a:pPr>
            <a:r>
              <a:rPr lang="en-US" sz="2000" b="1" dirty="0">
                <a:solidFill>
                  <a:srgbClr val="638DAD"/>
                </a:solidFill>
                <a:latin typeface="Courier New" pitchFamily="49" charset="0"/>
                <a:cs typeface="Courier New" pitchFamily="49" charset="0"/>
              </a:rPr>
              <a:t>for</a:t>
            </a:r>
            <a:r>
              <a:rPr lang="en-US" sz="2000" b="1" dirty="0">
                <a:solidFill>
                  <a:schemeClr val="tx1">
                    <a:lumMod val="75000"/>
                    <a:lumOff val="25000"/>
                  </a:schemeClr>
                </a:solidFill>
                <a:latin typeface="Courier New" pitchFamily="49" charset="0"/>
                <a:cs typeface="Courier New" pitchFamily="49" charset="0"/>
              </a:rPr>
              <a:t> (i = 1; i &lt;= 5; i++)     </a:t>
            </a:r>
            <a:r>
              <a:rPr lang="en-US" sz="2000" b="1" dirty="0">
                <a:solidFill>
                  <a:srgbClr val="00A589"/>
                </a:solidFill>
                <a:latin typeface="Courier New" pitchFamily="49" charset="0"/>
                <a:cs typeface="Courier New" pitchFamily="49" charset="0"/>
              </a:rPr>
              <a:t>//Line 1</a:t>
            </a:r>
          </a:p>
          <a:p>
            <a:pPr marL="461963" lvl="1" indent="0" fontAlgn="auto">
              <a:lnSpc>
                <a:spcPct val="100000"/>
              </a:lnSpc>
              <a:spcBef>
                <a:spcPts val="0"/>
              </a:spcBef>
              <a:spcAft>
                <a:spcPts val="0"/>
              </a:spcAft>
              <a:buNone/>
              <a:defRPr/>
            </a:pPr>
            <a:r>
              <a:rPr lang="en-US" sz="2000" b="1" dirty="0">
                <a:solidFill>
                  <a:schemeClr val="tx1">
                    <a:lumMod val="75000"/>
                    <a:lumOff val="25000"/>
                  </a:schemeClr>
                </a:solidFill>
                <a:latin typeface="Courier New" pitchFamily="49" charset="0"/>
                <a:cs typeface="Courier New" pitchFamily="49" charset="0"/>
              </a:rPr>
              <a:t>{                            </a:t>
            </a:r>
            <a:r>
              <a:rPr lang="en-US" sz="2000" b="1" dirty="0">
                <a:solidFill>
                  <a:srgbClr val="00A589"/>
                </a:solidFill>
                <a:latin typeface="Courier New" pitchFamily="49" charset="0"/>
                <a:cs typeface="Courier New" pitchFamily="49" charset="0"/>
              </a:rPr>
              <a:t>//Line 2</a:t>
            </a:r>
          </a:p>
          <a:p>
            <a:pPr marL="461963" lvl="1" indent="0" fontAlgn="auto">
              <a:lnSpc>
                <a:spcPct val="100000"/>
              </a:lnSpc>
              <a:spcBef>
                <a:spcPts val="0"/>
              </a:spcBef>
              <a:spcAft>
                <a:spcPts val="0"/>
              </a:spcAft>
              <a:buNone/>
              <a:defRPr/>
            </a:pPr>
            <a:r>
              <a:rPr lang="en-US" sz="2000" b="1" dirty="0">
                <a:solidFill>
                  <a:srgbClr val="638DAD"/>
                </a:solidFill>
                <a:latin typeface="Courier New" pitchFamily="49" charset="0"/>
                <a:cs typeface="Courier New" pitchFamily="49" charset="0"/>
              </a:rPr>
              <a:t>    for</a:t>
            </a:r>
            <a:r>
              <a:rPr lang="en-US" sz="2000" b="1" dirty="0">
                <a:solidFill>
                  <a:schemeClr val="tx1">
                    <a:lumMod val="75000"/>
                    <a:lumOff val="25000"/>
                  </a:schemeClr>
                </a:solidFill>
                <a:latin typeface="Courier New" pitchFamily="49" charset="0"/>
                <a:cs typeface="Courier New" pitchFamily="49" charset="0"/>
              </a:rPr>
              <a:t> (j = 1; j &lt;= i; j++) </a:t>
            </a:r>
            <a:r>
              <a:rPr lang="en-US" sz="2000" b="1" dirty="0">
                <a:solidFill>
                  <a:srgbClr val="00A589"/>
                </a:solidFill>
                <a:latin typeface="Courier New" pitchFamily="49" charset="0"/>
                <a:cs typeface="Courier New" pitchFamily="49" charset="0"/>
              </a:rPr>
              <a:t>//Line 3</a:t>
            </a:r>
          </a:p>
          <a:p>
            <a:pPr marL="461963" lvl="1" indent="0" fontAlgn="auto">
              <a:lnSpc>
                <a:spcPct val="100000"/>
              </a:lnSpc>
              <a:spcBef>
                <a:spcPts val="0"/>
              </a:spcBef>
              <a:spcAft>
                <a:spcPts val="0"/>
              </a:spcAft>
              <a:buNone/>
              <a:defRPr/>
            </a:pPr>
            <a:r>
              <a:rPr lang="en-US" sz="2000" b="1" dirty="0">
                <a:solidFill>
                  <a:schemeClr val="tx1">
                    <a:lumMod val="75000"/>
                    <a:lumOff val="25000"/>
                  </a:schemeClr>
                </a:solidFill>
                <a:latin typeface="Courier New" pitchFamily="49" charset="0"/>
                <a:cs typeface="Courier New" pitchFamily="49" charset="0"/>
              </a:rPr>
              <a:t>        cout &lt;&lt; "*";         </a:t>
            </a:r>
            <a:r>
              <a:rPr lang="en-US" sz="2000" b="1" dirty="0">
                <a:solidFill>
                  <a:srgbClr val="00A589"/>
                </a:solidFill>
                <a:latin typeface="Courier New" pitchFamily="49" charset="0"/>
                <a:cs typeface="Courier New" pitchFamily="49" charset="0"/>
              </a:rPr>
              <a:t>//Line 4</a:t>
            </a:r>
          </a:p>
          <a:p>
            <a:pPr marL="461963" lvl="1" indent="0" fontAlgn="auto">
              <a:lnSpc>
                <a:spcPct val="100000"/>
              </a:lnSpc>
              <a:spcBef>
                <a:spcPts val="0"/>
              </a:spcBef>
              <a:spcAft>
                <a:spcPts val="0"/>
              </a:spcAft>
              <a:buNone/>
              <a:defRPr/>
            </a:pPr>
            <a:r>
              <a:rPr lang="en-US" sz="2000" b="1" dirty="0">
                <a:solidFill>
                  <a:schemeClr val="tx1">
                    <a:lumMod val="75000"/>
                    <a:lumOff val="25000"/>
                  </a:schemeClr>
                </a:solidFill>
                <a:latin typeface="Courier New" pitchFamily="49" charset="0"/>
                <a:cs typeface="Courier New" pitchFamily="49" charset="0"/>
              </a:rPr>
              <a:t>    cout &lt;&lt; endl;            </a:t>
            </a:r>
            <a:r>
              <a:rPr lang="en-US" sz="2000" b="1" dirty="0">
                <a:solidFill>
                  <a:srgbClr val="00A589"/>
                </a:solidFill>
                <a:latin typeface="Courier New" pitchFamily="49" charset="0"/>
                <a:cs typeface="Courier New" pitchFamily="49" charset="0"/>
              </a:rPr>
              <a:t>//Line 5</a:t>
            </a:r>
          </a:p>
          <a:p>
            <a:pPr marL="461963" lvl="1" indent="0" fontAlgn="auto">
              <a:lnSpc>
                <a:spcPct val="100000"/>
              </a:lnSpc>
              <a:spcBef>
                <a:spcPts val="0"/>
              </a:spcBef>
              <a:spcAft>
                <a:spcPts val="0"/>
              </a:spcAft>
              <a:buNone/>
              <a:defRPr/>
            </a:pPr>
            <a:r>
              <a:rPr lang="en-US" sz="2000" b="1" dirty="0">
                <a:solidFill>
                  <a:schemeClr val="tx1">
                    <a:lumMod val="75000"/>
                    <a:lumOff val="25000"/>
                  </a:schemeClr>
                </a:solidFill>
                <a:latin typeface="Courier New" pitchFamily="49" charset="0"/>
                <a:cs typeface="Courier New" pitchFamily="49" charset="0"/>
              </a:rPr>
              <a:t>}                            </a:t>
            </a:r>
            <a:r>
              <a:rPr lang="en-US" sz="2000" b="1" dirty="0">
                <a:solidFill>
                  <a:srgbClr val="00A589"/>
                </a:solidFill>
                <a:latin typeface="Courier New" pitchFamily="49" charset="0"/>
                <a:cs typeface="Courier New" pitchFamily="49" charset="0"/>
              </a:rPr>
              <a:t>//Line 6</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r>
              <a:rPr lang="en-US" altLang="en-US" dirty="0"/>
              <a:t>Nested Control Structures (2 of 2)</a:t>
            </a:r>
          </a:p>
        </p:txBody>
      </p:sp>
      <p:sp>
        <p:nvSpPr>
          <p:cNvPr id="49155" name="Rectangle 3"/>
          <p:cNvSpPr>
            <a:spLocks noGrp="1" noChangeArrowheads="1"/>
          </p:cNvSpPr>
          <p:nvPr>
            <p:ph idx="1"/>
          </p:nvPr>
        </p:nvSpPr>
        <p:spPr>
          <a:xfrm>
            <a:off x="365125" y="1538288"/>
            <a:ext cx="8415338" cy="3170099"/>
          </a:xfrm>
        </p:spPr>
        <p:txBody>
          <a:bodyPr rtlCol="0"/>
          <a:lstStyle/>
          <a:p>
            <a:pPr fontAlgn="auto">
              <a:spcAft>
                <a:spcPts val="0"/>
              </a:spcAft>
              <a:buFont typeface="Arial" pitchFamily="34" charset="0"/>
              <a:buChar char="•"/>
              <a:defRPr/>
            </a:pPr>
            <a:r>
              <a:rPr lang="en-US" dirty="0">
                <a:solidFill>
                  <a:schemeClr val="tx1">
                    <a:lumMod val="75000"/>
                    <a:lumOff val="25000"/>
                  </a:schemeClr>
                </a:solidFill>
              </a:rPr>
              <a:t>What is the result if we replace the first </a:t>
            </a:r>
            <a:r>
              <a:rPr lang="en-US" b="1" dirty="0">
                <a:solidFill>
                  <a:srgbClr val="638DAD"/>
                </a:solidFill>
                <a:latin typeface="Courier New" panose="02070309020205020404" pitchFamily="49" charset="0"/>
                <a:cs typeface="Courier New" panose="02070309020205020404" pitchFamily="49" charset="0"/>
              </a:rPr>
              <a:t>for</a:t>
            </a:r>
            <a:r>
              <a:rPr lang="en-US" dirty="0">
                <a:solidFill>
                  <a:schemeClr val="tx1">
                    <a:lumMod val="75000"/>
                    <a:lumOff val="25000"/>
                  </a:schemeClr>
                </a:solidFill>
              </a:rPr>
              <a:t> statement with this?</a:t>
            </a:r>
          </a:p>
          <a:p>
            <a:pPr marL="461963" indent="0" fontAlgn="auto">
              <a:spcAft>
                <a:spcPts val="0"/>
              </a:spcAft>
              <a:buFont typeface="Arial" charset="0"/>
              <a:buNone/>
              <a:defRPr/>
            </a:pPr>
            <a:r>
              <a:rPr lang="en-US" b="1" dirty="0">
                <a:solidFill>
                  <a:srgbClr val="638DAD"/>
                </a:solidFill>
                <a:latin typeface="Courier New" pitchFamily="49" charset="0"/>
                <a:cs typeface="Courier New" pitchFamily="49" charset="0"/>
              </a:rPr>
              <a:t>for</a:t>
            </a:r>
            <a:r>
              <a:rPr lang="en-US" b="1" dirty="0">
                <a:solidFill>
                  <a:schemeClr val="tx1">
                    <a:lumMod val="75000"/>
                    <a:lumOff val="25000"/>
                  </a:schemeClr>
                </a:solidFill>
                <a:latin typeface="Courier New" pitchFamily="49" charset="0"/>
                <a:cs typeface="Courier New" pitchFamily="49" charset="0"/>
              </a:rPr>
              <a:t> (i = 5; i &gt;= 1; i--)</a:t>
            </a:r>
          </a:p>
          <a:p>
            <a:pPr fontAlgn="auto">
              <a:spcAft>
                <a:spcPts val="0"/>
              </a:spcAft>
              <a:buFont typeface="Arial" pitchFamily="34" charset="0"/>
              <a:buChar char="•"/>
              <a:defRPr/>
            </a:pPr>
            <a:r>
              <a:rPr lang="en-US" dirty="0">
                <a:solidFill>
                  <a:schemeClr val="tx1">
                    <a:lumMod val="75000"/>
                    <a:lumOff val="25000"/>
                  </a:schemeClr>
                </a:solidFill>
              </a:rPr>
              <a:t>Answer:</a:t>
            </a:r>
          </a:p>
          <a:p>
            <a:pPr marL="461963" indent="0" fontAlgn="auto">
              <a:lnSpc>
                <a:spcPct val="100000"/>
              </a:lnSpc>
              <a:spcBef>
                <a:spcPts val="0"/>
              </a:spcBef>
              <a:spcAft>
                <a:spcPts val="0"/>
              </a:spcAft>
              <a:buFont typeface="Arial" charset="0"/>
              <a:buNone/>
              <a:defRPr/>
            </a:pPr>
            <a:r>
              <a:rPr lang="en-US" b="1" dirty="0">
                <a:solidFill>
                  <a:schemeClr val="tx1">
                    <a:lumMod val="75000"/>
                    <a:lumOff val="25000"/>
                  </a:schemeClr>
                </a:solidFill>
                <a:latin typeface="Courier New" pitchFamily="49" charset="0"/>
                <a:cs typeface="Courier New" pitchFamily="49" charset="0"/>
              </a:rPr>
              <a:t>*****</a:t>
            </a:r>
          </a:p>
          <a:p>
            <a:pPr marL="461963" indent="0" fontAlgn="auto">
              <a:lnSpc>
                <a:spcPct val="100000"/>
              </a:lnSpc>
              <a:spcBef>
                <a:spcPts val="0"/>
              </a:spcBef>
              <a:spcAft>
                <a:spcPts val="0"/>
              </a:spcAft>
              <a:buFont typeface="Arial" charset="0"/>
              <a:buNone/>
              <a:defRPr/>
            </a:pPr>
            <a:r>
              <a:rPr lang="en-US" b="1" dirty="0">
                <a:solidFill>
                  <a:schemeClr val="tx1">
                    <a:lumMod val="75000"/>
                    <a:lumOff val="25000"/>
                  </a:schemeClr>
                </a:solidFill>
                <a:latin typeface="Courier New" pitchFamily="49" charset="0"/>
                <a:cs typeface="Courier New" pitchFamily="49" charset="0"/>
              </a:rPr>
              <a:t>****</a:t>
            </a:r>
          </a:p>
          <a:p>
            <a:pPr marL="461963" indent="0" fontAlgn="auto">
              <a:lnSpc>
                <a:spcPct val="100000"/>
              </a:lnSpc>
              <a:spcBef>
                <a:spcPts val="0"/>
              </a:spcBef>
              <a:spcAft>
                <a:spcPts val="0"/>
              </a:spcAft>
              <a:buFont typeface="Arial" charset="0"/>
              <a:buNone/>
              <a:defRPr/>
            </a:pPr>
            <a:r>
              <a:rPr lang="en-US" b="1" dirty="0">
                <a:solidFill>
                  <a:schemeClr val="tx1">
                    <a:lumMod val="75000"/>
                    <a:lumOff val="25000"/>
                  </a:schemeClr>
                </a:solidFill>
                <a:latin typeface="Courier New" pitchFamily="49" charset="0"/>
                <a:cs typeface="Courier New" pitchFamily="49" charset="0"/>
              </a:rPr>
              <a:t>***</a:t>
            </a:r>
          </a:p>
          <a:p>
            <a:pPr marL="461963" indent="0" fontAlgn="auto">
              <a:lnSpc>
                <a:spcPct val="100000"/>
              </a:lnSpc>
              <a:spcBef>
                <a:spcPts val="0"/>
              </a:spcBef>
              <a:spcAft>
                <a:spcPts val="0"/>
              </a:spcAft>
              <a:buFont typeface="Arial" charset="0"/>
              <a:buNone/>
              <a:defRPr/>
            </a:pPr>
            <a:r>
              <a:rPr lang="en-US" b="1" dirty="0">
                <a:solidFill>
                  <a:schemeClr val="tx1">
                    <a:lumMod val="75000"/>
                    <a:lumOff val="25000"/>
                  </a:schemeClr>
                </a:solidFill>
                <a:latin typeface="Courier New" pitchFamily="49" charset="0"/>
                <a:cs typeface="Courier New" pitchFamily="49" charset="0"/>
              </a:rPr>
              <a:t>**</a:t>
            </a:r>
          </a:p>
          <a:p>
            <a:pPr marL="461963" indent="0" fontAlgn="auto">
              <a:lnSpc>
                <a:spcPct val="100000"/>
              </a:lnSpc>
              <a:spcBef>
                <a:spcPts val="0"/>
              </a:spcBef>
              <a:spcAft>
                <a:spcPts val="0"/>
              </a:spcAft>
              <a:buFont typeface="Arial" charset="0"/>
              <a:buNone/>
              <a:defRPr/>
            </a:pPr>
            <a:r>
              <a:rPr lang="en-US" b="1" dirty="0">
                <a:solidFill>
                  <a:schemeClr val="tx1">
                    <a:lumMod val="75000"/>
                    <a:lumOff val="25000"/>
                  </a:schemeClr>
                </a:solidFill>
                <a:latin typeface="Courier New" pitchFamily="49" charset="0"/>
                <a:cs typeface="Courier New" pitchFamily="49" charset="0"/>
              </a:rPr>
              <a:t>*</a:t>
            </a:r>
          </a:p>
          <a:p>
            <a:pPr fontAlgn="auto">
              <a:spcAft>
                <a:spcPts val="0"/>
              </a:spcAft>
              <a:buFont typeface="Arial" pitchFamily="34" charset="0"/>
              <a:buChar char="•"/>
              <a:defRPr/>
            </a:pPr>
            <a:endParaRPr lang="en-US" dirty="0">
              <a:solidFill>
                <a:schemeClr val="tx1">
                  <a:lumMod val="75000"/>
                  <a:lumOff val="25000"/>
                </a:schemeClr>
              </a:solidFill>
            </a:endParaRP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itle 6"/>
          <p:cNvSpPr>
            <a:spLocks noGrp="1"/>
          </p:cNvSpPr>
          <p:nvPr>
            <p:ph type="title"/>
          </p:nvPr>
        </p:nvSpPr>
        <p:spPr/>
        <p:txBody>
          <a:bodyPr/>
          <a:lstStyle/>
          <a:p>
            <a:r>
              <a:rPr lang="en-US" altLang="en-US" dirty="0"/>
              <a:t>Quick Review (1 of </a:t>
            </a:r>
            <a:r>
              <a:rPr lang="en-US" altLang="en-US" dirty="0" smtClean="0"/>
              <a:t>2)</a:t>
            </a:r>
            <a:endParaRPr lang="en-US" altLang="en-US" dirty="0"/>
          </a:p>
        </p:txBody>
      </p:sp>
      <p:sp>
        <p:nvSpPr>
          <p:cNvPr id="60418" name="Rectangle 3"/>
          <p:cNvSpPr>
            <a:spLocks noGrp="1" noChangeArrowheads="1"/>
          </p:cNvSpPr>
          <p:nvPr>
            <p:ph idx="1"/>
          </p:nvPr>
        </p:nvSpPr>
        <p:spPr>
          <a:xfrm>
            <a:off x="365125" y="1538288"/>
            <a:ext cx="8415338" cy="2709973"/>
          </a:xfrm>
        </p:spPr>
        <p:txBody>
          <a:bodyPr/>
          <a:lstStyle/>
          <a:p>
            <a:r>
              <a:rPr lang="en-US" altLang="en-US" dirty="0"/>
              <a:t>C++ has three looping (repetition) structures:</a:t>
            </a:r>
          </a:p>
          <a:p>
            <a:pPr lvl="1"/>
            <a:r>
              <a:rPr lang="en-US" altLang="en-US" b="1" dirty="0">
                <a:solidFill>
                  <a:srgbClr val="638DAD"/>
                </a:solidFill>
                <a:latin typeface="Courier New" pitchFamily="49" charset="0"/>
                <a:cs typeface="Courier New" pitchFamily="49" charset="0"/>
              </a:rPr>
              <a:t>while</a:t>
            </a:r>
            <a:r>
              <a:rPr lang="en-US" altLang="en-US" dirty="0"/>
              <a:t>, </a:t>
            </a:r>
            <a:r>
              <a:rPr lang="en-US" altLang="en-US" b="1" dirty="0">
                <a:solidFill>
                  <a:srgbClr val="638DAD"/>
                </a:solidFill>
                <a:latin typeface="Courier New" pitchFamily="49" charset="0"/>
                <a:cs typeface="Courier New" pitchFamily="49" charset="0"/>
              </a:rPr>
              <a:t>for</a:t>
            </a:r>
            <a:r>
              <a:rPr lang="en-US" altLang="en-US" dirty="0"/>
              <a:t>, and </a:t>
            </a:r>
            <a:r>
              <a:rPr lang="en-US" altLang="en-US" b="1" dirty="0">
                <a:solidFill>
                  <a:srgbClr val="638DAD"/>
                </a:solidFill>
                <a:latin typeface="Courier New" pitchFamily="49" charset="0"/>
                <a:cs typeface="Courier New" pitchFamily="49" charset="0"/>
              </a:rPr>
              <a:t>do…while</a:t>
            </a:r>
          </a:p>
          <a:p>
            <a:r>
              <a:rPr lang="en-US" altLang="en-US" b="1" dirty="0">
                <a:solidFill>
                  <a:srgbClr val="638DAD"/>
                </a:solidFill>
                <a:latin typeface="Courier New" pitchFamily="49" charset="0"/>
                <a:cs typeface="Courier New" pitchFamily="49" charset="0"/>
              </a:rPr>
              <a:t>while</a:t>
            </a:r>
            <a:r>
              <a:rPr lang="en-US" altLang="en-US" dirty="0"/>
              <a:t>, </a:t>
            </a:r>
            <a:r>
              <a:rPr lang="en-US" altLang="en-US" b="1" dirty="0">
                <a:solidFill>
                  <a:srgbClr val="638DAD"/>
                </a:solidFill>
                <a:latin typeface="Courier New" pitchFamily="49" charset="0"/>
                <a:cs typeface="Courier New" pitchFamily="49" charset="0"/>
              </a:rPr>
              <a:t>for</a:t>
            </a:r>
            <a:r>
              <a:rPr lang="en-US" altLang="en-US" dirty="0"/>
              <a:t>, and </a:t>
            </a:r>
            <a:r>
              <a:rPr lang="en-US" altLang="en-US" b="1" dirty="0">
                <a:solidFill>
                  <a:srgbClr val="638DAD"/>
                </a:solidFill>
                <a:latin typeface="Courier New" pitchFamily="49" charset="0"/>
                <a:cs typeface="Courier New" pitchFamily="49" charset="0"/>
              </a:rPr>
              <a:t>do</a:t>
            </a:r>
            <a:r>
              <a:rPr lang="en-US" altLang="en-US" dirty="0"/>
              <a:t> are reserved words</a:t>
            </a:r>
          </a:p>
          <a:p>
            <a:r>
              <a:rPr lang="en-US" altLang="en-US" b="1" dirty="0">
                <a:solidFill>
                  <a:srgbClr val="638DAD"/>
                </a:solidFill>
                <a:latin typeface="Courier New" pitchFamily="49" charset="0"/>
                <a:cs typeface="Courier New" pitchFamily="49" charset="0"/>
              </a:rPr>
              <a:t>while</a:t>
            </a:r>
            <a:r>
              <a:rPr lang="en-US" altLang="en-US" dirty="0"/>
              <a:t> and </a:t>
            </a:r>
            <a:r>
              <a:rPr lang="en-US" altLang="en-US" b="1" dirty="0">
                <a:solidFill>
                  <a:srgbClr val="638DAD"/>
                </a:solidFill>
                <a:latin typeface="Courier New" pitchFamily="49" charset="0"/>
                <a:cs typeface="Courier New" pitchFamily="49" charset="0"/>
              </a:rPr>
              <a:t>for</a:t>
            </a:r>
            <a:r>
              <a:rPr lang="en-US" altLang="en-US" dirty="0"/>
              <a:t> loops are called pretest loops</a:t>
            </a:r>
          </a:p>
          <a:p>
            <a:r>
              <a:rPr lang="en-US" altLang="en-US" b="1" dirty="0">
                <a:solidFill>
                  <a:srgbClr val="638DAD"/>
                </a:solidFill>
                <a:latin typeface="Courier New" pitchFamily="49" charset="0"/>
                <a:cs typeface="Courier New" pitchFamily="49" charset="0"/>
              </a:rPr>
              <a:t>do...while </a:t>
            </a:r>
            <a:r>
              <a:rPr lang="en-US" altLang="en-US" dirty="0"/>
              <a:t>loop is called a posttest loop</a:t>
            </a:r>
          </a:p>
          <a:p>
            <a:r>
              <a:rPr lang="en-US" altLang="en-US" b="1" dirty="0">
                <a:solidFill>
                  <a:srgbClr val="638DAD"/>
                </a:solidFill>
                <a:latin typeface="Courier New" pitchFamily="49" charset="0"/>
                <a:cs typeface="Courier New" pitchFamily="49" charset="0"/>
              </a:rPr>
              <a:t>while</a:t>
            </a:r>
            <a:r>
              <a:rPr lang="en-US" altLang="en-US" dirty="0"/>
              <a:t> and </a:t>
            </a:r>
            <a:r>
              <a:rPr lang="en-US" altLang="en-US" b="1" dirty="0">
                <a:solidFill>
                  <a:srgbClr val="638DAD"/>
                </a:solidFill>
                <a:latin typeface="Courier New" pitchFamily="49" charset="0"/>
                <a:cs typeface="Courier New" pitchFamily="49" charset="0"/>
              </a:rPr>
              <a:t>for</a:t>
            </a:r>
            <a:r>
              <a:rPr lang="en-US" altLang="en-US" dirty="0"/>
              <a:t> may not execute at all, but </a:t>
            </a:r>
            <a:r>
              <a:rPr lang="en-US" altLang="en-US" b="1" dirty="0">
                <a:solidFill>
                  <a:srgbClr val="638DAD"/>
                </a:solidFill>
                <a:latin typeface="Courier New" pitchFamily="49" charset="0"/>
                <a:cs typeface="Courier New" pitchFamily="49" charset="0"/>
              </a:rPr>
              <a:t>do...while </a:t>
            </a:r>
            <a:r>
              <a:rPr lang="en-US" altLang="en-US" dirty="0"/>
              <a:t>always executes at least once</a:t>
            </a:r>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r>
              <a:rPr lang="en-US" altLang="en-US" dirty="0"/>
              <a:t>Quick Review (2 of </a:t>
            </a:r>
            <a:r>
              <a:rPr lang="en-US" altLang="en-US" dirty="0"/>
              <a:t>2</a:t>
            </a:r>
            <a:r>
              <a:rPr lang="en-US" altLang="en-US" dirty="0" smtClean="0"/>
              <a:t>)</a:t>
            </a:r>
            <a:endParaRPr lang="en-US" altLang="en-US" dirty="0"/>
          </a:p>
        </p:txBody>
      </p:sp>
      <p:sp>
        <p:nvSpPr>
          <p:cNvPr id="61442" name="Rectangle 3"/>
          <p:cNvSpPr>
            <a:spLocks noGrp="1" noChangeArrowheads="1"/>
          </p:cNvSpPr>
          <p:nvPr>
            <p:ph idx="1"/>
          </p:nvPr>
        </p:nvSpPr>
        <p:spPr>
          <a:xfrm>
            <a:off x="365125" y="1538288"/>
            <a:ext cx="8415338" cy="3624069"/>
          </a:xfrm>
        </p:spPr>
        <p:txBody>
          <a:bodyPr/>
          <a:lstStyle/>
          <a:p>
            <a:r>
              <a:rPr lang="en-US" altLang="en-US" dirty="0">
                <a:cs typeface="Courier New" pitchFamily="49" charset="0"/>
              </a:rPr>
              <a:t>In a </a:t>
            </a:r>
            <a:r>
              <a:rPr lang="en-US" altLang="en-US" b="1" dirty="0">
                <a:solidFill>
                  <a:srgbClr val="638DAD"/>
                </a:solidFill>
                <a:latin typeface="Courier New" pitchFamily="49" charset="0"/>
                <a:cs typeface="Courier New" pitchFamily="49" charset="0"/>
              </a:rPr>
              <a:t>while</a:t>
            </a:r>
            <a:r>
              <a:rPr lang="en-US" altLang="en-US" dirty="0">
                <a:cs typeface="Courier New" pitchFamily="49" charset="0"/>
              </a:rPr>
              <a:t> loop</a:t>
            </a:r>
            <a:r>
              <a:rPr lang="en-US" altLang="en-US" dirty="0"/>
              <a:t>:</a:t>
            </a:r>
          </a:p>
          <a:p>
            <a:pPr lvl="1"/>
            <a:r>
              <a:rPr lang="en-US" altLang="en-US" dirty="0"/>
              <a:t>The</a:t>
            </a:r>
            <a:r>
              <a:rPr lang="en-US" altLang="en-US" dirty="0">
                <a:latin typeface="Courier New" pitchFamily="49" charset="0"/>
              </a:rPr>
              <a:t> </a:t>
            </a:r>
            <a:r>
              <a:rPr lang="en-US" altLang="en-US" b="1" dirty="0">
                <a:latin typeface="Courier New" pitchFamily="49" charset="0"/>
              </a:rPr>
              <a:t>expression</a:t>
            </a:r>
            <a:r>
              <a:rPr lang="en-US" altLang="en-US" dirty="0"/>
              <a:t> is the decision maker</a:t>
            </a:r>
          </a:p>
          <a:p>
            <a:pPr lvl="1"/>
            <a:r>
              <a:rPr lang="en-US" altLang="en-US" dirty="0"/>
              <a:t>The </a:t>
            </a:r>
            <a:r>
              <a:rPr lang="en-US" altLang="en-US" b="1" dirty="0">
                <a:latin typeface="Courier New" pitchFamily="49" charset="0"/>
              </a:rPr>
              <a:t>statement</a:t>
            </a:r>
            <a:r>
              <a:rPr lang="en-US" altLang="en-US" dirty="0"/>
              <a:t> is the body of the loop</a:t>
            </a:r>
          </a:p>
          <a:p>
            <a:r>
              <a:rPr lang="en-US" altLang="en-US" dirty="0"/>
              <a:t>A </a:t>
            </a:r>
            <a:r>
              <a:rPr lang="en-US" altLang="en-US" b="1" dirty="0">
                <a:solidFill>
                  <a:srgbClr val="638DAD"/>
                </a:solidFill>
                <a:latin typeface="Courier New" pitchFamily="49" charset="0"/>
                <a:cs typeface="Courier New" pitchFamily="49" charset="0"/>
              </a:rPr>
              <a:t>while</a:t>
            </a:r>
            <a:r>
              <a:rPr lang="en-US" altLang="en-US" dirty="0"/>
              <a:t> loop can be:</a:t>
            </a:r>
          </a:p>
          <a:p>
            <a:pPr lvl="1"/>
            <a:r>
              <a:rPr lang="en-US" altLang="en-US" dirty="0"/>
              <a:t>Counter-controlled</a:t>
            </a:r>
          </a:p>
          <a:p>
            <a:pPr lvl="1"/>
            <a:r>
              <a:rPr lang="en-US" altLang="en-US" dirty="0"/>
              <a:t>Sentinel-controlled</a:t>
            </a:r>
          </a:p>
          <a:p>
            <a:pPr lvl="1"/>
            <a:r>
              <a:rPr lang="en-US" altLang="en-US" dirty="0"/>
              <a:t>EOF-controlled</a:t>
            </a:r>
          </a:p>
          <a:p>
            <a:r>
              <a:rPr lang="en-US" altLang="en-US" dirty="0"/>
              <a:t>In the Windows console environment, the end-of-file marker is entered using </a:t>
            </a:r>
            <a:r>
              <a:rPr lang="en-US" altLang="en-US" b="1" dirty="0">
                <a:latin typeface="Courier New" pitchFamily="49" charset="0"/>
                <a:cs typeface="Courier New" pitchFamily="49" charset="0"/>
              </a:rPr>
              <a:t>Ctrl+z</a:t>
            </a:r>
          </a:p>
          <a:p>
            <a:endParaRPr lang="en-US" altLang="en-US" dirty="0"/>
          </a:p>
        </p:txBody>
      </p:sp>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Exercise 1</a:t>
            </a:r>
            <a:endParaRPr lang="en-MY" dirty="0"/>
          </a:p>
        </p:txBody>
      </p:sp>
      <p:sp>
        <p:nvSpPr>
          <p:cNvPr id="3" name="Content Placeholder 2"/>
          <p:cNvSpPr>
            <a:spLocks noGrp="1"/>
          </p:cNvSpPr>
          <p:nvPr>
            <p:ph idx="1"/>
          </p:nvPr>
        </p:nvSpPr>
        <p:spPr>
          <a:xfrm>
            <a:off x="365125" y="1538818"/>
            <a:ext cx="8415338" cy="4755148"/>
          </a:xfrm>
        </p:spPr>
        <p:txBody>
          <a:bodyPr/>
          <a:lstStyle/>
          <a:p>
            <a:pPr marL="0" indent="0">
              <a:buNone/>
            </a:pPr>
            <a:r>
              <a:rPr lang="en-US" b="1" dirty="0" smtClean="0"/>
              <a:t>Write </a:t>
            </a:r>
            <a:r>
              <a:rPr lang="en-US" b="1" dirty="0"/>
              <a:t>C++ program </a:t>
            </a:r>
            <a:r>
              <a:rPr lang="en-US" b="1" dirty="0" smtClean="0"/>
              <a:t>following instruction below:</a:t>
            </a:r>
            <a:endParaRPr lang="en-US" b="1" dirty="0"/>
          </a:p>
          <a:p>
            <a:pPr marL="0" indent="0">
              <a:buNone/>
            </a:pPr>
            <a:r>
              <a:rPr lang="en-US" dirty="0">
                <a:latin typeface="Calibri Light" panose="020F0302020204030204" pitchFamily="34" charset="0"/>
                <a:cs typeface="Calibri Light" panose="020F0302020204030204" pitchFamily="34" charset="0"/>
              </a:rPr>
              <a:t>Set total to </a:t>
            </a:r>
            <a:r>
              <a:rPr lang="en-US" dirty="0" smtClean="0">
                <a:latin typeface="Calibri Light" panose="020F0302020204030204" pitchFamily="34" charset="0"/>
                <a:cs typeface="Calibri Light" panose="020F0302020204030204" pitchFamily="34" charset="0"/>
              </a:rPr>
              <a:t>Zero</a:t>
            </a:r>
            <a:endParaRPr lang="en-US" dirty="0">
              <a:latin typeface="Calibri Light" panose="020F0302020204030204" pitchFamily="34" charset="0"/>
              <a:cs typeface="Calibri Light" panose="020F0302020204030204" pitchFamily="34" charset="0"/>
            </a:endParaRPr>
          </a:p>
          <a:p>
            <a:pPr marL="0" indent="0">
              <a:buNone/>
            </a:pPr>
            <a:r>
              <a:rPr lang="en-US" dirty="0">
                <a:latin typeface="Calibri Light" panose="020F0302020204030204" pitchFamily="34" charset="0"/>
                <a:cs typeface="Calibri Light" panose="020F0302020204030204" pitchFamily="34" charset="0"/>
              </a:rPr>
              <a:t>Set count to zero</a:t>
            </a:r>
          </a:p>
          <a:p>
            <a:pPr marL="0" indent="0">
              <a:buNone/>
            </a:pPr>
            <a:r>
              <a:rPr lang="en-US" dirty="0">
                <a:latin typeface="Calibri Light" panose="020F0302020204030204" pitchFamily="34" charset="0"/>
                <a:cs typeface="Calibri Light" panose="020F0302020204030204" pitchFamily="34" charset="0"/>
              </a:rPr>
              <a:t>   Do</a:t>
            </a:r>
          </a:p>
          <a:p>
            <a:pPr marL="0" indent="0">
              <a:buNone/>
            </a:pPr>
            <a:r>
              <a:rPr lang="en-US" dirty="0">
                <a:latin typeface="Calibri Light" panose="020F0302020204030204" pitchFamily="34" charset="0"/>
                <a:cs typeface="Calibri Light" panose="020F0302020204030204" pitchFamily="34" charset="0"/>
              </a:rPr>
              <a:t>	Input the next mark</a:t>
            </a:r>
          </a:p>
          <a:p>
            <a:pPr marL="0" indent="0">
              <a:buNone/>
            </a:pPr>
            <a:r>
              <a:rPr lang="en-US" dirty="0">
                <a:latin typeface="Calibri Light" panose="020F0302020204030204" pitchFamily="34" charset="0"/>
                <a:cs typeface="Calibri Light" panose="020F0302020204030204" pitchFamily="34" charset="0"/>
              </a:rPr>
              <a:t>	Add one the count</a:t>
            </a:r>
          </a:p>
          <a:p>
            <a:pPr marL="0" indent="0">
              <a:buNone/>
            </a:pPr>
            <a:r>
              <a:rPr lang="en-US" dirty="0">
                <a:latin typeface="Calibri Light" panose="020F0302020204030204" pitchFamily="34" charset="0"/>
                <a:cs typeface="Calibri Light" panose="020F0302020204030204" pitchFamily="34" charset="0"/>
              </a:rPr>
              <a:t>Input the respond to Y/N</a:t>
            </a:r>
          </a:p>
          <a:p>
            <a:pPr marL="0" indent="0">
              <a:buNone/>
            </a:pPr>
            <a:r>
              <a:rPr lang="en-US" dirty="0">
                <a:latin typeface="Calibri Light" panose="020F0302020204030204" pitchFamily="34" charset="0"/>
                <a:cs typeface="Calibri Light" panose="020F0302020204030204" pitchFamily="34" charset="0"/>
              </a:rPr>
              <a:t>While respond equal to ‘Y’</a:t>
            </a:r>
          </a:p>
          <a:p>
            <a:pPr marL="0" indent="0">
              <a:buNone/>
            </a:pPr>
            <a:r>
              <a:rPr lang="en-US" dirty="0">
                <a:latin typeface="Calibri Light" panose="020F0302020204030204" pitchFamily="34" charset="0"/>
                <a:cs typeface="Calibri Light" panose="020F0302020204030204" pitchFamily="34" charset="0"/>
              </a:rPr>
              <a:t>Set the average to the total divided by count</a:t>
            </a:r>
          </a:p>
          <a:p>
            <a:pPr marL="0" indent="0">
              <a:buNone/>
            </a:pPr>
            <a:r>
              <a:rPr lang="en-US" dirty="0">
                <a:latin typeface="Calibri Light" panose="020F0302020204030204" pitchFamily="34" charset="0"/>
                <a:cs typeface="Calibri Light" panose="020F0302020204030204" pitchFamily="34" charset="0"/>
              </a:rPr>
              <a:t>Display the average, total &amp; count.</a:t>
            </a:r>
          </a:p>
          <a:p>
            <a:pPr marL="0" indent="0">
              <a:buNone/>
            </a:pPr>
            <a:endParaRPr lang="en-MY" dirty="0"/>
          </a:p>
        </p:txBody>
      </p:sp>
      <p:sp>
        <p:nvSpPr>
          <p:cNvPr id="4" name="Footer Placeholder 3"/>
          <p:cNvSpPr>
            <a:spLocks noGrp="1"/>
          </p:cNvSpPr>
          <p:nvPr>
            <p:ph type="ftr" sz="quarter" idx="10"/>
          </p:nvPr>
        </p:nvSpPr>
        <p:spPr/>
        <p:txBody>
          <a:body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1299896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Exercise 2</a:t>
            </a:r>
            <a:endParaRPr lang="en-MY" dirty="0"/>
          </a:p>
        </p:txBody>
      </p:sp>
      <p:sp>
        <p:nvSpPr>
          <p:cNvPr id="3" name="Content Placeholder 2"/>
          <p:cNvSpPr>
            <a:spLocks noGrp="1"/>
          </p:cNvSpPr>
          <p:nvPr>
            <p:ph idx="1"/>
          </p:nvPr>
        </p:nvSpPr>
        <p:spPr>
          <a:xfrm>
            <a:off x="228600" y="1131225"/>
            <a:ext cx="8415338" cy="5047536"/>
          </a:xfrm>
        </p:spPr>
        <p:txBody>
          <a:bodyPr/>
          <a:lstStyle/>
          <a:p>
            <a:pPr marL="0" indent="0">
              <a:buNone/>
            </a:pPr>
            <a:r>
              <a:rPr lang="en-MY" dirty="0" smtClean="0"/>
              <a:t>Write a C++ program to display 10 times of  </a:t>
            </a:r>
            <a:r>
              <a:rPr lang="en-MY" b="1" dirty="0" smtClean="0"/>
              <a:t>I LOVE C++ </a:t>
            </a:r>
            <a:r>
              <a:rPr lang="en-MY" dirty="0" smtClean="0"/>
              <a:t>in different line.  The following is sample of output:</a:t>
            </a:r>
          </a:p>
          <a:p>
            <a:pPr marL="0" indent="0">
              <a:buNone/>
            </a:pPr>
            <a:r>
              <a:rPr lang="en-MY" b="1" dirty="0" smtClean="0"/>
              <a:t>	I </a:t>
            </a:r>
            <a:r>
              <a:rPr lang="en-MY" b="1" dirty="0"/>
              <a:t>LOVE C++</a:t>
            </a:r>
            <a:endParaRPr lang="en-MY" dirty="0"/>
          </a:p>
          <a:p>
            <a:pPr marL="0" indent="0">
              <a:buNone/>
            </a:pPr>
            <a:r>
              <a:rPr lang="en-MY" b="1" dirty="0" smtClean="0"/>
              <a:t>	I </a:t>
            </a:r>
            <a:r>
              <a:rPr lang="en-MY" b="1" dirty="0"/>
              <a:t>LOVE C</a:t>
            </a:r>
            <a:r>
              <a:rPr lang="en-MY" b="1" dirty="0" smtClean="0"/>
              <a:t>++</a:t>
            </a:r>
          </a:p>
          <a:p>
            <a:pPr marL="0" indent="0">
              <a:buNone/>
            </a:pPr>
            <a:r>
              <a:rPr lang="en-MY" b="1" dirty="0" smtClean="0"/>
              <a:t>	I </a:t>
            </a:r>
            <a:r>
              <a:rPr lang="en-MY" b="1" dirty="0"/>
              <a:t>LOVE C</a:t>
            </a:r>
            <a:r>
              <a:rPr lang="en-MY" b="1" dirty="0" smtClean="0"/>
              <a:t>++</a:t>
            </a:r>
          </a:p>
          <a:p>
            <a:pPr marL="0" indent="0">
              <a:buNone/>
            </a:pPr>
            <a:r>
              <a:rPr lang="en-MY" b="1" dirty="0" smtClean="0"/>
              <a:t>	I </a:t>
            </a:r>
            <a:r>
              <a:rPr lang="en-MY" b="1" dirty="0"/>
              <a:t>LOVE C</a:t>
            </a:r>
            <a:r>
              <a:rPr lang="en-MY" b="1" dirty="0" smtClean="0"/>
              <a:t>++</a:t>
            </a:r>
          </a:p>
          <a:p>
            <a:pPr marL="0" indent="0">
              <a:buNone/>
            </a:pPr>
            <a:r>
              <a:rPr lang="en-MY" b="1" dirty="0" smtClean="0"/>
              <a:t>	I </a:t>
            </a:r>
            <a:r>
              <a:rPr lang="en-MY" b="1" dirty="0"/>
              <a:t>LOVE C</a:t>
            </a:r>
            <a:r>
              <a:rPr lang="en-MY" b="1" dirty="0" smtClean="0"/>
              <a:t>++</a:t>
            </a:r>
          </a:p>
          <a:p>
            <a:pPr marL="0" indent="0">
              <a:buNone/>
            </a:pPr>
            <a:r>
              <a:rPr lang="en-MY" b="1" dirty="0" smtClean="0"/>
              <a:t>	I </a:t>
            </a:r>
            <a:r>
              <a:rPr lang="en-MY" b="1" dirty="0"/>
              <a:t>LOVE C</a:t>
            </a:r>
            <a:r>
              <a:rPr lang="en-MY" b="1" dirty="0" smtClean="0"/>
              <a:t>++</a:t>
            </a:r>
          </a:p>
          <a:p>
            <a:pPr marL="0" indent="0">
              <a:buNone/>
            </a:pPr>
            <a:r>
              <a:rPr lang="en-MY" b="1" dirty="0" smtClean="0"/>
              <a:t>	I </a:t>
            </a:r>
            <a:r>
              <a:rPr lang="en-MY" b="1" dirty="0"/>
              <a:t>LOVE C</a:t>
            </a:r>
            <a:r>
              <a:rPr lang="en-MY" b="1" dirty="0" smtClean="0"/>
              <a:t>++</a:t>
            </a:r>
          </a:p>
          <a:p>
            <a:pPr marL="0" indent="0">
              <a:buNone/>
            </a:pPr>
            <a:r>
              <a:rPr lang="en-MY" b="1" dirty="0" smtClean="0"/>
              <a:t>	I </a:t>
            </a:r>
            <a:r>
              <a:rPr lang="en-MY" b="1" dirty="0"/>
              <a:t>LOVE C</a:t>
            </a:r>
            <a:r>
              <a:rPr lang="en-MY" b="1" dirty="0" smtClean="0"/>
              <a:t>++</a:t>
            </a:r>
          </a:p>
          <a:p>
            <a:pPr marL="0" indent="0">
              <a:buNone/>
            </a:pPr>
            <a:r>
              <a:rPr lang="en-MY" b="1" dirty="0" smtClean="0"/>
              <a:t>	I </a:t>
            </a:r>
            <a:r>
              <a:rPr lang="en-MY" b="1" dirty="0"/>
              <a:t>LOVE C</a:t>
            </a:r>
            <a:r>
              <a:rPr lang="en-MY" b="1" dirty="0" smtClean="0"/>
              <a:t>++</a:t>
            </a:r>
          </a:p>
          <a:p>
            <a:pPr marL="0" indent="0">
              <a:buNone/>
            </a:pPr>
            <a:r>
              <a:rPr lang="en-MY" b="1" dirty="0" smtClean="0"/>
              <a:t>	I </a:t>
            </a:r>
            <a:r>
              <a:rPr lang="en-MY" b="1" dirty="0"/>
              <a:t>LOVE C++</a:t>
            </a:r>
            <a:endParaRPr lang="en-MY" dirty="0"/>
          </a:p>
        </p:txBody>
      </p:sp>
      <p:sp>
        <p:nvSpPr>
          <p:cNvPr id="4" name="Footer Placeholder 3"/>
          <p:cNvSpPr>
            <a:spLocks noGrp="1"/>
          </p:cNvSpPr>
          <p:nvPr>
            <p:ph type="ftr" sz="quarter" idx="10"/>
          </p:nvPr>
        </p:nvSpPr>
        <p:spPr/>
        <p:txBody>
          <a:body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6555177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Exercise 3</a:t>
            </a:r>
            <a:endParaRPr lang="en-MY" dirty="0"/>
          </a:p>
        </p:txBody>
      </p:sp>
      <p:sp>
        <p:nvSpPr>
          <p:cNvPr id="3" name="Content Placeholder 2"/>
          <p:cNvSpPr>
            <a:spLocks noGrp="1"/>
          </p:cNvSpPr>
          <p:nvPr>
            <p:ph idx="1"/>
          </p:nvPr>
        </p:nvSpPr>
        <p:spPr>
          <a:xfrm>
            <a:off x="365125" y="1538818"/>
            <a:ext cx="8415338" cy="2806922"/>
          </a:xfrm>
        </p:spPr>
        <p:txBody>
          <a:bodyPr/>
          <a:lstStyle/>
          <a:p>
            <a:pPr marL="0" indent="0" algn="just">
              <a:buNone/>
            </a:pPr>
            <a:r>
              <a:rPr lang="en-MY" sz="3200" dirty="0" smtClean="0"/>
              <a:t>A program is written to let users input any number, then calculate the sum of the numbers and also count the number of numbers entered. Display the total and the count of the number. The program will automatically stop when the user input number -999.</a:t>
            </a:r>
            <a:endParaRPr lang="en-MY" sz="3200" dirty="0"/>
          </a:p>
        </p:txBody>
      </p:sp>
      <p:sp>
        <p:nvSpPr>
          <p:cNvPr id="4" name="Footer Placeholder 3"/>
          <p:cNvSpPr>
            <a:spLocks noGrp="1"/>
          </p:cNvSpPr>
          <p:nvPr>
            <p:ph type="ftr" sz="quarter" idx="10"/>
          </p:nvPr>
        </p:nvSpPr>
        <p:spPr/>
        <p:txBody>
          <a:bodyPr/>
          <a:lstStyle/>
          <a:p>
            <a:pPr>
              <a:defRPr/>
            </a:pPr>
            <a:r>
              <a:rPr lang="en-US" smtClean="0"/>
              <a:t>© 2018 Cengage Learning. All Rights Reserved. May not be copied, scanned, or duplicated, in whole or in part, except for use as permitted in a license distributed with a certain product or service or otherwise on a password-protected website for classroom</a:t>
            </a:r>
            <a:endParaRPr lang="en-US" dirty="0"/>
          </a:p>
        </p:txBody>
      </p:sp>
    </p:spTree>
    <p:extLst>
      <p:ext uri="{BB962C8B-B14F-4D97-AF65-F5344CB8AC3E}">
        <p14:creationId xmlns:p14="http://schemas.microsoft.com/office/powerpoint/2010/main" val="3870256772"/>
      </p:ext>
    </p:extLst>
  </p:cSld>
  <p:clrMapOvr>
    <a:masterClrMapping/>
  </p:clrMapOvr>
</p:sld>
</file>

<file path=ppt/theme/theme1.xml><?xml version="1.0" encoding="utf-8"?>
<a:theme xmlns:a="http://schemas.openxmlformats.org/drawingml/2006/main" name="Malik_cpp">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4250</TotalTime>
  <Words>2804</Words>
  <Application>Microsoft Office PowerPoint</Application>
  <PresentationFormat>On-screen Show (4:3)</PresentationFormat>
  <Paragraphs>238</Paragraphs>
  <Slides>32</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Courier New</vt:lpstr>
      <vt:lpstr>Malik_cpp</vt:lpstr>
      <vt:lpstr>Chapter 5</vt:lpstr>
      <vt:lpstr>Objectives (1 of 2)</vt:lpstr>
      <vt:lpstr>Objectives (2 of 2)</vt:lpstr>
      <vt:lpstr>Why Is Repetition Needed?</vt:lpstr>
      <vt:lpstr>Requirements of loop control variable (LVC)</vt:lpstr>
      <vt:lpstr>while Looping (Repetition) Structure (1 of 3)</vt:lpstr>
      <vt:lpstr>while Looping (Repetition) Structure (2 of 3)</vt:lpstr>
      <vt:lpstr>while Looping (Repetition) Structure (3 of 3)</vt:lpstr>
      <vt:lpstr>while Looping (Repetition) Structure (cont’d.)</vt:lpstr>
      <vt:lpstr>Case 1: Counter-Controlled while Loops</vt:lpstr>
      <vt:lpstr>Case 2: Sentinel-Controlled while Loops</vt:lpstr>
      <vt:lpstr>for Looping (Repetition) Structure (1 of 7)</vt:lpstr>
      <vt:lpstr>for Looping (Repetition) Structure (2 of 7)</vt:lpstr>
      <vt:lpstr>for Looping (Repetition) Structure (3 of 7)</vt:lpstr>
      <vt:lpstr>for Looping (Repetition) Structure (4 of 7)</vt:lpstr>
      <vt:lpstr>for Looping (Repetition) Structure (5 of 7)</vt:lpstr>
      <vt:lpstr>for Looping (Repetition) Structure (6 of 7)</vt:lpstr>
      <vt:lpstr>for Looping (Repetition) Structure (7 of 7)</vt:lpstr>
      <vt:lpstr>do…while Looping (Repetition) Structure (1 of 6)</vt:lpstr>
      <vt:lpstr>do…while Looping (Repetition) Structure (2 of 6)</vt:lpstr>
      <vt:lpstr>do…while Looping (Repetition) Structure (3 of 6)</vt:lpstr>
      <vt:lpstr>do…while Looping (Repetition) Structure (4 of 6)</vt:lpstr>
      <vt:lpstr>do…while Looping (Repetition) Structure (5 of 6)</vt:lpstr>
      <vt:lpstr>do…while Looping (Repetition) Structure (6 of 6)</vt:lpstr>
      <vt:lpstr>Choosing the Right Looping Structure</vt:lpstr>
      <vt:lpstr>Nested Control Structures (1 of 2)</vt:lpstr>
      <vt:lpstr>Nested Control Structures (2 of 2)</vt:lpstr>
      <vt:lpstr>Quick Review (1 of 2)</vt:lpstr>
      <vt:lpstr>Quick Review (2 of 2)</vt:lpstr>
      <vt:lpstr>Exercise 1</vt:lpstr>
      <vt:lpstr>Exercise 2</vt:lpstr>
      <vt:lpstr>Exercise 3</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   Program Design Including  Data Structures, Fifth Edition</dc:title>
  <dc:creator>Ang</dc:creator>
  <cp:lastModifiedBy>Windows User</cp:lastModifiedBy>
  <cp:revision>338</cp:revision>
  <cp:lastPrinted>2009-04-22T19:24:48Z</cp:lastPrinted>
  <dcterms:created xsi:type="dcterms:W3CDTF">2002-07-27T03:19:07Z</dcterms:created>
  <dcterms:modified xsi:type="dcterms:W3CDTF">2020-03-16T02:06:52Z</dcterms:modified>
</cp:coreProperties>
</file>