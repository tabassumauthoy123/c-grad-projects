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2" r:id="rId1"/>
  </p:sldMasterIdLst>
  <p:notesMasterIdLst>
    <p:notesMasterId r:id="rId33"/>
  </p:notesMasterIdLst>
  <p:sldIdLst>
    <p:sldId id="362" r:id="rId2"/>
    <p:sldId id="363" r:id="rId3"/>
    <p:sldId id="364" r:id="rId4"/>
    <p:sldId id="365" r:id="rId5"/>
    <p:sldId id="366" r:id="rId6"/>
    <p:sldId id="367" r:id="rId7"/>
    <p:sldId id="368" r:id="rId8"/>
    <p:sldId id="369"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387" r:id="rId27"/>
    <p:sldId id="388" r:id="rId28"/>
    <p:sldId id="389" r:id="rId29"/>
    <p:sldId id="390" r:id="rId30"/>
    <p:sldId id="391" r:id="rId31"/>
    <p:sldId id="392"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912">
          <p15:clr>
            <a:srgbClr val="A4A3A4"/>
          </p15:clr>
        </p15:guide>
        <p15:guide id="2" pos="7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8DAD"/>
    <a:srgbClr val="00A589"/>
    <a:srgbClr val="3333FF"/>
    <a:srgbClr val="333399"/>
    <a:srgbClr val="B2B2B2"/>
    <a:srgbClr val="800000"/>
    <a:srgbClr val="996600"/>
    <a:srgbClr val="FF9999"/>
    <a:srgbClr val="33CC33"/>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26" autoAdjust="0"/>
    <p:restoredTop sz="94687" autoAdjust="0"/>
  </p:normalViewPr>
  <p:slideViewPr>
    <p:cSldViewPr>
      <p:cViewPr varScale="1">
        <p:scale>
          <a:sx n="66" d="100"/>
          <a:sy n="66" d="100"/>
        </p:scale>
        <p:origin x="906" y="60"/>
      </p:cViewPr>
      <p:guideLst>
        <p:guide orient="horz" pos="912"/>
        <p:guide pos="7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8" d="100"/>
        <a:sy n="78" d="100"/>
      </p:scale>
      <p:origin x="0" y="636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96EE2D-75E7-43EA-B981-F1DF1AA25F9F}" type="doc">
      <dgm:prSet loTypeId="urn:microsoft.com/office/officeart/2005/8/layout/vList6" loCatId="list" qsTypeId="urn:microsoft.com/office/officeart/2005/8/quickstyle/3d2" qsCatId="3D" csTypeId="urn:microsoft.com/office/officeart/2005/8/colors/accent2_5" csCatId="accent2" phldr="1"/>
      <dgm:spPr/>
      <dgm:t>
        <a:bodyPr/>
        <a:lstStyle/>
        <a:p>
          <a:endParaRPr lang="en-US"/>
        </a:p>
      </dgm:t>
    </dgm:pt>
    <dgm:pt modelId="{0AA74642-28D4-4B09-99C8-5C6CE60E0875}">
      <dgm:prSet phldrT="[Text]"/>
      <dgm:spPr/>
      <dgm:t>
        <a:bodyPr/>
        <a:lstStyle/>
        <a:p>
          <a:r>
            <a:rPr lang="en-US" dirty="0" smtClean="0"/>
            <a:t>Pre-defined </a:t>
          </a:r>
        </a:p>
        <a:p>
          <a:r>
            <a:rPr lang="en-US" dirty="0" smtClean="0"/>
            <a:t>Function</a:t>
          </a:r>
          <a:endParaRPr lang="en-US" dirty="0"/>
        </a:p>
      </dgm:t>
    </dgm:pt>
    <dgm:pt modelId="{41767DA1-7731-4342-9946-4B96FF315335}" type="parTrans" cxnId="{7599718F-04C2-4125-ADAC-16813C160D40}">
      <dgm:prSet/>
      <dgm:spPr/>
      <dgm:t>
        <a:bodyPr/>
        <a:lstStyle/>
        <a:p>
          <a:endParaRPr lang="en-US"/>
        </a:p>
      </dgm:t>
    </dgm:pt>
    <dgm:pt modelId="{16FA8B2D-A2A4-4090-A127-8A2818C6EC7C}" type="sibTrans" cxnId="{7599718F-04C2-4125-ADAC-16813C160D40}">
      <dgm:prSet/>
      <dgm:spPr/>
      <dgm:t>
        <a:bodyPr/>
        <a:lstStyle/>
        <a:p>
          <a:endParaRPr lang="en-US"/>
        </a:p>
      </dgm:t>
    </dgm:pt>
    <dgm:pt modelId="{37BB0690-B7A1-4A9E-B6F5-4717B77957A8}">
      <dgm:prSet phldrT="[Text]"/>
      <dgm:spPr/>
      <dgm:t>
        <a:bodyPr/>
        <a:lstStyle/>
        <a:p>
          <a:pPr marL="228600" indent="-139700"/>
          <a:r>
            <a:rPr lang="en-US" dirty="0" smtClean="0"/>
            <a:t>Also known as mathematical library functions. </a:t>
          </a:r>
          <a:endParaRPr lang="en-US" dirty="0"/>
        </a:p>
      </dgm:t>
    </dgm:pt>
    <dgm:pt modelId="{DAB6A618-601F-4BC2-A9FE-33C860CEC44C}" type="parTrans" cxnId="{BB040445-4B5B-45E5-A1B9-436E0CA0D65F}">
      <dgm:prSet/>
      <dgm:spPr/>
      <dgm:t>
        <a:bodyPr/>
        <a:lstStyle/>
        <a:p>
          <a:endParaRPr lang="en-US"/>
        </a:p>
      </dgm:t>
    </dgm:pt>
    <dgm:pt modelId="{4EC7B3A9-C162-46C0-B2A7-87624497AA4D}" type="sibTrans" cxnId="{BB040445-4B5B-45E5-A1B9-436E0CA0D65F}">
      <dgm:prSet/>
      <dgm:spPr/>
      <dgm:t>
        <a:bodyPr/>
        <a:lstStyle/>
        <a:p>
          <a:endParaRPr lang="en-US"/>
        </a:p>
      </dgm:t>
    </dgm:pt>
    <dgm:pt modelId="{BBFA81C7-109A-4D7A-88E7-31F7D28A7228}">
      <dgm:prSet phldrT="[Text]"/>
      <dgm:spPr/>
      <dgm:t>
        <a:bodyPr/>
        <a:lstStyle/>
        <a:p>
          <a:r>
            <a:rPr lang="en-US" dirty="0" smtClean="0"/>
            <a:t>User-defined Function</a:t>
          </a:r>
          <a:endParaRPr lang="en-US" dirty="0"/>
        </a:p>
      </dgm:t>
    </dgm:pt>
    <dgm:pt modelId="{015145AD-E919-4741-8956-1985F1F734C0}" type="parTrans" cxnId="{CA5A9139-0402-4269-8CE8-4802D5AF514A}">
      <dgm:prSet/>
      <dgm:spPr/>
      <dgm:t>
        <a:bodyPr/>
        <a:lstStyle/>
        <a:p>
          <a:endParaRPr lang="en-US"/>
        </a:p>
      </dgm:t>
    </dgm:pt>
    <dgm:pt modelId="{B21A9F84-B78F-479F-9DCD-3E60F66808FA}" type="sibTrans" cxnId="{CA5A9139-0402-4269-8CE8-4802D5AF514A}">
      <dgm:prSet/>
      <dgm:spPr/>
      <dgm:t>
        <a:bodyPr/>
        <a:lstStyle/>
        <a:p>
          <a:endParaRPr lang="en-US"/>
        </a:p>
      </dgm:t>
    </dgm:pt>
    <dgm:pt modelId="{97176355-9FD8-471B-AB5F-BCEA2E9B8B59}">
      <dgm:prSet phldrT="[Text]"/>
      <dgm:spPr/>
      <dgm:t>
        <a:bodyPr/>
        <a:lstStyle/>
        <a:p>
          <a:pPr marL="266700" indent="-177800"/>
          <a:r>
            <a:rPr lang="en-US" dirty="0" smtClean="0"/>
            <a:t>Functions which are defined by the user. </a:t>
          </a:r>
          <a:endParaRPr lang="en-US" dirty="0"/>
        </a:p>
      </dgm:t>
    </dgm:pt>
    <dgm:pt modelId="{F7BBF0BF-6EE6-4BD9-A8CA-4C8B61732724}" type="parTrans" cxnId="{ED15AF8C-0587-46FE-8391-D532AA85D8B0}">
      <dgm:prSet/>
      <dgm:spPr/>
      <dgm:t>
        <a:bodyPr/>
        <a:lstStyle/>
        <a:p>
          <a:endParaRPr lang="en-US"/>
        </a:p>
      </dgm:t>
    </dgm:pt>
    <dgm:pt modelId="{C6AFE92C-5747-4279-BB3A-175BA7347C69}" type="sibTrans" cxnId="{ED15AF8C-0587-46FE-8391-D532AA85D8B0}">
      <dgm:prSet/>
      <dgm:spPr/>
      <dgm:t>
        <a:bodyPr/>
        <a:lstStyle/>
        <a:p>
          <a:endParaRPr lang="en-US"/>
        </a:p>
      </dgm:t>
    </dgm:pt>
    <dgm:pt modelId="{020B5AC7-3676-45BC-9157-EEC6975A9ECE}">
      <dgm:prSet phldrT="[Text]"/>
      <dgm:spPr/>
      <dgm:t>
        <a:bodyPr/>
        <a:lstStyle/>
        <a:p>
          <a:pPr marL="228600" indent="-139700"/>
          <a:r>
            <a:rPr lang="en-US" dirty="0" smtClean="0"/>
            <a:t>These functions are available in the C++ standard library such as </a:t>
          </a:r>
          <a:r>
            <a:rPr lang="en-US" dirty="0" err="1" smtClean="0">
              <a:latin typeface="Courier New" panose="02070309020205020404" pitchFamily="49" charset="0"/>
              <a:cs typeface="Courier New" panose="02070309020205020404" pitchFamily="49" charset="0"/>
            </a:rPr>
            <a:t>math.h</a:t>
          </a:r>
          <a:r>
            <a:rPr lang="en-US" dirty="0" smtClean="0">
              <a:latin typeface="Courier New" panose="02070309020205020404" pitchFamily="49" charset="0"/>
              <a:cs typeface="Courier New" panose="02070309020205020404" pitchFamily="49" charset="0"/>
            </a:rPr>
            <a:t> </a:t>
          </a:r>
          <a:r>
            <a:rPr lang="en-US" dirty="0" smtClean="0"/>
            <a:t>and others.</a:t>
          </a:r>
          <a:endParaRPr lang="en-US" dirty="0"/>
        </a:p>
      </dgm:t>
    </dgm:pt>
    <dgm:pt modelId="{1965866F-59DD-407B-8FB2-8BD0578D2389}" type="parTrans" cxnId="{86841AB2-1C0F-4E5C-867B-E990A67058C9}">
      <dgm:prSet/>
      <dgm:spPr/>
      <dgm:t>
        <a:bodyPr/>
        <a:lstStyle/>
        <a:p>
          <a:endParaRPr lang="en-US"/>
        </a:p>
      </dgm:t>
    </dgm:pt>
    <dgm:pt modelId="{4D4EEC64-3C1A-40FE-8A6A-C015A3CEA43B}" type="sibTrans" cxnId="{86841AB2-1C0F-4E5C-867B-E990A67058C9}">
      <dgm:prSet/>
      <dgm:spPr/>
      <dgm:t>
        <a:bodyPr/>
        <a:lstStyle/>
        <a:p>
          <a:endParaRPr lang="en-US"/>
        </a:p>
      </dgm:t>
    </dgm:pt>
    <dgm:pt modelId="{7C0986E6-0D97-4F78-93D6-ED93235E148A}">
      <dgm:prSet phldrT="[Text]"/>
      <dgm:spPr/>
      <dgm:t>
        <a:bodyPr/>
        <a:lstStyle/>
        <a:p>
          <a:pPr marL="266700" indent="-177800"/>
          <a:r>
            <a:rPr lang="en-US" dirty="0" smtClean="0"/>
            <a:t>The functions that programmers create for specialized tasks.</a:t>
          </a:r>
          <a:endParaRPr lang="en-US" dirty="0"/>
        </a:p>
      </dgm:t>
    </dgm:pt>
    <dgm:pt modelId="{B93EE181-6062-493F-9F78-07B0C84F582D}" type="parTrans" cxnId="{59699F36-8C42-49A6-AF6B-365E0DBB3CA6}">
      <dgm:prSet/>
      <dgm:spPr/>
      <dgm:t>
        <a:bodyPr/>
        <a:lstStyle/>
        <a:p>
          <a:endParaRPr lang="en-US"/>
        </a:p>
      </dgm:t>
    </dgm:pt>
    <dgm:pt modelId="{6B6FB878-FA07-4183-BBDD-AF75B0815C35}" type="sibTrans" cxnId="{59699F36-8C42-49A6-AF6B-365E0DBB3CA6}">
      <dgm:prSet/>
      <dgm:spPr/>
      <dgm:t>
        <a:bodyPr/>
        <a:lstStyle/>
        <a:p>
          <a:endParaRPr lang="en-US"/>
        </a:p>
      </dgm:t>
    </dgm:pt>
    <dgm:pt modelId="{98B2E0EC-82F4-44C5-BDB3-8155D07E6CFB}" type="pres">
      <dgm:prSet presAssocID="{DF96EE2D-75E7-43EA-B981-F1DF1AA25F9F}" presName="Name0" presStyleCnt="0">
        <dgm:presLayoutVars>
          <dgm:dir/>
          <dgm:animLvl val="lvl"/>
          <dgm:resizeHandles/>
        </dgm:presLayoutVars>
      </dgm:prSet>
      <dgm:spPr/>
      <dgm:t>
        <a:bodyPr/>
        <a:lstStyle/>
        <a:p>
          <a:endParaRPr lang="en-US"/>
        </a:p>
      </dgm:t>
    </dgm:pt>
    <dgm:pt modelId="{D399D7F9-8A95-4A28-9C2D-A7CCB28CA49D}" type="pres">
      <dgm:prSet presAssocID="{0AA74642-28D4-4B09-99C8-5C6CE60E0875}" presName="linNode" presStyleCnt="0"/>
      <dgm:spPr/>
    </dgm:pt>
    <dgm:pt modelId="{12EE0488-B989-44A6-8EE1-A920B9319605}" type="pres">
      <dgm:prSet presAssocID="{0AA74642-28D4-4B09-99C8-5C6CE60E0875}" presName="parentShp" presStyleLbl="node1" presStyleIdx="0" presStyleCnt="2">
        <dgm:presLayoutVars>
          <dgm:bulletEnabled val="1"/>
        </dgm:presLayoutVars>
      </dgm:prSet>
      <dgm:spPr/>
      <dgm:t>
        <a:bodyPr/>
        <a:lstStyle/>
        <a:p>
          <a:endParaRPr lang="en-US"/>
        </a:p>
      </dgm:t>
    </dgm:pt>
    <dgm:pt modelId="{9150CDD2-F1C1-4F4A-A495-2F0D108671E2}" type="pres">
      <dgm:prSet presAssocID="{0AA74642-28D4-4B09-99C8-5C6CE60E0875}" presName="childShp" presStyleLbl="bgAccFollowNode1" presStyleIdx="0" presStyleCnt="2" custScaleY="142062">
        <dgm:presLayoutVars>
          <dgm:bulletEnabled val="1"/>
        </dgm:presLayoutVars>
      </dgm:prSet>
      <dgm:spPr/>
      <dgm:t>
        <a:bodyPr/>
        <a:lstStyle/>
        <a:p>
          <a:endParaRPr lang="en-US"/>
        </a:p>
      </dgm:t>
    </dgm:pt>
    <dgm:pt modelId="{D2A94394-FCCF-47CA-AE87-8A17ABB396B4}" type="pres">
      <dgm:prSet presAssocID="{16FA8B2D-A2A4-4090-A127-8A2818C6EC7C}" presName="spacing" presStyleCnt="0"/>
      <dgm:spPr/>
    </dgm:pt>
    <dgm:pt modelId="{76686E34-9E99-4E99-A4FB-1DEFE21B51BB}" type="pres">
      <dgm:prSet presAssocID="{BBFA81C7-109A-4D7A-88E7-31F7D28A7228}" presName="linNode" presStyleCnt="0"/>
      <dgm:spPr/>
    </dgm:pt>
    <dgm:pt modelId="{22CB9C2C-04FF-4EBA-ACC6-087C10C22EF4}" type="pres">
      <dgm:prSet presAssocID="{BBFA81C7-109A-4D7A-88E7-31F7D28A7228}" presName="parentShp" presStyleLbl="node1" presStyleIdx="1" presStyleCnt="2">
        <dgm:presLayoutVars>
          <dgm:bulletEnabled val="1"/>
        </dgm:presLayoutVars>
      </dgm:prSet>
      <dgm:spPr/>
      <dgm:t>
        <a:bodyPr/>
        <a:lstStyle/>
        <a:p>
          <a:endParaRPr lang="en-US"/>
        </a:p>
      </dgm:t>
    </dgm:pt>
    <dgm:pt modelId="{73EEF90A-C51E-416E-8E9E-1BE54E2C1A46}" type="pres">
      <dgm:prSet presAssocID="{BBFA81C7-109A-4D7A-88E7-31F7D28A7228}" presName="childShp" presStyleLbl="bgAccFollowNode1" presStyleIdx="1" presStyleCnt="2" custScaleY="150598">
        <dgm:presLayoutVars>
          <dgm:bulletEnabled val="1"/>
        </dgm:presLayoutVars>
      </dgm:prSet>
      <dgm:spPr/>
      <dgm:t>
        <a:bodyPr/>
        <a:lstStyle/>
        <a:p>
          <a:endParaRPr lang="en-US"/>
        </a:p>
      </dgm:t>
    </dgm:pt>
  </dgm:ptLst>
  <dgm:cxnLst>
    <dgm:cxn modelId="{7599718F-04C2-4125-ADAC-16813C160D40}" srcId="{DF96EE2D-75E7-43EA-B981-F1DF1AA25F9F}" destId="{0AA74642-28D4-4B09-99C8-5C6CE60E0875}" srcOrd="0" destOrd="0" parTransId="{41767DA1-7731-4342-9946-4B96FF315335}" sibTransId="{16FA8B2D-A2A4-4090-A127-8A2818C6EC7C}"/>
    <dgm:cxn modelId="{3F74F552-FE00-4F5D-84E8-7F1D4AFD7BB5}" type="presOf" srcId="{97176355-9FD8-471B-AB5F-BCEA2E9B8B59}" destId="{73EEF90A-C51E-416E-8E9E-1BE54E2C1A46}" srcOrd="0" destOrd="0" presId="urn:microsoft.com/office/officeart/2005/8/layout/vList6"/>
    <dgm:cxn modelId="{3BF51103-52A2-44F8-BB96-5D0B01105179}" type="presOf" srcId="{020B5AC7-3676-45BC-9157-EEC6975A9ECE}" destId="{9150CDD2-F1C1-4F4A-A495-2F0D108671E2}" srcOrd="0" destOrd="1" presId="urn:microsoft.com/office/officeart/2005/8/layout/vList6"/>
    <dgm:cxn modelId="{BB040445-4B5B-45E5-A1B9-436E0CA0D65F}" srcId="{0AA74642-28D4-4B09-99C8-5C6CE60E0875}" destId="{37BB0690-B7A1-4A9E-B6F5-4717B77957A8}" srcOrd="0" destOrd="0" parTransId="{DAB6A618-601F-4BC2-A9FE-33C860CEC44C}" sibTransId="{4EC7B3A9-C162-46C0-B2A7-87624497AA4D}"/>
    <dgm:cxn modelId="{ED15AF8C-0587-46FE-8391-D532AA85D8B0}" srcId="{BBFA81C7-109A-4D7A-88E7-31F7D28A7228}" destId="{97176355-9FD8-471B-AB5F-BCEA2E9B8B59}" srcOrd="0" destOrd="0" parTransId="{F7BBF0BF-6EE6-4BD9-A8CA-4C8B61732724}" sibTransId="{C6AFE92C-5747-4279-BB3A-175BA7347C69}"/>
    <dgm:cxn modelId="{59699F36-8C42-49A6-AF6B-365E0DBB3CA6}" srcId="{BBFA81C7-109A-4D7A-88E7-31F7D28A7228}" destId="{7C0986E6-0D97-4F78-93D6-ED93235E148A}" srcOrd="1" destOrd="0" parTransId="{B93EE181-6062-493F-9F78-07B0C84F582D}" sibTransId="{6B6FB878-FA07-4183-BBDD-AF75B0815C35}"/>
    <dgm:cxn modelId="{9F1D13B1-A9F7-45B8-B33D-B9CEAA24DA6D}" type="presOf" srcId="{0AA74642-28D4-4B09-99C8-5C6CE60E0875}" destId="{12EE0488-B989-44A6-8EE1-A920B9319605}" srcOrd="0" destOrd="0" presId="urn:microsoft.com/office/officeart/2005/8/layout/vList6"/>
    <dgm:cxn modelId="{E3490BCC-0AAB-4951-8FD7-7F11554DE735}" type="presOf" srcId="{7C0986E6-0D97-4F78-93D6-ED93235E148A}" destId="{73EEF90A-C51E-416E-8E9E-1BE54E2C1A46}" srcOrd="0" destOrd="1" presId="urn:microsoft.com/office/officeart/2005/8/layout/vList6"/>
    <dgm:cxn modelId="{343875A4-85F2-4C36-8206-86B29C950D15}" type="presOf" srcId="{BBFA81C7-109A-4D7A-88E7-31F7D28A7228}" destId="{22CB9C2C-04FF-4EBA-ACC6-087C10C22EF4}" srcOrd="0" destOrd="0" presId="urn:microsoft.com/office/officeart/2005/8/layout/vList6"/>
    <dgm:cxn modelId="{5311D37C-501D-42E3-8824-57FFEC5FB711}" type="presOf" srcId="{37BB0690-B7A1-4A9E-B6F5-4717B77957A8}" destId="{9150CDD2-F1C1-4F4A-A495-2F0D108671E2}" srcOrd="0" destOrd="0" presId="urn:microsoft.com/office/officeart/2005/8/layout/vList6"/>
    <dgm:cxn modelId="{86841AB2-1C0F-4E5C-867B-E990A67058C9}" srcId="{0AA74642-28D4-4B09-99C8-5C6CE60E0875}" destId="{020B5AC7-3676-45BC-9157-EEC6975A9ECE}" srcOrd="1" destOrd="0" parTransId="{1965866F-59DD-407B-8FB2-8BD0578D2389}" sibTransId="{4D4EEC64-3C1A-40FE-8A6A-C015A3CEA43B}"/>
    <dgm:cxn modelId="{CA5A9139-0402-4269-8CE8-4802D5AF514A}" srcId="{DF96EE2D-75E7-43EA-B981-F1DF1AA25F9F}" destId="{BBFA81C7-109A-4D7A-88E7-31F7D28A7228}" srcOrd="1" destOrd="0" parTransId="{015145AD-E919-4741-8956-1985F1F734C0}" sibTransId="{B21A9F84-B78F-479F-9DCD-3E60F66808FA}"/>
    <dgm:cxn modelId="{06679670-BE4C-4DBF-A621-371A0F80ED22}" type="presOf" srcId="{DF96EE2D-75E7-43EA-B981-F1DF1AA25F9F}" destId="{98B2E0EC-82F4-44C5-BDB3-8155D07E6CFB}" srcOrd="0" destOrd="0" presId="urn:microsoft.com/office/officeart/2005/8/layout/vList6"/>
    <dgm:cxn modelId="{550F42DC-5524-4303-B970-8A08B0B54CAF}" type="presParOf" srcId="{98B2E0EC-82F4-44C5-BDB3-8155D07E6CFB}" destId="{D399D7F9-8A95-4A28-9C2D-A7CCB28CA49D}" srcOrd="0" destOrd="0" presId="urn:microsoft.com/office/officeart/2005/8/layout/vList6"/>
    <dgm:cxn modelId="{E274CB8B-1380-488A-ABB5-E8787A6F8870}" type="presParOf" srcId="{D399D7F9-8A95-4A28-9C2D-A7CCB28CA49D}" destId="{12EE0488-B989-44A6-8EE1-A920B9319605}" srcOrd="0" destOrd="0" presId="urn:microsoft.com/office/officeart/2005/8/layout/vList6"/>
    <dgm:cxn modelId="{30E4C5C9-6DAE-4DE9-AFB0-F2125148AFDF}" type="presParOf" srcId="{D399D7F9-8A95-4A28-9C2D-A7CCB28CA49D}" destId="{9150CDD2-F1C1-4F4A-A495-2F0D108671E2}" srcOrd="1" destOrd="0" presId="urn:microsoft.com/office/officeart/2005/8/layout/vList6"/>
    <dgm:cxn modelId="{712E55CF-7CE1-4B8E-B675-E7E5C7186780}" type="presParOf" srcId="{98B2E0EC-82F4-44C5-BDB3-8155D07E6CFB}" destId="{D2A94394-FCCF-47CA-AE87-8A17ABB396B4}" srcOrd="1" destOrd="0" presId="urn:microsoft.com/office/officeart/2005/8/layout/vList6"/>
    <dgm:cxn modelId="{73467678-1B88-4BB7-A22A-3CC473E1ED11}" type="presParOf" srcId="{98B2E0EC-82F4-44C5-BDB3-8155D07E6CFB}" destId="{76686E34-9E99-4E99-A4FB-1DEFE21B51BB}" srcOrd="2" destOrd="0" presId="urn:microsoft.com/office/officeart/2005/8/layout/vList6"/>
    <dgm:cxn modelId="{D12DBA0A-81CD-4A1C-8A94-3A3EE367C59B}" type="presParOf" srcId="{76686E34-9E99-4E99-A4FB-1DEFE21B51BB}" destId="{22CB9C2C-04FF-4EBA-ACC6-087C10C22EF4}" srcOrd="0" destOrd="0" presId="urn:microsoft.com/office/officeart/2005/8/layout/vList6"/>
    <dgm:cxn modelId="{8F1AF9F2-1FD9-4DB8-9207-ED36AD3934E3}" type="presParOf" srcId="{76686E34-9E99-4E99-A4FB-1DEFE21B51BB}" destId="{73EEF90A-C51E-416E-8E9E-1BE54E2C1A4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87D615-A9F5-4A4D-A3CC-DA0CA7025873}" type="doc">
      <dgm:prSet loTypeId="urn:microsoft.com/office/officeart/2011/layout/HexagonRadial" loCatId="cycle" qsTypeId="urn:microsoft.com/office/officeart/2005/8/quickstyle/3d2" qsCatId="3D" csTypeId="urn:microsoft.com/office/officeart/2005/8/colors/colorful5" csCatId="colorful" phldr="1"/>
      <dgm:spPr/>
      <dgm:t>
        <a:bodyPr/>
        <a:lstStyle/>
        <a:p>
          <a:endParaRPr lang="en-US"/>
        </a:p>
      </dgm:t>
    </dgm:pt>
    <dgm:pt modelId="{BA5B703D-33F1-4175-A95E-58C446836E55}">
      <dgm:prSet phldrT="[Text]"/>
      <dgm:spPr/>
      <dgm:t>
        <a:bodyPr/>
        <a:lstStyle/>
        <a:p>
          <a:r>
            <a:rPr lang="en-US" dirty="0" smtClean="0"/>
            <a:t>Function Element</a:t>
          </a:r>
          <a:endParaRPr lang="en-US" dirty="0"/>
        </a:p>
      </dgm:t>
    </dgm:pt>
    <dgm:pt modelId="{F4BAA94C-1C7D-40C1-8886-056ED2EEF452}" type="parTrans" cxnId="{64B19733-872E-479E-936E-B9DB56549521}">
      <dgm:prSet/>
      <dgm:spPr/>
      <dgm:t>
        <a:bodyPr/>
        <a:lstStyle/>
        <a:p>
          <a:endParaRPr lang="en-US"/>
        </a:p>
      </dgm:t>
    </dgm:pt>
    <dgm:pt modelId="{FB23B707-5032-4111-A4CF-90D0E92C169B}" type="sibTrans" cxnId="{64B19733-872E-479E-936E-B9DB56549521}">
      <dgm:prSet/>
      <dgm:spPr/>
      <dgm:t>
        <a:bodyPr/>
        <a:lstStyle/>
        <a:p>
          <a:endParaRPr lang="en-US"/>
        </a:p>
      </dgm:t>
    </dgm:pt>
    <dgm:pt modelId="{E2A6C0BD-597E-4820-9EF6-89226083F4C1}">
      <dgm:prSet phldrT="[Text]"/>
      <dgm:spPr/>
      <dgm:t>
        <a:bodyPr/>
        <a:lstStyle/>
        <a:p>
          <a:r>
            <a:rPr lang="en-US" dirty="0" smtClean="0">
              <a:solidFill>
                <a:schemeClr val="tx1"/>
              </a:solidFill>
            </a:rPr>
            <a:t>Function prototype/</a:t>
          </a:r>
        </a:p>
        <a:p>
          <a:r>
            <a:rPr lang="en-US" dirty="0" smtClean="0">
              <a:solidFill>
                <a:schemeClr val="tx1"/>
              </a:solidFill>
            </a:rPr>
            <a:t>declaration</a:t>
          </a:r>
          <a:endParaRPr lang="en-US" dirty="0">
            <a:solidFill>
              <a:schemeClr val="tx1"/>
            </a:solidFill>
          </a:endParaRPr>
        </a:p>
      </dgm:t>
    </dgm:pt>
    <dgm:pt modelId="{89A9BB21-CF4C-4568-ADF0-CAB95D5763A0}" type="parTrans" cxnId="{CBB9162E-1F39-4C07-B8D3-BBC96B90BF7A}">
      <dgm:prSet/>
      <dgm:spPr/>
      <dgm:t>
        <a:bodyPr/>
        <a:lstStyle/>
        <a:p>
          <a:endParaRPr lang="en-US"/>
        </a:p>
      </dgm:t>
    </dgm:pt>
    <dgm:pt modelId="{16D75CD8-19FC-4D67-BDD3-9977BD0C0EEB}" type="sibTrans" cxnId="{CBB9162E-1F39-4C07-B8D3-BBC96B90BF7A}">
      <dgm:prSet/>
      <dgm:spPr/>
      <dgm:t>
        <a:bodyPr/>
        <a:lstStyle/>
        <a:p>
          <a:endParaRPr lang="en-US"/>
        </a:p>
      </dgm:t>
    </dgm:pt>
    <dgm:pt modelId="{BDD46AA7-340E-4109-953C-CBBE5E112EC7}">
      <dgm:prSet phldrT="[Text]"/>
      <dgm:spPr/>
      <dgm:t>
        <a:bodyPr/>
        <a:lstStyle/>
        <a:p>
          <a:r>
            <a:rPr lang="en-US" dirty="0" smtClean="0">
              <a:solidFill>
                <a:schemeClr val="tx1"/>
              </a:solidFill>
            </a:rPr>
            <a:t>Function call</a:t>
          </a:r>
          <a:endParaRPr lang="en-US" dirty="0">
            <a:solidFill>
              <a:schemeClr val="tx1"/>
            </a:solidFill>
          </a:endParaRPr>
        </a:p>
      </dgm:t>
    </dgm:pt>
    <dgm:pt modelId="{AD9070BE-ED84-49CF-B056-9B8A0A7C459C}" type="parTrans" cxnId="{5F60927E-1E0A-49D2-87B4-18347AACFA99}">
      <dgm:prSet/>
      <dgm:spPr/>
      <dgm:t>
        <a:bodyPr/>
        <a:lstStyle/>
        <a:p>
          <a:endParaRPr lang="en-US"/>
        </a:p>
      </dgm:t>
    </dgm:pt>
    <dgm:pt modelId="{FFF49420-1546-4CF6-B996-D0D8E48FB478}" type="sibTrans" cxnId="{5F60927E-1E0A-49D2-87B4-18347AACFA99}">
      <dgm:prSet/>
      <dgm:spPr/>
      <dgm:t>
        <a:bodyPr/>
        <a:lstStyle/>
        <a:p>
          <a:endParaRPr lang="en-US"/>
        </a:p>
      </dgm:t>
    </dgm:pt>
    <dgm:pt modelId="{155B11C4-FF81-43B7-A426-75766F5EFF3A}">
      <dgm:prSet phldrT="[Text]"/>
      <dgm:spPr/>
      <dgm:t>
        <a:bodyPr/>
        <a:lstStyle/>
        <a:p>
          <a:r>
            <a:rPr lang="en-US" dirty="0" smtClean="0"/>
            <a:t>Function definition</a:t>
          </a:r>
          <a:endParaRPr lang="en-US" dirty="0"/>
        </a:p>
      </dgm:t>
    </dgm:pt>
    <dgm:pt modelId="{0AE56CF6-8F30-4E8D-879F-6460D9957A03}" type="parTrans" cxnId="{CFC25906-D122-4345-9E81-A92ABEEB7BDC}">
      <dgm:prSet/>
      <dgm:spPr/>
      <dgm:t>
        <a:bodyPr/>
        <a:lstStyle/>
        <a:p>
          <a:endParaRPr lang="en-US"/>
        </a:p>
      </dgm:t>
    </dgm:pt>
    <dgm:pt modelId="{A8700897-7032-4B2D-AF2F-52537BB91B8C}" type="sibTrans" cxnId="{CFC25906-D122-4345-9E81-A92ABEEB7BDC}">
      <dgm:prSet/>
      <dgm:spPr/>
      <dgm:t>
        <a:bodyPr/>
        <a:lstStyle/>
        <a:p>
          <a:endParaRPr lang="en-US"/>
        </a:p>
      </dgm:t>
    </dgm:pt>
    <dgm:pt modelId="{25845401-F7A3-4DAD-BF9A-5453FD830388}" type="pres">
      <dgm:prSet presAssocID="{6687D615-A9F5-4A4D-A3CC-DA0CA7025873}" presName="Name0" presStyleCnt="0">
        <dgm:presLayoutVars>
          <dgm:chMax val="1"/>
          <dgm:chPref val="1"/>
          <dgm:dir/>
          <dgm:animOne val="branch"/>
          <dgm:animLvl val="lvl"/>
        </dgm:presLayoutVars>
      </dgm:prSet>
      <dgm:spPr/>
      <dgm:t>
        <a:bodyPr/>
        <a:lstStyle/>
        <a:p>
          <a:endParaRPr lang="en-US"/>
        </a:p>
      </dgm:t>
    </dgm:pt>
    <dgm:pt modelId="{F1A26044-0E0D-4D5E-B212-5B7138D51E39}" type="pres">
      <dgm:prSet presAssocID="{BA5B703D-33F1-4175-A95E-58C446836E55}" presName="Parent" presStyleLbl="node0" presStyleIdx="0" presStyleCnt="1">
        <dgm:presLayoutVars>
          <dgm:chMax val="6"/>
          <dgm:chPref val="6"/>
        </dgm:presLayoutVars>
      </dgm:prSet>
      <dgm:spPr/>
      <dgm:t>
        <a:bodyPr/>
        <a:lstStyle/>
        <a:p>
          <a:endParaRPr lang="en-US"/>
        </a:p>
      </dgm:t>
    </dgm:pt>
    <dgm:pt modelId="{D2C95DFC-7A5C-413D-B6A1-DFBD1EEA70B5}" type="pres">
      <dgm:prSet presAssocID="{E2A6C0BD-597E-4820-9EF6-89226083F4C1}" presName="Accent1" presStyleCnt="0"/>
      <dgm:spPr/>
    </dgm:pt>
    <dgm:pt modelId="{E55CC5C4-F358-4EDA-8644-733696673C16}" type="pres">
      <dgm:prSet presAssocID="{E2A6C0BD-597E-4820-9EF6-89226083F4C1}" presName="Accent" presStyleLbl="bgShp" presStyleIdx="0" presStyleCnt="3"/>
      <dgm:spPr/>
    </dgm:pt>
    <dgm:pt modelId="{FDDE230F-E292-45C4-A2BD-3DE8CC1CD4AB}" type="pres">
      <dgm:prSet presAssocID="{E2A6C0BD-597E-4820-9EF6-89226083F4C1}" presName="Child1" presStyleLbl="node1" presStyleIdx="0" presStyleCnt="3">
        <dgm:presLayoutVars>
          <dgm:chMax val="0"/>
          <dgm:chPref val="0"/>
          <dgm:bulletEnabled val="1"/>
        </dgm:presLayoutVars>
      </dgm:prSet>
      <dgm:spPr/>
      <dgm:t>
        <a:bodyPr/>
        <a:lstStyle/>
        <a:p>
          <a:endParaRPr lang="en-US"/>
        </a:p>
      </dgm:t>
    </dgm:pt>
    <dgm:pt modelId="{C10551C0-59EE-4EC4-B548-DE62D59BA1F8}" type="pres">
      <dgm:prSet presAssocID="{BDD46AA7-340E-4109-953C-CBBE5E112EC7}" presName="Accent2" presStyleCnt="0"/>
      <dgm:spPr/>
    </dgm:pt>
    <dgm:pt modelId="{1FF51212-D5A0-4BDF-8846-CFD1A0EAE6A0}" type="pres">
      <dgm:prSet presAssocID="{BDD46AA7-340E-4109-953C-CBBE5E112EC7}" presName="Accent" presStyleLbl="bgShp" presStyleIdx="1" presStyleCnt="3" custLinFactX="-145783" custLinFactY="36322" custLinFactNeighborX="-200000" custLinFactNeighborY="100000"/>
      <dgm:spPr/>
    </dgm:pt>
    <dgm:pt modelId="{3FE5CFE0-ED15-4C35-A47E-3D652D76724D}" type="pres">
      <dgm:prSet presAssocID="{BDD46AA7-340E-4109-953C-CBBE5E112EC7}" presName="Child2" presStyleLbl="node1" presStyleIdx="1" presStyleCnt="3">
        <dgm:presLayoutVars>
          <dgm:chMax val="0"/>
          <dgm:chPref val="0"/>
          <dgm:bulletEnabled val="1"/>
        </dgm:presLayoutVars>
      </dgm:prSet>
      <dgm:spPr/>
      <dgm:t>
        <a:bodyPr/>
        <a:lstStyle/>
        <a:p>
          <a:endParaRPr lang="en-US"/>
        </a:p>
      </dgm:t>
    </dgm:pt>
    <dgm:pt modelId="{2CC01A3D-7B1E-4A33-AF51-DFBD1B17CA43}" type="pres">
      <dgm:prSet presAssocID="{155B11C4-FF81-43B7-A426-75766F5EFF3A}" presName="Accent3" presStyleCnt="0"/>
      <dgm:spPr/>
    </dgm:pt>
    <dgm:pt modelId="{249E38B9-97C2-4F9E-A847-1382D045DF5D}" type="pres">
      <dgm:prSet presAssocID="{155B11C4-FF81-43B7-A426-75766F5EFF3A}" presName="Accent" presStyleLbl="bgShp" presStyleIdx="2" presStyleCnt="3" custLinFactX="-100000" custLinFactY="-100000" custLinFactNeighborX="-164691" custLinFactNeighborY="-189996"/>
      <dgm:spPr/>
    </dgm:pt>
    <dgm:pt modelId="{B8C844FC-5C09-46F3-A154-6A85E4FB1085}" type="pres">
      <dgm:prSet presAssocID="{155B11C4-FF81-43B7-A426-75766F5EFF3A}" presName="Child3" presStyleLbl="node1" presStyleIdx="2" presStyleCnt="3">
        <dgm:presLayoutVars>
          <dgm:chMax val="0"/>
          <dgm:chPref val="0"/>
          <dgm:bulletEnabled val="1"/>
        </dgm:presLayoutVars>
      </dgm:prSet>
      <dgm:spPr/>
      <dgm:t>
        <a:bodyPr/>
        <a:lstStyle/>
        <a:p>
          <a:endParaRPr lang="en-US"/>
        </a:p>
      </dgm:t>
    </dgm:pt>
  </dgm:ptLst>
  <dgm:cxnLst>
    <dgm:cxn modelId="{64B19733-872E-479E-936E-B9DB56549521}" srcId="{6687D615-A9F5-4A4D-A3CC-DA0CA7025873}" destId="{BA5B703D-33F1-4175-A95E-58C446836E55}" srcOrd="0" destOrd="0" parTransId="{F4BAA94C-1C7D-40C1-8886-056ED2EEF452}" sibTransId="{FB23B707-5032-4111-A4CF-90D0E92C169B}"/>
    <dgm:cxn modelId="{BD55D032-D4EF-4E9B-A136-65ADB9DD980F}" type="presOf" srcId="{BDD46AA7-340E-4109-953C-CBBE5E112EC7}" destId="{3FE5CFE0-ED15-4C35-A47E-3D652D76724D}" srcOrd="0" destOrd="0" presId="urn:microsoft.com/office/officeart/2011/layout/HexagonRadial"/>
    <dgm:cxn modelId="{5F60927E-1E0A-49D2-87B4-18347AACFA99}" srcId="{BA5B703D-33F1-4175-A95E-58C446836E55}" destId="{BDD46AA7-340E-4109-953C-CBBE5E112EC7}" srcOrd="1" destOrd="0" parTransId="{AD9070BE-ED84-49CF-B056-9B8A0A7C459C}" sibTransId="{FFF49420-1546-4CF6-B996-D0D8E48FB478}"/>
    <dgm:cxn modelId="{09783410-0CAC-41E1-A62C-F7E78A33CE29}" type="presOf" srcId="{E2A6C0BD-597E-4820-9EF6-89226083F4C1}" destId="{FDDE230F-E292-45C4-A2BD-3DE8CC1CD4AB}" srcOrd="0" destOrd="0" presId="urn:microsoft.com/office/officeart/2011/layout/HexagonRadial"/>
    <dgm:cxn modelId="{CBB9162E-1F39-4C07-B8D3-BBC96B90BF7A}" srcId="{BA5B703D-33F1-4175-A95E-58C446836E55}" destId="{E2A6C0BD-597E-4820-9EF6-89226083F4C1}" srcOrd="0" destOrd="0" parTransId="{89A9BB21-CF4C-4568-ADF0-CAB95D5763A0}" sibTransId="{16D75CD8-19FC-4D67-BDD3-9977BD0C0EEB}"/>
    <dgm:cxn modelId="{D1EF40DE-419D-4BD7-8869-521DA07A7504}" type="presOf" srcId="{6687D615-A9F5-4A4D-A3CC-DA0CA7025873}" destId="{25845401-F7A3-4DAD-BF9A-5453FD830388}" srcOrd="0" destOrd="0" presId="urn:microsoft.com/office/officeart/2011/layout/HexagonRadial"/>
    <dgm:cxn modelId="{CFC25906-D122-4345-9E81-A92ABEEB7BDC}" srcId="{BA5B703D-33F1-4175-A95E-58C446836E55}" destId="{155B11C4-FF81-43B7-A426-75766F5EFF3A}" srcOrd="2" destOrd="0" parTransId="{0AE56CF6-8F30-4E8D-879F-6460D9957A03}" sibTransId="{A8700897-7032-4B2D-AF2F-52537BB91B8C}"/>
    <dgm:cxn modelId="{93B75EE2-790B-40C4-B11F-D94532F28CFF}" type="presOf" srcId="{BA5B703D-33F1-4175-A95E-58C446836E55}" destId="{F1A26044-0E0D-4D5E-B212-5B7138D51E39}" srcOrd="0" destOrd="0" presId="urn:microsoft.com/office/officeart/2011/layout/HexagonRadial"/>
    <dgm:cxn modelId="{E2F112B3-994D-4453-9FFB-C0BFC36DFEF8}" type="presOf" srcId="{155B11C4-FF81-43B7-A426-75766F5EFF3A}" destId="{B8C844FC-5C09-46F3-A154-6A85E4FB1085}" srcOrd="0" destOrd="0" presId="urn:microsoft.com/office/officeart/2011/layout/HexagonRadial"/>
    <dgm:cxn modelId="{1D7C26DA-8689-4618-9108-CBE70E793100}" type="presParOf" srcId="{25845401-F7A3-4DAD-BF9A-5453FD830388}" destId="{F1A26044-0E0D-4D5E-B212-5B7138D51E39}" srcOrd="0" destOrd="0" presId="urn:microsoft.com/office/officeart/2011/layout/HexagonRadial"/>
    <dgm:cxn modelId="{140DF692-27B8-431B-AE46-9F70C5AF8C66}" type="presParOf" srcId="{25845401-F7A3-4DAD-BF9A-5453FD830388}" destId="{D2C95DFC-7A5C-413D-B6A1-DFBD1EEA70B5}" srcOrd="1" destOrd="0" presId="urn:microsoft.com/office/officeart/2011/layout/HexagonRadial"/>
    <dgm:cxn modelId="{188992D0-6B04-4DDD-AC6F-5D7ADBAC8ED8}" type="presParOf" srcId="{D2C95DFC-7A5C-413D-B6A1-DFBD1EEA70B5}" destId="{E55CC5C4-F358-4EDA-8644-733696673C16}" srcOrd="0" destOrd="0" presId="urn:microsoft.com/office/officeart/2011/layout/HexagonRadial"/>
    <dgm:cxn modelId="{38DA10DF-6D93-4597-8A4F-8EC511FF00C8}" type="presParOf" srcId="{25845401-F7A3-4DAD-BF9A-5453FD830388}" destId="{FDDE230F-E292-45C4-A2BD-3DE8CC1CD4AB}" srcOrd="2" destOrd="0" presId="urn:microsoft.com/office/officeart/2011/layout/HexagonRadial"/>
    <dgm:cxn modelId="{8215B5ED-2BAE-4A80-B4FA-103780DE9E95}" type="presParOf" srcId="{25845401-F7A3-4DAD-BF9A-5453FD830388}" destId="{C10551C0-59EE-4EC4-B548-DE62D59BA1F8}" srcOrd="3" destOrd="0" presId="urn:microsoft.com/office/officeart/2011/layout/HexagonRadial"/>
    <dgm:cxn modelId="{7A59F640-8B99-4A42-A7C3-23056115D1D9}" type="presParOf" srcId="{C10551C0-59EE-4EC4-B548-DE62D59BA1F8}" destId="{1FF51212-D5A0-4BDF-8846-CFD1A0EAE6A0}" srcOrd="0" destOrd="0" presId="urn:microsoft.com/office/officeart/2011/layout/HexagonRadial"/>
    <dgm:cxn modelId="{BB1700E4-0BD2-4268-990A-17674CBE8C52}" type="presParOf" srcId="{25845401-F7A3-4DAD-BF9A-5453FD830388}" destId="{3FE5CFE0-ED15-4C35-A47E-3D652D76724D}" srcOrd="4" destOrd="0" presId="urn:microsoft.com/office/officeart/2011/layout/HexagonRadial"/>
    <dgm:cxn modelId="{E08DE31C-3125-4B5F-983E-7ABB8A9A6B18}" type="presParOf" srcId="{25845401-F7A3-4DAD-BF9A-5453FD830388}" destId="{2CC01A3D-7B1E-4A33-AF51-DFBD1B17CA43}" srcOrd="5" destOrd="0" presId="urn:microsoft.com/office/officeart/2011/layout/HexagonRadial"/>
    <dgm:cxn modelId="{6B232809-7C02-4C1E-84D0-0B5E4AA2E301}" type="presParOf" srcId="{2CC01A3D-7B1E-4A33-AF51-DFBD1B17CA43}" destId="{249E38B9-97C2-4F9E-A847-1382D045DF5D}" srcOrd="0" destOrd="0" presId="urn:microsoft.com/office/officeart/2011/layout/HexagonRadial"/>
    <dgm:cxn modelId="{B8B990F2-38C4-472F-8FC1-6B085B0EEE61}" type="presParOf" srcId="{25845401-F7A3-4DAD-BF9A-5453FD830388}" destId="{B8C844FC-5C09-46F3-A154-6A85E4FB1085}" srcOrd="6"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0CDD2-F1C1-4F4A-A495-2F0D108671E2}">
      <dsp:nvSpPr>
        <dsp:cNvPr id="0" name=""/>
        <dsp:cNvSpPr/>
      </dsp:nvSpPr>
      <dsp:spPr>
        <a:xfrm>
          <a:off x="3049487" y="2027"/>
          <a:ext cx="4563074" cy="1929493"/>
        </a:xfrm>
        <a:prstGeom prst="rightArrow">
          <a:avLst>
            <a:gd name="adj1" fmla="val 75000"/>
            <a:gd name="adj2" fmla="val 50000"/>
          </a:avLst>
        </a:prstGeom>
        <a:solidFill>
          <a:schemeClr val="accent2">
            <a:alpha val="90000"/>
            <a:tint val="4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065" tIns="12065" rIns="12065" bIns="12065" numCol="1" spcCol="1270" anchor="t" anchorCtr="0">
          <a:noAutofit/>
        </a:bodyPr>
        <a:lstStyle/>
        <a:p>
          <a:pPr marL="228600" lvl="1" indent="-139700" algn="l" defTabSz="844550">
            <a:lnSpc>
              <a:spcPct val="90000"/>
            </a:lnSpc>
            <a:spcBef>
              <a:spcPct val="0"/>
            </a:spcBef>
            <a:spcAft>
              <a:spcPct val="15000"/>
            </a:spcAft>
            <a:buChar char="••"/>
          </a:pPr>
          <a:r>
            <a:rPr lang="en-US" sz="1900" kern="1200" dirty="0" smtClean="0"/>
            <a:t>Also known as mathematical library functions. </a:t>
          </a:r>
          <a:endParaRPr lang="en-US" sz="1900" kern="1200" dirty="0"/>
        </a:p>
        <a:p>
          <a:pPr marL="228600" lvl="1" indent="-139700" algn="l" defTabSz="844550">
            <a:lnSpc>
              <a:spcPct val="90000"/>
            </a:lnSpc>
            <a:spcBef>
              <a:spcPct val="0"/>
            </a:spcBef>
            <a:spcAft>
              <a:spcPct val="15000"/>
            </a:spcAft>
            <a:buChar char="••"/>
          </a:pPr>
          <a:r>
            <a:rPr lang="en-US" sz="1900" kern="1200" dirty="0" smtClean="0"/>
            <a:t>These functions are available in the C++ standard library such as </a:t>
          </a:r>
          <a:r>
            <a:rPr lang="en-US" sz="1900" kern="1200" dirty="0" err="1" smtClean="0">
              <a:latin typeface="Courier New" panose="02070309020205020404" pitchFamily="49" charset="0"/>
              <a:cs typeface="Courier New" panose="02070309020205020404" pitchFamily="49" charset="0"/>
            </a:rPr>
            <a:t>math.h</a:t>
          </a:r>
          <a:r>
            <a:rPr lang="en-US" sz="1900" kern="1200" dirty="0" smtClean="0">
              <a:latin typeface="Courier New" panose="02070309020205020404" pitchFamily="49" charset="0"/>
              <a:cs typeface="Courier New" panose="02070309020205020404" pitchFamily="49" charset="0"/>
            </a:rPr>
            <a:t> </a:t>
          </a:r>
          <a:r>
            <a:rPr lang="en-US" sz="1900" kern="1200" dirty="0" smtClean="0"/>
            <a:t>and others.</a:t>
          </a:r>
          <a:endParaRPr lang="en-US" sz="1900" kern="1200" dirty="0"/>
        </a:p>
      </dsp:txBody>
      <dsp:txXfrm>
        <a:off x="3049487" y="243214"/>
        <a:ext cx="3839514" cy="1447119"/>
      </dsp:txXfrm>
    </dsp:sp>
    <dsp:sp modelId="{12EE0488-B989-44A6-8EE1-A920B9319605}">
      <dsp:nvSpPr>
        <dsp:cNvPr id="0" name=""/>
        <dsp:cNvSpPr/>
      </dsp:nvSpPr>
      <dsp:spPr>
        <a:xfrm>
          <a:off x="7437" y="287671"/>
          <a:ext cx="3042049" cy="1358205"/>
        </a:xfrm>
        <a:prstGeom prst="roundRect">
          <a:avLst/>
        </a:prstGeom>
        <a:gradFill rotWithShape="0">
          <a:gsLst>
            <a:gs pos="0">
              <a:schemeClr val="accent2">
                <a:alpha val="90000"/>
                <a:hueOff val="0"/>
                <a:satOff val="0"/>
                <a:lumOff val="0"/>
                <a:alphaOff val="0"/>
                <a:shade val="51000"/>
                <a:satMod val="130000"/>
              </a:schemeClr>
            </a:gs>
            <a:gs pos="80000">
              <a:schemeClr val="accent2">
                <a:alpha val="90000"/>
                <a:hueOff val="0"/>
                <a:satOff val="0"/>
                <a:lumOff val="0"/>
                <a:alphaOff val="0"/>
                <a:shade val="93000"/>
                <a:satMod val="130000"/>
              </a:schemeClr>
            </a:gs>
            <a:gs pos="100000">
              <a:schemeClr val="accent2">
                <a:alpha val="9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lvl="0" algn="ctr" defTabSz="1466850">
            <a:lnSpc>
              <a:spcPct val="90000"/>
            </a:lnSpc>
            <a:spcBef>
              <a:spcPct val="0"/>
            </a:spcBef>
            <a:spcAft>
              <a:spcPct val="35000"/>
            </a:spcAft>
          </a:pPr>
          <a:r>
            <a:rPr lang="en-US" sz="3300" kern="1200" dirty="0" smtClean="0"/>
            <a:t>Pre-defined </a:t>
          </a:r>
        </a:p>
        <a:p>
          <a:pPr lvl="0" algn="ctr" defTabSz="1466850">
            <a:lnSpc>
              <a:spcPct val="90000"/>
            </a:lnSpc>
            <a:spcBef>
              <a:spcPct val="0"/>
            </a:spcBef>
            <a:spcAft>
              <a:spcPct val="35000"/>
            </a:spcAft>
          </a:pPr>
          <a:r>
            <a:rPr lang="en-US" sz="3300" kern="1200" dirty="0" smtClean="0"/>
            <a:t>Function</a:t>
          </a:r>
          <a:endParaRPr lang="en-US" sz="3300" kern="1200" dirty="0"/>
        </a:p>
      </dsp:txBody>
      <dsp:txXfrm>
        <a:off x="73739" y="353973"/>
        <a:ext cx="2909445" cy="1225601"/>
      </dsp:txXfrm>
    </dsp:sp>
    <dsp:sp modelId="{73EEF90A-C51E-416E-8E9E-1BE54E2C1A46}">
      <dsp:nvSpPr>
        <dsp:cNvPr id="0" name=""/>
        <dsp:cNvSpPr/>
      </dsp:nvSpPr>
      <dsp:spPr>
        <a:xfrm>
          <a:off x="3049487" y="2067342"/>
          <a:ext cx="4563074" cy="2045430"/>
        </a:xfrm>
        <a:prstGeom prst="rightArrow">
          <a:avLst>
            <a:gd name="adj1" fmla="val 75000"/>
            <a:gd name="adj2" fmla="val 50000"/>
          </a:avLst>
        </a:prstGeom>
        <a:solidFill>
          <a:schemeClr val="accent2">
            <a:alpha val="90000"/>
            <a:tint val="4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065" tIns="12065" rIns="12065" bIns="12065" numCol="1" spcCol="1270" anchor="t" anchorCtr="0">
          <a:noAutofit/>
        </a:bodyPr>
        <a:lstStyle/>
        <a:p>
          <a:pPr marL="266700" lvl="1" indent="-177800" algn="l" defTabSz="844550">
            <a:lnSpc>
              <a:spcPct val="90000"/>
            </a:lnSpc>
            <a:spcBef>
              <a:spcPct val="0"/>
            </a:spcBef>
            <a:spcAft>
              <a:spcPct val="15000"/>
            </a:spcAft>
            <a:buChar char="••"/>
          </a:pPr>
          <a:r>
            <a:rPr lang="en-US" sz="1900" kern="1200" dirty="0" smtClean="0"/>
            <a:t>Functions which are defined by the user. </a:t>
          </a:r>
          <a:endParaRPr lang="en-US" sz="1900" kern="1200" dirty="0"/>
        </a:p>
        <a:p>
          <a:pPr marL="266700" lvl="1" indent="-177800" algn="l" defTabSz="844550">
            <a:lnSpc>
              <a:spcPct val="90000"/>
            </a:lnSpc>
            <a:spcBef>
              <a:spcPct val="0"/>
            </a:spcBef>
            <a:spcAft>
              <a:spcPct val="15000"/>
            </a:spcAft>
            <a:buChar char="••"/>
          </a:pPr>
          <a:r>
            <a:rPr lang="en-US" sz="1900" kern="1200" dirty="0" smtClean="0"/>
            <a:t>The functions that programmers create for specialized tasks.</a:t>
          </a:r>
          <a:endParaRPr lang="en-US" sz="1900" kern="1200" dirty="0"/>
        </a:p>
      </dsp:txBody>
      <dsp:txXfrm>
        <a:off x="3049487" y="2323021"/>
        <a:ext cx="3796038" cy="1534072"/>
      </dsp:txXfrm>
    </dsp:sp>
    <dsp:sp modelId="{22CB9C2C-04FF-4EBA-ACC6-087C10C22EF4}">
      <dsp:nvSpPr>
        <dsp:cNvPr id="0" name=""/>
        <dsp:cNvSpPr/>
      </dsp:nvSpPr>
      <dsp:spPr>
        <a:xfrm>
          <a:off x="7437" y="2410954"/>
          <a:ext cx="3042049" cy="1358205"/>
        </a:xfrm>
        <a:prstGeom prst="roundRect">
          <a:avLst/>
        </a:prstGeom>
        <a:gradFill rotWithShape="0">
          <a:gsLst>
            <a:gs pos="0">
              <a:schemeClr val="accent2">
                <a:alpha val="90000"/>
                <a:hueOff val="0"/>
                <a:satOff val="0"/>
                <a:lumOff val="0"/>
                <a:alphaOff val="-40000"/>
                <a:shade val="51000"/>
                <a:satMod val="130000"/>
              </a:schemeClr>
            </a:gs>
            <a:gs pos="80000">
              <a:schemeClr val="accent2">
                <a:alpha val="90000"/>
                <a:hueOff val="0"/>
                <a:satOff val="0"/>
                <a:lumOff val="0"/>
                <a:alphaOff val="-40000"/>
                <a:shade val="93000"/>
                <a:satMod val="130000"/>
              </a:schemeClr>
            </a:gs>
            <a:gs pos="100000">
              <a:schemeClr val="accent2">
                <a:alpha val="90000"/>
                <a:hueOff val="0"/>
                <a:satOff val="0"/>
                <a:lumOff val="0"/>
                <a:alphaOff val="-40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lvl="0" algn="ctr" defTabSz="1466850">
            <a:lnSpc>
              <a:spcPct val="90000"/>
            </a:lnSpc>
            <a:spcBef>
              <a:spcPct val="0"/>
            </a:spcBef>
            <a:spcAft>
              <a:spcPct val="35000"/>
            </a:spcAft>
          </a:pPr>
          <a:r>
            <a:rPr lang="en-US" sz="3300" kern="1200" dirty="0" smtClean="0"/>
            <a:t>User-defined Function</a:t>
          </a:r>
          <a:endParaRPr lang="en-US" sz="3300" kern="1200" dirty="0"/>
        </a:p>
      </dsp:txBody>
      <dsp:txXfrm>
        <a:off x="73739" y="2477256"/>
        <a:ext cx="2909445" cy="12256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A26044-0E0D-4D5E-B212-5B7138D51E39}">
      <dsp:nvSpPr>
        <dsp:cNvPr id="0" name=""/>
        <dsp:cNvSpPr/>
      </dsp:nvSpPr>
      <dsp:spPr>
        <a:xfrm>
          <a:off x="1205655" y="680473"/>
          <a:ext cx="1940689" cy="1678449"/>
        </a:xfrm>
        <a:prstGeom prst="hexagon">
          <a:avLst>
            <a:gd name="adj" fmla="val 2857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r>
            <a:rPr lang="en-US" sz="2700" kern="1200" dirty="0" smtClean="0"/>
            <a:t>Function Element</a:t>
          </a:r>
          <a:endParaRPr lang="en-US" sz="2700" kern="1200" dirty="0"/>
        </a:p>
      </dsp:txBody>
      <dsp:txXfrm>
        <a:off x="1527223" y="958589"/>
        <a:ext cx="1297553" cy="1122217"/>
      </dsp:txXfrm>
    </dsp:sp>
    <dsp:sp modelId="{1FF51212-D5A0-4BDF-8846-CFD1A0EAE6A0}">
      <dsp:nvSpPr>
        <dsp:cNvPr id="0" name=""/>
        <dsp:cNvSpPr/>
      </dsp:nvSpPr>
      <dsp:spPr>
        <a:xfrm>
          <a:off x="743215" y="1916481"/>
          <a:ext cx="732317" cy="630730"/>
        </a:xfrm>
        <a:prstGeom prst="hexagon">
          <a:avLst>
            <a:gd name="adj" fmla="val 28900"/>
            <a:gd name="vf" fmla="val 115470"/>
          </a:avLst>
        </a:prstGeom>
        <a:gradFill rotWithShape="0">
          <a:gsLst>
            <a:gs pos="0">
              <a:schemeClr val="accent5">
                <a:tint val="40000"/>
                <a:hueOff val="0"/>
                <a:satOff val="0"/>
                <a:lumOff val="0"/>
                <a:alphaOff val="0"/>
                <a:shade val="51000"/>
                <a:satMod val="130000"/>
              </a:schemeClr>
            </a:gs>
            <a:gs pos="80000">
              <a:schemeClr val="accent5">
                <a:tint val="40000"/>
                <a:hueOff val="0"/>
                <a:satOff val="0"/>
                <a:lumOff val="0"/>
                <a:alphaOff val="0"/>
                <a:shade val="93000"/>
                <a:satMod val="130000"/>
              </a:schemeClr>
            </a:gs>
            <a:gs pos="100000">
              <a:schemeClr val="accent5">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FDDE230F-E292-45C4-A2BD-3DE8CC1CD4AB}">
      <dsp:nvSpPr>
        <dsp:cNvPr id="0" name=""/>
        <dsp:cNvSpPr/>
      </dsp:nvSpPr>
      <dsp:spPr>
        <a:xfrm>
          <a:off x="2842960" y="0"/>
          <a:ext cx="1590183" cy="1375714"/>
        </a:xfrm>
        <a:prstGeom prst="hexagon">
          <a:avLst>
            <a:gd name="adj" fmla="val 2857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solidFill>
                <a:schemeClr val="tx1"/>
              </a:solidFill>
            </a:rPr>
            <a:t>Function prototype/</a:t>
          </a:r>
        </a:p>
        <a:p>
          <a:pPr lvl="0" algn="ctr" defTabSz="755650">
            <a:lnSpc>
              <a:spcPct val="90000"/>
            </a:lnSpc>
            <a:spcBef>
              <a:spcPct val="0"/>
            </a:spcBef>
            <a:spcAft>
              <a:spcPct val="35000"/>
            </a:spcAft>
          </a:pPr>
          <a:r>
            <a:rPr lang="en-US" sz="1700" kern="1200" dirty="0" smtClean="0">
              <a:solidFill>
                <a:schemeClr val="tx1"/>
              </a:solidFill>
            </a:rPr>
            <a:t>declaration</a:t>
          </a:r>
          <a:endParaRPr lang="en-US" sz="1700" kern="1200" dirty="0">
            <a:solidFill>
              <a:schemeClr val="tx1"/>
            </a:solidFill>
          </a:endParaRPr>
        </a:p>
      </dsp:txBody>
      <dsp:txXfrm>
        <a:off x="3106489" y="227987"/>
        <a:ext cx="1063125" cy="919740"/>
      </dsp:txXfrm>
    </dsp:sp>
    <dsp:sp modelId="{249E38B9-97C2-4F9E-A847-1382D045DF5D}">
      <dsp:nvSpPr>
        <dsp:cNvPr id="0" name=""/>
        <dsp:cNvSpPr/>
      </dsp:nvSpPr>
      <dsp:spPr>
        <a:xfrm>
          <a:off x="743208" y="558977"/>
          <a:ext cx="732317" cy="630730"/>
        </a:xfrm>
        <a:prstGeom prst="hexagon">
          <a:avLst>
            <a:gd name="adj" fmla="val 28900"/>
            <a:gd name="vf" fmla="val 115470"/>
          </a:avLst>
        </a:prstGeom>
        <a:gradFill rotWithShape="0">
          <a:gsLst>
            <a:gs pos="0">
              <a:schemeClr val="accent5">
                <a:tint val="40000"/>
                <a:hueOff val="0"/>
                <a:satOff val="0"/>
                <a:lumOff val="0"/>
                <a:alphaOff val="0"/>
                <a:shade val="51000"/>
                <a:satMod val="130000"/>
              </a:schemeClr>
            </a:gs>
            <a:gs pos="80000">
              <a:schemeClr val="accent5">
                <a:tint val="40000"/>
                <a:hueOff val="0"/>
                <a:satOff val="0"/>
                <a:lumOff val="0"/>
                <a:alphaOff val="0"/>
                <a:shade val="93000"/>
                <a:satMod val="130000"/>
              </a:schemeClr>
            </a:gs>
            <a:gs pos="100000">
              <a:schemeClr val="accent5">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3FE5CFE0-ED15-4C35-A47E-3D652D76724D}">
      <dsp:nvSpPr>
        <dsp:cNvPr id="0" name=""/>
        <dsp:cNvSpPr/>
      </dsp:nvSpPr>
      <dsp:spPr>
        <a:xfrm>
          <a:off x="2842960" y="1663293"/>
          <a:ext cx="1590183" cy="1375714"/>
        </a:xfrm>
        <a:prstGeom prst="hexagon">
          <a:avLst>
            <a:gd name="adj" fmla="val 28570"/>
            <a:gd name="vf" fmla="val 115470"/>
          </a:avLst>
        </a:prstGeom>
        <a:gradFill rotWithShape="0">
          <a:gsLst>
            <a:gs pos="0">
              <a:schemeClr val="accent5">
                <a:hueOff val="-112127"/>
                <a:satOff val="-6860"/>
                <a:lumOff val="-19902"/>
                <a:alphaOff val="0"/>
                <a:shade val="51000"/>
                <a:satMod val="130000"/>
              </a:schemeClr>
            </a:gs>
            <a:gs pos="80000">
              <a:schemeClr val="accent5">
                <a:hueOff val="-112127"/>
                <a:satOff val="-6860"/>
                <a:lumOff val="-19902"/>
                <a:alphaOff val="0"/>
                <a:shade val="93000"/>
                <a:satMod val="130000"/>
              </a:schemeClr>
            </a:gs>
            <a:gs pos="100000">
              <a:schemeClr val="accent5">
                <a:hueOff val="-112127"/>
                <a:satOff val="-6860"/>
                <a:lumOff val="-1990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solidFill>
                <a:schemeClr val="tx1"/>
              </a:solidFill>
            </a:rPr>
            <a:t>Function call</a:t>
          </a:r>
          <a:endParaRPr lang="en-US" sz="1700" kern="1200" dirty="0">
            <a:solidFill>
              <a:schemeClr val="tx1"/>
            </a:solidFill>
          </a:endParaRPr>
        </a:p>
      </dsp:txBody>
      <dsp:txXfrm>
        <a:off x="3106489" y="1891280"/>
        <a:ext cx="1063125" cy="919740"/>
      </dsp:txXfrm>
    </dsp:sp>
    <dsp:sp modelId="{B8C844FC-5C09-46F3-A154-6A85E4FB1085}">
      <dsp:nvSpPr>
        <dsp:cNvPr id="0" name=""/>
        <dsp:cNvSpPr/>
      </dsp:nvSpPr>
      <dsp:spPr>
        <a:xfrm>
          <a:off x="1384458" y="2510485"/>
          <a:ext cx="1590183" cy="1375714"/>
        </a:xfrm>
        <a:prstGeom prst="hexagon">
          <a:avLst>
            <a:gd name="adj" fmla="val 28570"/>
            <a:gd name="vf" fmla="val 115470"/>
          </a:avLst>
        </a:prstGeom>
        <a:gradFill rotWithShape="0">
          <a:gsLst>
            <a:gs pos="0">
              <a:schemeClr val="accent5">
                <a:hueOff val="-224255"/>
                <a:satOff val="-13720"/>
                <a:lumOff val="-39804"/>
                <a:alphaOff val="0"/>
                <a:shade val="51000"/>
                <a:satMod val="130000"/>
              </a:schemeClr>
            </a:gs>
            <a:gs pos="80000">
              <a:schemeClr val="accent5">
                <a:hueOff val="-224255"/>
                <a:satOff val="-13720"/>
                <a:lumOff val="-39804"/>
                <a:alphaOff val="0"/>
                <a:shade val="93000"/>
                <a:satMod val="130000"/>
              </a:schemeClr>
            </a:gs>
            <a:gs pos="100000">
              <a:schemeClr val="accent5">
                <a:hueOff val="-224255"/>
                <a:satOff val="-13720"/>
                <a:lumOff val="-3980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Function definition</a:t>
          </a:r>
          <a:endParaRPr lang="en-US" sz="1700" kern="1200" dirty="0"/>
        </a:p>
      </dsp:txBody>
      <dsp:txXfrm>
        <a:off x="1647987" y="2738472"/>
        <a:ext cx="1063125" cy="919740"/>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dirty="0"/>
          </a:p>
        </p:txBody>
      </p:sp>
      <p:sp>
        <p:nvSpPr>
          <p:cNvPr id="2529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dirty="0"/>
          </a:p>
        </p:txBody>
      </p:sp>
      <p:sp>
        <p:nvSpPr>
          <p:cNvPr id="59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29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29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dirty="0"/>
          </a:p>
        </p:txBody>
      </p:sp>
      <p:sp>
        <p:nvSpPr>
          <p:cNvPr id="2529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FBB9819F-0CDF-4F86-912E-D28D67AF99B0}" type="slidenum">
              <a:rPr lang="en-US"/>
              <a:pPr>
                <a:defRPr/>
              </a:pPr>
              <a:t>‹#›</a:t>
            </a:fld>
            <a:endParaRPr lang="en-US" dirty="0"/>
          </a:p>
        </p:txBody>
      </p:sp>
    </p:spTree>
    <p:extLst>
      <p:ext uri="{BB962C8B-B14F-4D97-AF65-F5344CB8AC3E}">
        <p14:creationId xmlns:p14="http://schemas.microsoft.com/office/powerpoint/2010/main" val="14687635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7348" name="Slide Number Placeholder 3"/>
          <p:cNvSpPr>
            <a:spLocks noGrp="1"/>
          </p:cNvSpPr>
          <p:nvPr>
            <p:ph type="sldNum" sz="quarter" idx="5"/>
          </p:nvPr>
        </p:nvSpPr>
        <p:spPr/>
        <p:txBody>
          <a:bodyPr/>
          <a:lstStyle/>
          <a:p>
            <a:pPr>
              <a:defRPr/>
            </a:pPr>
            <a:fld id="{598E8B47-3B10-48B8-8E80-EA6655FB56F5}"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ea typeface="ＭＳ Ｐゴシック" panose="020B0600070205080204" pitchFamily="34" charset="-128"/>
            </a:endParaRPr>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15EC112-2496-4918-B00D-67EBB2404F42}" type="slidenum">
              <a:rPr lang="en-US" altLang="en-US" smtClean="0">
                <a:latin typeface="Arial" panose="020B0604020202020204" pitchFamily="34" charset="0"/>
              </a:rPr>
              <a:pPr>
                <a:spcBef>
                  <a:spcPct val="0"/>
                </a:spcBef>
              </a:pPr>
              <a:t>15</a:t>
            </a:fld>
            <a:endParaRPr lang="en-US" altLang="en-US" smtClean="0">
              <a:latin typeface="Arial" panose="020B0604020202020204" pitchFamily="34" charset="0"/>
            </a:endParaRPr>
          </a:p>
        </p:txBody>
      </p:sp>
    </p:spTree>
    <p:extLst>
      <p:ext uri="{BB962C8B-B14F-4D97-AF65-F5344CB8AC3E}">
        <p14:creationId xmlns:p14="http://schemas.microsoft.com/office/powerpoint/2010/main" val="3921816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ea typeface="ＭＳ Ｐゴシック" panose="020B0600070205080204" pitchFamily="34" charset="-128"/>
            </a:endParaRPr>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E6ED0D2-22BC-4C36-8FB6-28088B106353}" type="slidenum">
              <a:rPr lang="en-US" altLang="en-US" smtClean="0">
                <a:latin typeface="Arial" panose="020B0604020202020204" pitchFamily="34" charset="0"/>
              </a:rPr>
              <a:pPr>
                <a:spcBef>
                  <a:spcPct val="0"/>
                </a:spcBef>
              </a:pPr>
              <a:t>20</a:t>
            </a:fld>
            <a:endParaRPr lang="en-US" altLang="en-US" smtClean="0">
              <a:latin typeface="Arial" panose="020B0604020202020204" pitchFamily="34" charset="0"/>
            </a:endParaRPr>
          </a:p>
        </p:txBody>
      </p:sp>
    </p:spTree>
    <p:extLst>
      <p:ext uri="{BB962C8B-B14F-4D97-AF65-F5344CB8AC3E}">
        <p14:creationId xmlns:p14="http://schemas.microsoft.com/office/powerpoint/2010/main" val="1325496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ea typeface="ＭＳ Ｐゴシック" panose="020B0600070205080204" pitchFamily="34" charset="-128"/>
            </a:endParaRPr>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4448930-AE0E-4402-8695-56F1DDF0B2AF}" type="slidenum">
              <a:rPr lang="en-US" altLang="en-US" smtClean="0">
                <a:latin typeface="Arial" panose="020B0604020202020204" pitchFamily="34" charset="0"/>
              </a:rPr>
              <a:pPr>
                <a:spcBef>
                  <a:spcPct val="0"/>
                </a:spcBef>
              </a:pPr>
              <a:t>27</a:t>
            </a:fld>
            <a:endParaRPr lang="en-US" altLang="en-US" smtClean="0">
              <a:latin typeface="Arial" panose="020B0604020202020204" pitchFamily="34" charset="0"/>
            </a:endParaRPr>
          </a:p>
        </p:txBody>
      </p:sp>
    </p:spTree>
    <p:extLst>
      <p:ext uri="{BB962C8B-B14F-4D97-AF65-F5344CB8AC3E}">
        <p14:creationId xmlns:p14="http://schemas.microsoft.com/office/powerpoint/2010/main" val="52960382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3090672"/>
            <a:ext cx="7747000" cy="377026"/>
          </a:xfrm>
        </p:spPr>
        <p:txBody>
          <a:bodyPr anchor="b"/>
          <a:lstStyle>
            <a:lvl1pPr algn="ctr">
              <a:defRPr sz="280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698500" y="3730752"/>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1" name="Picture 10" descr="Title_Sli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pic>
        <p:nvPicPr>
          <p:cNvPr id="8" name="Picture 7"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80" y="6257889"/>
            <a:ext cx="634845" cy="262424"/>
          </a:xfrm>
          <a:prstGeom prst="rect">
            <a:avLst/>
          </a:prstGeom>
        </p:spPr>
      </p:pic>
      <p:sp>
        <p:nvSpPr>
          <p:cNvPr id="5" name="Rectangle 4"/>
          <p:cNvSpPr/>
          <p:nvPr/>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9" name="TextBox 8"/>
          <p:cNvSpPr txBox="1"/>
          <p:nvPr/>
        </p:nvSpPr>
        <p:spPr>
          <a:xfrm>
            <a:off x="1015924" y="6222910"/>
            <a:ext cx="6400800" cy="230832"/>
          </a:xfrm>
          <a:prstGeom prst="rect">
            <a:avLst/>
          </a:prstGeom>
          <a:noFill/>
        </p:spPr>
        <p:txBody>
          <a:bodyPr wrap="square" rtlCol="0">
            <a:spAutoFit/>
          </a:bodyPr>
          <a:lstStyle/>
          <a:p>
            <a:pPr algn="ctr"/>
            <a:r>
              <a:rPr lang="en-US" sz="900" dirty="0">
                <a:solidFill>
                  <a:schemeClr val="accent2"/>
                </a:solidFill>
              </a:rPr>
              <a:t>C++ Programming: From Problem Analysis to Program Design, Eighth</a:t>
            </a:r>
            <a:r>
              <a:rPr lang="en-US" sz="900" baseline="0" dirty="0">
                <a:solidFill>
                  <a:schemeClr val="accent2"/>
                </a:solidFill>
              </a:rPr>
              <a:t> </a:t>
            </a:r>
            <a:r>
              <a:rPr lang="en-US" sz="900" dirty="0">
                <a:solidFill>
                  <a:schemeClr val="accent2"/>
                </a:solidFill>
              </a:rPr>
              <a:t>Edition</a:t>
            </a:r>
          </a:p>
        </p:txBody>
      </p:sp>
      <p:sp>
        <p:nvSpPr>
          <p:cNvPr id="6" name="Footer Placeholder 5"/>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5" name="Picture 4" descr="CL_Logo_DRAW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6" name="Picture 5"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7"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plit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53305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Tab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
        <p:nvSpPr>
          <p:cNvPr id="9" name="Content Placeholder 2"/>
          <p:cNvSpPr>
            <a:spLocks noGrp="1"/>
          </p:cNvSpPr>
          <p:nvPr>
            <p:ph idx="12"/>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849045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Figur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5" name="Text Placeholder 4"/>
          <p:cNvSpPr>
            <a:spLocks noGrp="1"/>
          </p:cNvSpPr>
          <p:nvPr>
            <p:ph type="body" sz="quarter" idx="11" hasCustomPrompt="1"/>
          </p:nvPr>
        </p:nvSpPr>
        <p:spPr>
          <a:xfrm>
            <a:off x="1066800" y="5102423"/>
            <a:ext cx="6949440" cy="297004"/>
          </a:xfrm>
        </p:spPr>
        <p:txBody>
          <a:bodyPr lIns="45720" tIns="45720" rIns="45720" bIns="45720"/>
          <a:lstStyle>
            <a:lvl1pPr marL="0" indent="0">
              <a:buNone/>
              <a:defRPr sz="1400" b="0">
                <a:solidFill>
                  <a:srgbClr val="6A6466"/>
                </a:solidFill>
              </a:defRPr>
            </a:lvl1pPr>
          </a:lstStyle>
          <a:p>
            <a:pPr lvl="0"/>
            <a:r>
              <a:rPr lang="en-US" dirty="0"/>
              <a:t>&lt;FIGURE #-# apply bold&gt; &lt;Figure caption text normal&gt;</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415393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28790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Picture">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3673475"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1" name="Text Placeholder 4"/>
          <p:cNvSpPr>
            <a:spLocks noGrp="1"/>
          </p:cNvSpPr>
          <p:nvPr>
            <p:ph type="body" sz="quarter" idx="12" hasCustomPrompt="1"/>
          </p:nvPr>
        </p:nvSpPr>
        <p:spPr>
          <a:xfrm>
            <a:off x="4572000" y="5722796"/>
            <a:ext cx="4114800" cy="297004"/>
          </a:xfrm>
        </p:spPr>
        <p:txBody>
          <a:bodyPr lIns="91440" tIns="45720" rIns="91440" bIns="45720"/>
          <a:lstStyle>
            <a:lvl1pPr marL="0" indent="0">
              <a:buNone/>
              <a:defRPr sz="1400" b="0">
                <a:solidFill>
                  <a:srgbClr val="6A6466"/>
                </a:solidFill>
              </a:defRPr>
            </a:lvl1pPr>
          </a:lstStyle>
          <a:p>
            <a:pPr lvl="0"/>
            <a:r>
              <a:rPr lang="en-US" dirty="0"/>
              <a:t>&lt;FIGURE #-# apply bold&gt; &lt;Figure caption text normal&gt;</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239122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33639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1014984" y="6455663"/>
            <a:ext cx="6400800" cy="365760"/>
          </a:xfrm>
          <a:prstGeom prst="rect">
            <a:avLst/>
          </a:prstGeom>
        </p:spPr>
        <p:txBody>
          <a:bodyPr vert="horz" lIns="91440" tIns="45720" rIns="91440" bIns="45720" rtlCol="0" anchor="ctr"/>
          <a:lstStyle>
            <a:lvl1pPr algn="ctr">
              <a:defRPr sz="600">
                <a:solidFill>
                  <a:schemeClr val="tx1">
                    <a:tint val="75000"/>
                  </a:schemeClr>
                </a:solidFill>
              </a:defRPr>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
        <p:nvSpPr>
          <p:cNvPr id="7" name="Slide Number Placeholder 5"/>
          <p:cNvSpPr txBox="1">
            <a:spLocks/>
          </p:cNvSpPr>
          <p:nvPr/>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9.pn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ctrTitle"/>
          </p:nvPr>
        </p:nvSpPr>
        <p:spPr/>
        <p:txBody>
          <a:bodyPr/>
          <a:lstStyle/>
          <a:p>
            <a:r>
              <a:rPr lang="en-US" altLang="en-US" dirty="0"/>
              <a:t>Chapter 6</a:t>
            </a:r>
          </a:p>
        </p:txBody>
      </p:sp>
      <p:sp>
        <p:nvSpPr>
          <p:cNvPr id="3" name="Subtitle 2"/>
          <p:cNvSpPr>
            <a:spLocks noGrp="1"/>
          </p:cNvSpPr>
          <p:nvPr>
            <p:ph type="subTitle" idx="1"/>
          </p:nvPr>
        </p:nvSpPr>
        <p:spPr>
          <a:xfrm>
            <a:off x="698500" y="3730752"/>
            <a:ext cx="7747000" cy="233910"/>
          </a:xfrm>
        </p:spPr>
        <p:txBody>
          <a:bodyPr/>
          <a:lstStyle/>
          <a:p>
            <a:r>
              <a:rPr lang="en-US" altLang="en-US" dirty="0"/>
              <a:t>User-Defined Functions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57200" y="1600200"/>
            <a:ext cx="8229600" cy="4525963"/>
          </a:xfrm>
        </p:spPr>
        <p:txBody>
          <a:bodyPr/>
          <a:lstStyle/>
          <a:p>
            <a:pPr marL="0" indent="0" algn="just">
              <a:buFont typeface="Wingdings" panose="05000000000000000000" pitchFamily="2" charset="2"/>
              <a:buNone/>
            </a:pPr>
            <a:r>
              <a:rPr lang="en-US" altLang="en-US" sz="2400" b="1" smtClean="0">
                <a:ea typeface="ＭＳ Ｐゴシック" panose="020B0600070205080204" pitchFamily="34" charset="-128"/>
              </a:rPr>
              <a:t>At the end of this chapter, you should be able to:</a:t>
            </a:r>
            <a:endParaRPr lang="en-US" altLang="en-US" sz="2400" smtClean="0">
              <a:ea typeface="ＭＳ Ｐゴシック" panose="020B0600070205080204" pitchFamily="34" charset="-128"/>
            </a:endParaRPr>
          </a:p>
          <a:p>
            <a:pPr marL="0" indent="0" algn="just"/>
            <a:r>
              <a:rPr lang="en-US" altLang="en-US" sz="2400" smtClean="0">
                <a:ea typeface="ＭＳ Ｐゴシック" panose="020B0600070205080204" pitchFamily="34" charset="-128"/>
              </a:rPr>
              <a:t>Understand the two types of functions.</a:t>
            </a:r>
          </a:p>
          <a:p>
            <a:pPr marL="0" indent="0" algn="just"/>
            <a:r>
              <a:rPr lang="en-US" altLang="en-US" sz="2400" smtClean="0">
                <a:ea typeface="ＭＳ Ｐゴシック" panose="020B0600070205080204" pitchFamily="34" charset="-128"/>
              </a:rPr>
              <a:t>Identify the three function elements.</a:t>
            </a:r>
          </a:p>
          <a:p>
            <a:pPr marL="0" indent="0" algn="just"/>
            <a:r>
              <a:rPr lang="en-US" altLang="en-US" sz="2400" smtClean="0">
                <a:ea typeface="ＭＳ Ｐゴシック" panose="020B0600070205080204" pitchFamily="34" charset="-128"/>
              </a:rPr>
              <a:t>Develop a program using functions.</a:t>
            </a:r>
          </a:p>
        </p:txBody>
      </p:sp>
      <p:sp>
        <p:nvSpPr>
          <p:cNvPr id="6147" name="Rectangle 2"/>
          <p:cNvSpPr txBox="1">
            <a:spLocks noChangeArrowheads="1"/>
          </p:cNvSpPr>
          <p:nvPr/>
        </p:nvSpPr>
        <p:spPr bwMode="auto">
          <a:xfrm>
            <a:off x="914400" y="0"/>
            <a:ext cx="7315200"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00FF"/>
              </a:buClr>
              <a:buSzPct val="80000"/>
              <a:buFont typeface="Wingdings" panose="05000000000000000000" pitchFamily="2" charset="2"/>
              <a:buChar char="q"/>
              <a:defRPr sz="28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rgbClr val="0000FF"/>
              </a:buClr>
              <a:buChar char="–"/>
              <a:defRPr sz="26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rgbClr val="0000FF"/>
              </a:buClr>
              <a:buChar char="•"/>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3300" b="1" dirty="0">
                <a:solidFill>
                  <a:schemeClr val="tx1"/>
                </a:solidFill>
              </a:rPr>
              <a:t>Learning Outcomes</a:t>
            </a:r>
          </a:p>
        </p:txBody>
      </p:sp>
    </p:spTree>
    <p:extLst>
      <p:ext uri="{BB962C8B-B14F-4D97-AF65-F5344CB8AC3E}">
        <p14:creationId xmlns:p14="http://schemas.microsoft.com/office/powerpoint/2010/main" val="28225693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952500" y="381000"/>
            <a:ext cx="7239000" cy="290336"/>
          </a:xfrm>
        </p:spPr>
        <p:txBody>
          <a:bodyPr/>
          <a:lstStyle/>
          <a:p>
            <a:r>
              <a:rPr lang="en-US" altLang="en-US" dirty="0" smtClean="0">
                <a:ea typeface="ＭＳ Ｐゴシック" panose="020B0600070205080204" pitchFamily="34" charset="-128"/>
              </a:rPr>
              <a:t>Introduction</a:t>
            </a:r>
          </a:p>
        </p:txBody>
      </p:sp>
      <p:sp>
        <p:nvSpPr>
          <p:cNvPr id="7171" name="Content Placeholder 2"/>
          <p:cNvSpPr>
            <a:spLocks noGrp="1"/>
          </p:cNvSpPr>
          <p:nvPr>
            <p:ph idx="1"/>
          </p:nvPr>
        </p:nvSpPr>
        <p:spPr>
          <a:xfrm>
            <a:off x="457200" y="1600200"/>
            <a:ext cx="8229600" cy="4144963"/>
          </a:xfrm>
        </p:spPr>
        <p:txBody>
          <a:bodyPr/>
          <a:lstStyle/>
          <a:p>
            <a:pPr algn="just"/>
            <a:r>
              <a:rPr lang="en-US" altLang="en-US" sz="2400" smtClean="0">
                <a:ea typeface="ＭＳ Ｐゴシック" panose="020B0600070205080204" pitchFamily="34" charset="-128"/>
              </a:rPr>
              <a:t>Programs can be as short as one line of code or millions of lines of code. </a:t>
            </a:r>
          </a:p>
          <a:p>
            <a:pPr algn="just"/>
            <a:r>
              <a:rPr lang="en-US" altLang="en-US" sz="2400" smtClean="0">
                <a:ea typeface="ＭＳ Ｐゴシック" panose="020B0600070205080204" pitchFamily="34" charset="-128"/>
              </a:rPr>
              <a:t>Small programs can easily be developed using only one function, which is the main function.</a:t>
            </a:r>
          </a:p>
          <a:p>
            <a:pPr algn="just"/>
            <a:r>
              <a:rPr lang="en-US" altLang="en-US" sz="2400" smtClean="0">
                <a:ea typeface="ＭＳ Ｐゴシック" panose="020B0600070205080204" pitchFamily="34" charset="-128"/>
              </a:rPr>
              <a:t>However, most computer programs that solve real-world problems are large and contain thousands to millions of lines of code. </a:t>
            </a:r>
          </a:p>
          <a:p>
            <a:pPr algn="just"/>
            <a:r>
              <a:rPr lang="en-US" altLang="en-US" sz="2400" smtClean="0">
                <a:ea typeface="ＭＳ Ｐゴシック" panose="020B0600070205080204" pitchFamily="34" charset="-128"/>
              </a:rPr>
              <a:t>Thus, more than one programmer or a team of programmers are needed to develop such programs.</a:t>
            </a:r>
          </a:p>
        </p:txBody>
      </p:sp>
    </p:spTree>
    <p:extLst>
      <p:ext uri="{BB962C8B-B14F-4D97-AF65-F5344CB8AC3E}">
        <p14:creationId xmlns:p14="http://schemas.microsoft.com/office/powerpoint/2010/main" val="1049669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57200" y="1600200"/>
            <a:ext cx="8229600" cy="4068763"/>
          </a:xfrm>
        </p:spPr>
        <p:txBody>
          <a:bodyPr/>
          <a:lstStyle/>
          <a:p>
            <a:pPr algn="just"/>
            <a:r>
              <a:rPr lang="en-US" altLang="en-US" sz="2400" smtClean="0">
                <a:ea typeface="ＭＳ Ｐゴシック" panose="020B0600070205080204" pitchFamily="34" charset="-128"/>
              </a:rPr>
              <a:t>In order to develop and maintain large programs, an effective way to construct it is by using functions. </a:t>
            </a:r>
          </a:p>
          <a:p>
            <a:pPr algn="just"/>
            <a:r>
              <a:rPr lang="en-US" altLang="en-US" sz="2400" smtClean="0">
                <a:ea typeface="ＭＳ Ｐゴシック" panose="020B0600070205080204" pitchFamily="34" charset="-128"/>
              </a:rPr>
              <a:t>Functions can efficiently break down large programs into smaller ones as they can divide problems into sub problems called modules. </a:t>
            </a:r>
          </a:p>
          <a:p>
            <a:pPr algn="just"/>
            <a:r>
              <a:rPr lang="en-US" altLang="en-US" sz="2400" smtClean="0">
                <a:ea typeface="ＭＳ Ｐゴシック" panose="020B0600070205080204" pitchFamily="34" charset="-128"/>
              </a:rPr>
              <a:t>Every function is a program segment that can do specific tasks. </a:t>
            </a:r>
          </a:p>
          <a:p>
            <a:pPr lvl="1" algn="just"/>
            <a:r>
              <a:rPr lang="en-US" altLang="en-US" sz="2400" smtClean="0">
                <a:ea typeface="ＭＳ Ｐゴシック" panose="020B0600070205080204" pitchFamily="34" charset="-128"/>
              </a:rPr>
              <a:t>Each of the sub tasks can be coded as functions that must go together with the main function to build up a complete program.</a:t>
            </a:r>
          </a:p>
        </p:txBody>
      </p:sp>
      <p:sp>
        <p:nvSpPr>
          <p:cNvPr id="8195" name="Title 1"/>
          <p:cNvSpPr>
            <a:spLocks noGrp="1"/>
          </p:cNvSpPr>
          <p:nvPr>
            <p:ph type="title"/>
          </p:nvPr>
        </p:nvSpPr>
        <p:spPr>
          <a:xfrm>
            <a:off x="952500" y="381000"/>
            <a:ext cx="7239000" cy="290336"/>
          </a:xfrm>
        </p:spPr>
        <p:txBody>
          <a:bodyPr/>
          <a:lstStyle/>
          <a:p>
            <a:r>
              <a:rPr lang="en-US" altLang="en-US" dirty="0" smtClean="0">
                <a:ea typeface="ＭＳ Ｐゴシック" panose="020B0600070205080204" pitchFamily="34" charset="-128"/>
              </a:rPr>
              <a:t>Introduction (cont.)</a:t>
            </a:r>
          </a:p>
        </p:txBody>
      </p:sp>
    </p:spTree>
    <p:extLst>
      <p:ext uri="{BB962C8B-B14F-4D97-AF65-F5344CB8AC3E}">
        <p14:creationId xmlns:p14="http://schemas.microsoft.com/office/powerpoint/2010/main" val="5622486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419600"/>
          </a:xfrm>
        </p:spPr>
        <p:txBody>
          <a:bodyPr/>
          <a:lstStyle/>
          <a:p>
            <a:pPr algn="just">
              <a:defRPr/>
            </a:pPr>
            <a:r>
              <a:rPr lang="en-US" sz="2200" dirty="0">
                <a:solidFill>
                  <a:schemeClr val="tx1"/>
                </a:solidFill>
              </a:rPr>
              <a:t>Below are the advantages of using functions:</a:t>
            </a:r>
          </a:p>
          <a:p>
            <a:pPr marL="812800" indent="-368300" algn="just">
              <a:buFont typeface="Wingdings" panose="05000000000000000000" pitchFamily="2" charset="2"/>
              <a:buNone/>
              <a:defRPr/>
            </a:pPr>
            <a:r>
              <a:rPr lang="en-US" sz="2200" b="1" dirty="0" smtClean="0">
                <a:solidFill>
                  <a:schemeClr val="tx1"/>
                </a:solidFill>
              </a:rPr>
              <a:t>	1</a:t>
            </a:r>
            <a:r>
              <a:rPr lang="en-US" sz="2200" b="1" dirty="0">
                <a:solidFill>
                  <a:schemeClr val="tx1"/>
                </a:solidFill>
              </a:rPr>
              <a:t>. </a:t>
            </a:r>
            <a:r>
              <a:rPr lang="en-US" sz="2200" dirty="0">
                <a:solidFill>
                  <a:schemeClr val="tx1"/>
                </a:solidFill>
              </a:rPr>
              <a:t>Functions break the program into smaller </a:t>
            </a:r>
            <a:r>
              <a:rPr lang="en-US" sz="2200" dirty="0" smtClean="0">
                <a:solidFill>
                  <a:schemeClr val="tx1"/>
                </a:solidFill>
              </a:rPr>
              <a:t>chunks</a:t>
            </a:r>
            <a:r>
              <a:rPr lang="en-US" sz="2200" dirty="0">
                <a:solidFill>
                  <a:schemeClr val="tx1"/>
                </a:solidFill>
              </a:rPr>
              <a:t>, </a:t>
            </a:r>
            <a:endParaRPr lang="en-US" sz="2200" dirty="0" smtClean="0">
              <a:solidFill>
                <a:schemeClr val="tx1"/>
              </a:solidFill>
            </a:endParaRPr>
          </a:p>
          <a:p>
            <a:pPr marL="812800" indent="-368300" algn="just">
              <a:buFont typeface="Wingdings" panose="05000000000000000000" pitchFamily="2" charset="2"/>
              <a:buNone/>
              <a:defRPr/>
            </a:pPr>
            <a:r>
              <a:rPr lang="en-US" sz="2200" dirty="0">
                <a:solidFill>
                  <a:schemeClr val="tx1"/>
                </a:solidFill>
              </a:rPr>
              <a:t> </a:t>
            </a:r>
            <a:r>
              <a:rPr lang="en-US" sz="2200" dirty="0" smtClean="0">
                <a:solidFill>
                  <a:schemeClr val="tx1"/>
                </a:solidFill>
              </a:rPr>
              <a:t>        making </a:t>
            </a:r>
            <a:r>
              <a:rPr lang="en-US" sz="2200" dirty="0">
                <a:solidFill>
                  <a:schemeClr val="tx1"/>
                </a:solidFill>
              </a:rPr>
              <a:t>it </a:t>
            </a:r>
            <a:r>
              <a:rPr lang="en-US" sz="2200" dirty="0" smtClean="0">
                <a:solidFill>
                  <a:schemeClr val="tx1"/>
                </a:solidFill>
              </a:rPr>
              <a:t>easier for the programmer </a:t>
            </a:r>
            <a:r>
              <a:rPr lang="en-US" sz="2200" dirty="0">
                <a:solidFill>
                  <a:schemeClr val="tx1"/>
                </a:solidFill>
              </a:rPr>
              <a:t>to code, test and </a:t>
            </a:r>
            <a:endParaRPr lang="en-US" sz="2200" dirty="0" smtClean="0">
              <a:solidFill>
                <a:schemeClr val="tx1"/>
              </a:solidFill>
            </a:endParaRPr>
          </a:p>
          <a:p>
            <a:pPr marL="812800" indent="-368300" algn="just">
              <a:buFont typeface="Wingdings" panose="05000000000000000000" pitchFamily="2" charset="2"/>
              <a:buNone/>
              <a:defRPr/>
            </a:pPr>
            <a:r>
              <a:rPr lang="en-US" sz="2200" dirty="0">
                <a:solidFill>
                  <a:schemeClr val="tx1"/>
                </a:solidFill>
              </a:rPr>
              <a:t> </a:t>
            </a:r>
            <a:r>
              <a:rPr lang="en-US" sz="2200" dirty="0" smtClean="0">
                <a:solidFill>
                  <a:schemeClr val="tx1"/>
                </a:solidFill>
              </a:rPr>
              <a:t>        debug the program</a:t>
            </a:r>
            <a:r>
              <a:rPr lang="en-US" sz="2200" dirty="0">
                <a:solidFill>
                  <a:schemeClr val="tx1"/>
                </a:solidFill>
              </a:rPr>
              <a:t>.</a:t>
            </a:r>
          </a:p>
          <a:p>
            <a:pPr marL="812800" indent="-812800" algn="just">
              <a:buFont typeface="Wingdings" panose="05000000000000000000" pitchFamily="2" charset="2"/>
              <a:buNone/>
              <a:defRPr/>
            </a:pPr>
            <a:r>
              <a:rPr lang="en-US" sz="2200" b="1" dirty="0" smtClean="0">
                <a:solidFill>
                  <a:schemeClr val="tx1"/>
                </a:solidFill>
              </a:rPr>
              <a:t>	2</a:t>
            </a:r>
            <a:r>
              <a:rPr lang="en-US" sz="2200" b="1" dirty="0">
                <a:solidFill>
                  <a:schemeClr val="tx1"/>
                </a:solidFill>
              </a:rPr>
              <a:t>. </a:t>
            </a:r>
            <a:r>
              <a:rPr lang="en-US" sz="2200" dirty="0">
                <a:solidFill>
                  <a:schemeClr val="tx1"/>
                </a:solidFill>
              </a:rPr>
              <a:t>Each of the functions is reusable, where </a:t>
            </a:r>
            <a:r>
              <a:rPr lang="en-US" sz="2200" dirty="0" smtClean="0">
                <a:solidFill>
                  <a:schemeClr val="tx1"/>
                </a:solidFill>
              </a:rPr>
              <a:t>the </a:t>
            </a:r>
            <a:r>
              <a:rPr lang="en-US" sz="2200" dirty="0">
                <a:solidFill>
                  <a:schemeClr val="tx1"/>
                </a:solidFill>
              </a:rPr>
              <a:t>function </a:t>
            </a:r>
            <a:endParaRPr lang="en-US" sz="2200" dirty="0" smtClean="0">
              <a:solidFill>
                <a:schemeClr val="tx1"/>
              </a:solidFill>
            </a:endParaRPr>
          </a:p>
          <a:p>
            <a:pPr marL="812800" indent="-812800" algn="just">
              <a:buFont typeface="Wingdings" panose="05000000000000000000" pitchFamily="2" charset="2"/>
              <a:buNone/>
              <a:defRPr/>
            </a:pPr>
            <a:r>
              <a:rPr lang="en-US" sz="2200" dirty="0">
                <a:solidFill>
                  <a:schemeClr val="tx1"/>
                </a:solidFill>
              </a:rPr>
              <a:t> </a:t>
            </a:r>
            <a:r>
              <a:rPr lang="en-US" sz="2200" dirty="0" smtClean="0">
                <a:solidFill>
                  <a:schemeClr val="tx1"/>
                </a:solidFill>
              </a:rPr>
              <a:t>              can </a:t>
            </a:r>
            <a:r>
              <a:rPr lang="en-US" sz="2200" dirty="0">
                <a:solidFill>
                  <a:schemeClr val="tx1"/>
                </a:solidFill>
              </a:rPr>
              <a:t>be </a:t>
            </a:r>
            <a:r>
              <a:rPr lang="en-US" sz="2200" dirty="0" smtClean="0">
                <a:solidFill>
                  <a:schemeClr val="tx1"/>
                </a:solidFill>
              </a:rPr>
              <a:t>called </a:t>
            </a:r>
            <a:r>
              <a:rPr lang="en-US" sz="2200" dirty="0">
                <a:solidFill>
                  <a:schemeClr val="tx1"/>
                </a:solidFill>
              </a:rPr>
              <a:t>many times.</a:t>
            </a:r>
          </a:p>
          <a:p>
            <a:pPr marL="812800" indent="-812800" algn="just">
              <a:buFont typeface="Wingdings" panose="05000000000000000000" pitchFamily="2" charset="2"/>
              <a:buNone/>
              <a:defRPr/>
            </a:pPr>
            <a:r>
              <a:rPr lang="en-US" sz="2200" b="1" dirty="0" smtClean="0">
                <a:solidFill>
                  <a:schemeClr val="tx1"/>
                </a:solidFill>
              </a:rPr>
              <a:t>	3</a:t>
            </a:r>
            <a:r>
              <a:rPr lang="en-US" sz="2200" b="1" dirty="0">
                <a:solidFill>
                  <a:schemeClr val="tx1"/>
                </a:solidFill>
              </a:rPr>
              <a:t>. </a:t>
            </a:r>
            <a:r>
              <a:rPr lang="en-US" sz="2200" dirty="0">
                <a:solidFill>
                  <a:schemeClr val="tx1"/>
                </a:solidFill>
              </a:rPr>
              <a:t>By using functions, repeating code in </a:t>
            </a:r>
            <a:r>
              <a:rPr lang="en-US" sz="2200" dirty="0" smtClean="0">
                <a:solidFill>
                  <a:schemeClr val="tx1"/>
                </a:solidFill>
              </a:rPr>
              <a:t>a program </a:t>
            </a:r>
            <a:r>
              <a:rPr lang="en-US" sz="2200" dirty="0">
                <a:solidFill>
                  <a:schemeClr val="tx1"/>
                </a:solidFill>
              </a:rPr>
              <a:t>can be </a:t>
            </a:r>
            <a:r>
              <a:rPr lang="en-US" sz="2200" dirty="0" smtClean="0">
                <a:solidFill>
                  <a:schemeClr val="tx1"/>
                </a:solidFill>
              </a:rPr>
              <a:t>	   avoided</a:t>
            </a:r>
            <a:r>
              <a:rPr lang="en-US" sz="2200" dirty="0">
                <a:solidFill>
                  <a:schemeClr val="tx1"/>
                </a:solidFill>
              </a:rPr>
              <a:t>.</a:t>
            </a:r>
          </a:p>
          <a:p>
            <a:pPr algn="just">
              <a:defRPr/>
            </a:pPr>
            <a:r>
              <a:rPr lang="en-US" sz="2200" dirty="0">
                <a:solidFill>
                  <a:schemeClr val="tx1"/>
                </a:solidFill>
              </a:rPr>
              <a:t>The explanations above refer to </a:t>
            </a:r>
            <a:r>
              <a:rPr lang="en-US" sz="2200" b="1" dirty="0">
                <a:solidFill>
                  <a:schemeClr val="tx1"/>
                </a:solidFill>
              </a:rPr>
              <a:t>user-defined functions</a:t>
            </a:r>
            <a:r>
              <a:rPr lang="en-US" sz="2200" dirty="0">
                <a:solidFill>
                  <a:schemeClr val="tx1"/>
                </a:solidFill>
              </a:rPr>
              <a:t>. </a:t>
            </a:r>
            <a:endParaRPr lang="en-US" sz="2200" dirty="0" smtClean="0">
              <a:solidFill>
                <a:schemeClr val="tx1"/>
              </a:solidFill>
            </a:endParaRPr>
          </a:p>
          <a:p>
            <a:pPr algn="just">
              <a:defRPr/>
            </a:pPr>
            <a:r>
              <a:rPr lang="en-US" sz="2200" dirty="0">
                <a:solidFill>
                  <a:schemeClr val="tx1"/>
                </a:solidFill>
              </a:rPr>
              <a:t>T</a:t>
            </a:r>
            <a:r>
              <a:rPr lang="en-US" sz="2200" dirty="0" smtClean="0">
                <a:solidFill>
                  <a:schemeClr val="tx1"/>
                </a:solidFill>
              </a:rPr>
              <a:t>here </a:t>
            </a:r>
            <a:r>
              <a:rPr lang="en-US" sz="2200" dirty="0">
                <a:solidFill>
                  <a:schemeClr val="tx1"/>
                </a:solidFill>
              </a:rPr>
              <a:t>is </a:t>
            </a:r>
            <a:r>
              <a:rPr lang="en-US" sz="2200" dirty="0" smtClean="0">
                <a:solidFill>
                  <a:schemeClr val="tx1"/>
                </a:solidFill>
              </a:rPr>
              <a:t>another function </a:t>
            </a:r>
            <a:r>
              <a:rPr lang="en-US" sz="2200" dirty="0">
                <a:solidFill>
                  <a:schemeClr val="tx1"/>
                </a:solidFill>
              </a:rPr>
              <a:t>known as the </a:t>
            </a:r>
            <a:r>
              <a:rPr lang="en-US" sz="2200" b="1" dirty="0">
                <a:solidFill>
                  <a:schemeClr val="tx1"/>
                </a:solidFill>
              </a:rPr>
              <a:t>predefined function</a:t>
            </a:r>
            <a:r>
              <a:rPr lang="en-US" sz="2200" dirty="0">
                <a:solidFill>
                  <a:schemeClr val="tx1"/>
                </a:solidFill>
              </a:rPr>
              <a:t>. </a:t>
            </a:r>
            <a:endParaRPr lang="en-US" sz="2200" dirty="0" smtClean="0">
              <a:solidFill>
                <a:schemeClr val="tx1"/>
              </a:solidFill>
            </a:endParaRPr>
          </a:p>
          <a:p>
            <a:pPr lvl="1" algn="just">
              <a:defRPr/>
            </a:pPr>
            <a:r>
              <a:rPr lang="en-US" sz="2200" dirty="0" smtClean="0">
                <a:solidFill>
                  <a:schemeClr val="tx1"/>
                </a:solidFill>
              </a:rPr>
              <a:t>available </a:t>
            </a:r>
            <a:r>
              <a:rPr lang="en-US" sz="2200" dirty="0">
                <a:solidFill>
                  <a:schemeClr val="tx1"/>
                </a:solidFill>
              </a:rPr>
              <a:t>in the C</a:t>
            </a:r>
            <a:r>
              <a:rPr lang="en-US" sz="2200" dirty="0" smtClean="0">
                <a:solidFill>
                  <a:schemeClr val="tx1"/>
                </a:solidFill>
              </a:rPr>
              <a:t>++ standard </a:t>
            </a:r>
            <a:r>
              <a:rPr lang="en-US" sz="2200" dirty="0">
                <a:solidFill>
                  <a:schemeClr val="tx1"/>
                </a:solidFill>
              </a:rPr>
              <a:t>library</a:t>
            </a:r>
            <a:r>
              <a:rPr lang="en-US" sz="2200" dirty="0" smtClean="0">
                <a:solidFill>
                  <a:schemeClr val="tx1"/>
                </a:solidFill>
              </a:rPr>
              <a:t>.</a:t>
            </a:r>
            <a:endParaRPr lang="en-US" sz="2200" dirty="0">
              <a:solidFill>
                <a:schemeClr val="tx1"/>
              </a:solidFill>
            </a:endParaRPr>
          </a:p>
        </p:txBody>
      </p:sp>
      <p:sp>
        <p:nvSpPr>
          <p:cNvPr id="9219" name="Title 1"/>
          <p:cNvSpPr>
            <a:spLocks noGrp="1"/>
          </p:cNvSpPr>
          <p:nvPr>
            <p:ph type="title"/>
          </p:nvPr>
        </p:nvSpPr>
        <p:spPr>
          <a:xfrm>
            <a:off x="952500" y="457200"/>
            <a:ext cx="7239000" cy="290336"/>
          </a:xfrm>
        </p:spPr>
        <p:txBody>
          <a:bodyPr/>
          <a:lstStyle/>
          <a:p>
            <a:r>
              <a:rPr lang="en-US" altLang="en-US" dirty="0" smtClean="0">
                <a:ea typeface="ＭＳ Ｐゴシック" panose="020B0600070205080204" pitchFamily="34" charset="-128"/>
              </a:rPr>
              <a:t>Introduction (cont.)</a:t>
            </a:r>
          </a:p>
        </p:txBody>
      </p:sp>
    </p:spTree>
    <p:extLst>
      <p:ext uri="{BB962C8B-B14F-4D97-AF65-F5344CB8AC3E}">
        <p14:creationId xmlns:p14="http://schemas.microsoft.com/office/powerpoint/2010/main" val="29391347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914400" y="381000"/>
            <a:ext cx="7239000" cy="290336"/>
          </a:xfrm>
        </p:spPr>
        <p:txBody>
          <a:bodyPr/>
          <a:lstStyle/>
          <a:p>
            <a:r>
              <a:rPr lang="en-US" altLang="en-US" dirty="0" smtClean="0">
                <a:ea typeface="ＭＳ Ｐゴシック" panose="020B0600070205080204" pitchFamily="34" charset="-128"/>
              </a:rPr>
              <a:t>Function Types</a:t>
            </a:r>
          </a:p>
        </p:txBody>
      </p:sp>
      <p:graphicFrame>
        <p:nvGraphicFramePr>
          <p:cNvPr id="4" name="Diagram 3"/>
          <p:cNvGraphicFramePr/>
          <p:nvPr/>
        </p:nvGraphicFramePr>
        <p:xfrm>
          <a:off x="914400" y="1676400"/>
          <a:ext cx="76200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09399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867229" y="304800"/>
            <a:ext cx="7315200" cy="290336"/>
          </a:xfrm>
        </p:spPr>
        <p:txBody>
          <a:bodyPr/>
          <a:lstStyle/>
          <a:p>
            <a:r>
              <a:rPr lang="en-US" altLang="en-US" dirty="0" smtClean="0">
                <a:ea typeface="ＭＳ Ｐゴシック" panose="020B0600070205080204" pitchFamily="34" charset="-128"/>
              </a:rPr>
              <a:t>Predefined Functions</a:t>
            </a: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val="0"/>
              </a:ext>
            </a:extLst>
          </a:blip>
          <a:srcRect l="33134" t="42058" r="14717" b="17450"/>
          <a:stretch>
            <a:fillRect/>
          </a:stretch>
        </p:blipFill>
        <p:spPr bwMode="auto">
          <a:xfrm>
            <a:off x="838200" y="17526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74491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952500" y="381000"/>
            <a:ext cx="7315200" cy="290336"/>
          </a:xfrm>
        </p:spPr>
        <p:txBody>
          <a:bodyPr/>
          <a:lstStyle/>
          <a:p>
            <a:r>
              <a:rPr lang="en-US" altLang="en-US" dirty="0" smtClean="0">
                <a:ea typeface="ＭＳ Ｐゴシック" panose="020B0600070205080204" pitchFamily="34" charset="-128"/>
              </a:rPr>
              <a:t>User-defined Functions</a:t>
            </a:r>
          </a:p>
        </p:txBody>
      </p:sp>
      <p:sp>
        <p:nvSpPr>
          <p:cNvPr id="3" name="Content Placeholder 2"/>
          <p:cNvSpPr>
            <a:spLocks noGrp="1"/>
          </p:cNvSpPr>
          <p:nvPr>
            <p:ph idx="1"/>
          </p:nvPr>
        </p:nvSpPr>
        <p:spPr>
          <a:xfrm>
            <a:off x="457200" y="1600200"/>
            <a:ext cx="8305800" cy="4191000"/>
          </a:xfrm>
        </p:spPr>
        <p:txBody>
          <a:bodyPr/>
          <a:lstStyle/>
          <a:p>
            <a:pPr algn="just">
              <a:defRPr/>
            </a:pPr>
            <a:r>
              <a:rPr lang="en-US" sz="2400" dirty="0" smtClean="0"/>
              <a:t>All </a:t>
            </a:r>
            <a:r>
              <a:rPr lang="en-US" sz="2400" dirty="0"/>
              <a:t>C++ programs must contain at least one function, which is the </a:t>
            </a:r>
            <a:r>
              <a:rPr lang="en-US" sz="2400" dirty="0">
                <a:latin typeface="Courier New" pitchFamily="49" charset="0"/>
                <a:cs typeface="Courier New" pitchFamily="49" charset="0"/>
              </a:rPr>
              <a:t>main( )</a:t>
            </a:r>
            <a:r>
              <a:rPr lang="en-US" sz="2400" dirty="0"/>
              <a:t>.</a:t>
            </a:r>
          </a:p>
          <a:p>
            <a:pPr algn="just">
              <a:defRPr/>
            </a:pPr>
            <a:r>
              <a:rPr lang="en-US" sz="2400" dirty="0"/>
              <a:t>Functions must be assigned a name. Similar to variables, each function is given </a:t>
            </a:r>
            <a:r>
              <a:rPr lang="en-US" sz="2400" dirty="0" smtClean="0"/>
              <a:t>a valid </a:t>
            </a:r>
            <a:r>
              <a:rPr lang="en-US" sz="2400" dirty="0"/>
              <a:t>identifier name. </a:t>
            </a:r>
            <a:endParaRPr lang="en-US" sz="2400" dirty="0" smtClean="0"/>
          </a:p>
          <a:p>
            <a:pPr algn="just">
              <a:defRPr/>
            </a:pPr>
            <a:r>
              <a:rPr lang="en-US" sz="2400" dirty="0" smtClean="0"/>
              <a:t>A function </a:t>
            </a:r>
            <a:r>
              <a:rPr lang="en-US" sz="2400" dirty="0"/>
              <a:t>name must be followed by parentheses( ).</a:t>
            </a:r>
          </a:p>
          <a:p>
            <a:pPr algn="just">
              <a:defRPr/>
            </a:pPr>
            <a:r>
              <a:rPr lang="en-US" sz="2400" dirty="0"/>
              <a:t>The characteristics of user-defined functions are:</a:t>
            </a:r>
          </a:p>
          <a:p>
            <a:pPr marL="0" indent="0" algn="just">
              <a:buFont typeface="Wingdings" panose="05000000000000000000" pitchFamily="2" charset="2"/>
              <a:buNone/>
              <a:defRPr/>
            </a:pPr>
            <a:r>
              <a:rPr lang="en-US" sz="2400" b="1" dirty="0" smtClean="0"/>
              <a:t>	1</a:t>
            </a:r>
            <a:r>
              <a:rPr lang="en-US" sz="2400" b="1" dirty="0"/>
              <a:t>. A function name must be unique</a:t>
            </a:r>
          </a:p>
          <a:p>
            <a:pPr marL="0" indent="0" algn="just">
              <a:buFont typeface="Wingdings" panose="05000000000000000000" pitchFamily="2" charset="2"/>
              <a:buNone/>
              <a:defRPr/>
            </a:pPr>
            <a:r>
              <a:rPr lang="en-US" sz="2400" b="1" dirty="0" smtClean="0"/>
              <a:t>	2</a:t>
            </a:r>
            <a:r>
              <a:rPr lang="en-US" sz="2400" b="1" dirty="0"/>
              <a:t>. A function performs a specific </a:t>
            </a:r>
            <a:r>
              <a:rPr lang="en-US" sz="2400" b="1" dirty="0" smtClean="0"/>
              <a:t>task</a:t>
            </a:r>
          </a:p>
          <a:p>
            <a:pPr marL="0" indent="0" algn="just">
              <a:buFont typeface="Wingdings" panose="05000000000000000000" pitchFamily="2" charset="2"/>
              <a:buNone/>
              <a:defRPr/>
            </a:pPr>
            <a:r>
              <a:rPr lang="en-US" sz="2400" b="1" dirty="0" smtClean="0"/>
              <a:t>	3</a:t>
            </a:r>
            <a:r>
              <a:rPr lang="en-US" sz="2400" b="1" dirty="0"/>
              <a:t>. A function is independent</a:t>
            </a:r>
          </a:p>
          <a:p>
            <a:pPr marL="0" indent="0" algn="just">
              <a:buFont typeface="Wingdings" panose="05000000000000000000" pitchFamily="2" charset="2"/>
              <a:buNone/>
              <a:defRPr/>
            </a:pPr>
            <a:r>
              <a:rPr lang="en-US" sz="2400" b="1" dirty="0" smtClean="0"/>
              <a:t>	4</a:t>
            </a:r>
            <a:r>
              <a:rPr lang="en-US" sz="2400" b="1" dirty="0"/>
              <a:t>. A function may receive and return values to </a:t>
            </a:r>
            <a:r>
              <a:rPr lang="en-US" sz="2400" b="1" dirty="0" smtClean="0"/>
              <a:t>  	    the calling function</a:t>
            </a:r>
            <a:endParaRPr lang="en-US" sz="2400" b="1" dirty="0"/>
          </a:p>
        </p:txBody>
      </p:sp>
    </p:spTree>
    <p:extLst>
      <p:ext uri="{BB962C8B-B14F-4D97-AF65-F5344CB8AC3E}">
        <p14:creationId xmlns:p14="http://schemas.microsoft.com/office/powerpoint/2010/main" val="21184442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609600" y="1676400"/>
          <a:ext cx="5638800" cy="3886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315" name="Picture 2"/>
          <p:cNvPicPr>
            <a:picLocks noChangeAspect="1" noChangeArrowheads="1"/>
          </p:cNvPicPr>
          <p:nvPr/>
        </p:nvPicPr>
        <p:blipFill>
          <a:blip r:embed="rId7">
            <a:extLst>
              <a:ext uri="{28A0092B-C50C-407E-A947-70E740481C1C}">
                <a14:useLocalDpi xmlns:a14="http://schemas.microsoft.com/office/drawing/2010/main" val="0"/>
              </a:ext>
            </a:extLst>
          </a:blip>
          <a:srcRect l="27139" t="24524" r="38310" b="55157"/>
          <a:stretch>
            <a:fillRect/>
          </a:stretch>
        </p:blipFill>
        <p:spPr bwMode="auto">
          <a:xfrm>
            <a:off x="4011613" y="2286000"/>
            <a:ext cx="5132387"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itle 1"/>
          <p:cNvSpPr>
            <a:spLocks noGrp="1"/>
          </p:cNvSpPr>
          <p:nvPr>
            <p:ph type="title"/>
          </p:nvPr>
        </p:nvSpPr>
        <p:spPr>
          <a:xfrm>
            <a:off x="838200" y="453521"/>
            <a:ext cx="7315200" cy="290336"/>
          </a:xfrm>
        </p:spPr>
        <p:txBody>
          <a:bodyPr/>
          <a:lstStyle/>
          <a:p>
            <a:r>
              <a:rPr lang="en-US" altLang="en-US" dirty="0" smtClean="0">
                <a:ea typeface="ＭＳ Ｐゴシック" panose="020B0600070205080204" pitchFamily="34" charset="-128"/>
              </a:rPr>
              <a:t>User-defined Functions (cont.)</a:t>
            </a:r>
          </a:p>
        </p:txBody>
      </p:sp>
    </p:spTree>
    <p:extLst>
      <p:ext uri="{BB962C8B-B14F-4D97-AF65-F5344CB8AC3E}">
        <p14:creationId xmlns:p14="http://schemas.microsoft.com/office/powerpoint/2010/main" val="7953579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457200" y="1143000"/>
            <a:ext cx="8229600" cy="4191000"/>
          </a:xfrm>
        </p:spPr>
        <p:txBody>
          <a:bodyPr/>
          <a:lstStyle/>
          <a:p>
            <a:pPr marL="0" indent="0" algn="just">
              <a:buFont typeface="Wingdings" panose="05000000000000000000" pitchFamily="2" charset="2"/>
              <a:buNone/>
              <a:defRPr/>
            </a:pPr>
            <a:endParaRPr lang="en-US" altLang="en-US" sz="2000" dirty="0" smtClean="0">
              <a:ea typeface="ＭＳ Ｐゴシック" panose="020B0600070205080204" pitchFamily="34" charset="-128"/>
            </a:endParaRPr>
          </a:p>
          <a:p>
            <a:pPr algn="just">
              <a:defRPr/>
            </a:pPr>
            <a:r>
              <a:rPr lang="en-US" altLang="en-US" sz="2000" dirty="0" smtClean="0">
                <a:ea typeface="ＭＳ Ｐゴシック" panose="020B0600070205080204" pitchFamily="34" charset="-128"/>
              </a:rPr>
              <a:t>A function prototype can be written according to the following form:</a:t>
            </a:r>
          </a:p>
          <a:p>
            <a:pPr algn="ctr">
              <a:buFont typeface="Wingdings" panose="05000000000000000000" pitchFamily="2" charset="2"/>
              <a:buNone/>
              <a:defRPr/>
            </a:pPr>
            <a:r>
              <a:rPr lang="en-US" altLang="en-US" sz="2000" dirty="0" smtClean="0">
                <a:ea typeface="ＭＳ Ｐゴシック" panose="020B0600070205080204" pitchFamily="34" charset="-128"/>
              </a:rPr>
              <a:t>	</a:t>
            </a:r>
            <a:r>
              <a:rPr lang="en-US" altLang="en-US" sz="2000" dirty="0" err="1" smtClean="0">
                <a:latin typeface="Courier New" panose="02070309020205020404" pitchFamily="49" charset="0"/>
                <a:ea typeface="ＭＳ Ｐゴシック" panose="020B0600070205080204" pitchFamily="34" charset="-128"/>
                <a:cs typeface="Courier New" panose="02070309020205020404" pitchFamily="49" charset="0"/>
              </a:rPr>
              <a:t>function_type</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0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 (parameter list);</a:t>
            </a:r>
          </a:p>
          <a:p>
            <a:pPr lvl="1" algn="just">
              <a:buFont typeface="Wingdings" panose="05000000000000000000" pitchFamily="2" charset="2"/>
              <a:buChar char="§"/>
              <a:defRPr/>
            </a:pPr>
            <a:r>
              <a:rPr lang="en-US" altLang="en-US" sz="2000" dirty="0" err="1" smtClean="0">
                <a:latin typeface="Courier New" panose="02070309020205020404" pitchFamily="49" charset="0"/>
                <a:ea typeface="ＭＳ Ｐゴシック" panose="020B0600070205080204" pitchFamily="34" charset="-128"/>
                <a:cs typeface="Courier New" panose="02070309020205020404" pitchFamily="49" charset="0"/>
              </a:rPr>
              <a:t>function_type</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000" dirty="0" smtClean="0">
                <a:ea typeface="ＭＳ Ｐゴシック" panose="020B0600070205080204" pitchFamily="34" charset="-128"/>
              </a:rPr>
              <a:t>is any data type such as </a:t>
            </a:r>
            <a:r>
              <a:rPr lang="en-US" altLang="en-US" sz="2000" dirty="0" err="1" smtClean="0">
                <a:latin typeface="Courier New" panose="02070309020205020404" pitchFamily="49" charset="0"/>
                <a:ea typeface="ＭＳ Ｐゴシック" panose="020B0600070205080204" pitchFamily="34" charset="-128"/>
                <a:cs typeface="Courier New" panose="02070309020205020404" pitchFamily="49" charset="0"/>
              </a:rPr>
              <a:t>int</a:t>
            </a:r>
            <a:r>
              <a:rPr lang="en-US" altLang="en-US" sz="2000" dirty="0" smtClean="0">
                <a:ea typeface="ＭＳ Ｐゴシック" panose="020B0600070205080204" pitchFamily="34" charset="-128"/>
              </a:rPr>
              <a:t>, </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double</a:t>
            </a:r>
            <a:r>
              <a:rPr lang="en-US" altLang="en-US" sz="2000" dirty="0" smtClean="0">
                <a:ea typeface="ＭＳ Ｐゴシック" panose="020B0600070205080204" pitchFamily="34" charset="-128"/>
              </a:rPr>
              <a:t>, </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float</a:t>
            </a:r>
            <a:r>
              <a:rPr lang="en-US" altLang="en-US" sz="2000" dirty="0" smtClean="0">
                <a:ea typeface="ＭＳ Ｐゴシック" panose="020B0600070205080204" pitchFamily="34" charset="-128"/>
              </a:rPr>
              <a:t>, </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char </a:t>
            </a:r>
            <a:r>
              <a:rPr lang="en-US" altLang="en-US" sz="2000" dirty="0" smtClean="0">
                <a:ea typeface="ＭＳ Ｐゴシック" panose="020B0600070205080204" pitchFamily="34" charset="-128"/>
              </a:rPr>
              <a:t>or </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void</a:t>
            </a:r>
          </a:p>
          <a:p>
            <a:pPr lvl="1" algn="just">
              <a:buFont typeface="Wingdings" panose="05000000000000000000" pitchFamily="2" charset="2"/>
              <a:buChar char="§"/>
              <a:defRPr/>
            </a:pPr>
            <a:r>
              <a:rPr lang="en-US" altLang="en-US" sz="20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2000" dirty="0" smtClean="0">
                <a:ea typeface="ＭＳ Ｐゴシック" panose="020B0600070205080204" pitchFamily="34" charset="-128"/>
              </a:rPr>
              <a:t>is any identifier name as the name must follow the rules in naming identifiers.	</a:t>
            </a:r>
          </a:p>
          <a:p>
            <a:pPr lvl="1" algn="just">
              <a:buFont typeface="Wingdings" panose="05000000000000000000" pitchFamily="2" charset="2"/>
              <a:buChar char="§"/>
              <a:defRPr/>
            </a:pPr>
            <a:r>
              <a:rPr lang="en-US" altLang="en-US" sz="2000" dirty="0" smtClean="0">
                <a:latin typeface="Courier New" panose="02070309020205020404" pitchFamily="49" charset="0"/>
                <a:ea typeface="ＭＳ Ｐゴシック" panose="020B0600070205080204" pitchFamily="34" charset="-128"/>
                <a:cs typeface="Courier New" panose="02070309020205020404" pitchFamily="49" charset="0"/>
              </a:rPr>
              <a:t>parameter list</a:t>
            </a:r>
            <a:r>
              <a:rPr lang="en-US" altLang="en-US" sz="2000" dirty="0" smtClean="0">
                <a:ea typeface="ＭＳ Ｐゴシック" panose="020B0600070205080204" pitchFamily="34" charset="-128"/>
              </a:rPr>
              <a:t> is any data type which belongs to variables or constants that is passed to the function. </a:t>
            </a:r>
          </a:p>
          <a:p>
            <a:pPr algn="just">
              <a:defRPr/>
            </a:pPr>
            <a:r>
              <a:rPr lang="en-US" altLang="en-US" sz="2000" dirty="0" smtClean="0">
                <a:ea typeface="ＭＳ Ｐゴシック" panose="020B0600070205080204" pitchFamily="34" charset="-128"/>
              </a:rPr>
              <a:t>Similar to statements, a function declaration/prototype must end with a semicolon(;).</a:t>
            </a:r>
            <a:endParaRPr lang="en-US" altLang="en-US" sz="2000" b="1" dirty="0" smtClean="0">
              <a:ea typeface="ＭＳ Ｐゴシック" panose="020B0600070205080204" pitchFamily="34" charset="-128"/>
            </a:endParaRPr>
          </a:p>
        </p:txBody>
      </p:sp>
      <p:sp>
        <p:nvSpPr>
          <p:cNvPr id="14339" name="Title 1"/>
          <p:cNvSpPr>
            <a:spLocks noGrp="1"/>
          </p:cNvSpPr>
          <p:nvPr>
            <p:ph type="title"/>
          </p:nvPr>
        </p:nvSpPr>
        <p:spPr>
          <a:xfrm>
            <a:off x="914400" y="457200"/>
            <a:ext cx="7315200" cy="290336"/>
          </a:xfrm>
        </p:spPr>
        <p:txBody>
          <a:bodyPr/>
          <a:lstStyle/>
          <a:p>
            <a:r>
              <a:rPr lang="en-US" altLang="en-US" dirty="0" smtClean="0">
                <a:ea typeface="ＭＳ Ｐゴシック" panose="020B0600070205080204" pitchFamily="34" charset="-128"/>
              </a:rPr>
              <a:t>Function Declaration/Prototype(cont.)</a:t>
            </a:r>
          </a:p>
        </p:txBody>
      </p:sp>
    </p:spTree>
    <p:extLst>
      <p:ext uri="{BB962C8B-B14F-4D97-AF65-F5344CB8AC3E}">
        <p14:creationId xmlns:p14="http://schemas.microsoft.com/office/powerpoint/2010/main" val="37508250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914400" y="381000"/>
            <a:ext cx="7315200" cy="290336"/>
          </a:xfrm>
        </p:spPr>
        <p:txBody>
          <a:bodyPr/>
          <a:lstStyle/>
          <a:p>
            <a:r>
              <a:rPr lang="en-US" altLang="en-US" dirty="0" smtClean="0">
                <a:ea typeface="ＭＳ Ｐゴシック" panose="020B0600070205080204" pitchFamily="34" charset="-128"/>
              </a:rPr>
              <a:t>Function Definition</a:t>
            </a:r>
          </a:p>
        </p:txBody>
      </p:sp>
      <p:sp>
        <p:nvSpPr>
          <p:cNvPr id="15363" name="Content Placeholder 2"/>
          <p:cNvSpPr>
            <a:spLocks noGrp="1"/>
          </p:cNvSpPr>
          <p:nvPr>
            <p:ph idx="1"/>
          </p:nvPr>
        </p:nvSpPr>
        <p:spPr>
          <a:xfrm>
            <a:off x="457200" y="1371600"/>
            <a:ext cx="8229600" cy="4297363"/>
          </a:xfrm>
        </p:spPr>
        <p:txBody>
          <a:bodyPr/>
          <a:lstStyle/>
          <a:p>
            <a:pPr algn="just"/>
            <a:r>
              <a:rPr lang="en-US" altLang="en-US" sz="2000" dirty="0" smtClean="0">
                <a:ea typeface="ＭＳ Ｐゴシック" panose="020B0600070205080204" pitchFamily="34" charset="-128"/>
              </a:rPr>
              <a:t>A function is a sub program which can perform specific tasks. </a:t>
            </a:r>
          </a:p>
          <a:p>
            <a:pPr algn="just"/>
            <a:r>
              <a:rPr lang="en-US" altLang="en-US" sz="2000" dirty="0" smtClean="0">
                <a:ea typeface="ＭＳ Ｐゴシック" panose="020B0600070205080204" pitchFamily="34" charset="-128"/>
              </a:rPr>
              <a:t>Function definition will not be used if it is not called by the function call.</a:t>
            </a:r>
          </a:p>
          <a:p>
            <a:pPr algn="just"/>
            <a:r>
              <a:rPr lang="en-US" altLang="en-US" sz="2000" dirty="0" smtClean="0">
                <a:ea typeface="ＭＳ Ｐゴシック" panose="020B0600070205080204" pitchFamily="34" charset="-128"/>
              </a:rPr>
              <a:t>To write a function definition, below is the correct form:</a:t>
            </a:r>
          </a:p>
          <a:p>
            <a:pPr algn="just">
              <a:buFont typeface="Wingdings" panose="05000000000000000000" pitchFamily="2" charset="2"/>
              <a:buNone/>
            </a:pPr>
            <a:r>
              <a:rPr lang="en-US" altLang="en-US" dirty="0" smtClean="0">
                <a:ea typeface="ＭＳ Ｐゴシック" panose="020B0600070205080204" pitchFamily="34" charset="-128"/>
              </a:rPr>
              <a:t>	</a:t>
            </a:r>
            <a:r>
              <a:rPr lang="en-US" altLang="en-US" sz="1600" dirty="0" err="1" smtClean="0">
                <a:latin typeface="Courier New" panose="02070309020205020404" pitchFamily="49" charset="0"/>
                <a:ea typeface="ＭＳ Ｐゴシック" panose="020B0600070205080204" pitchFamily="34" charset="-128"/>
                <a:cs typeface="Courier New" panose="02070309020205020404" pitchFamily="49" charset="0"/>
              </a:rPr>
              <a:t>function_type</a:t>
            </a:r>
            <a:r>
              <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16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rPr>
              <a:t> (formal parameter list)</a:t>
            </a:r>
          </a:p>
          <a:p>
            <a:pPr algn="just">
              <a:buFont typeface="Wingdings" panose="05000000000000000000" pitchFamily="2" charset="2"/>
              <a:buNone/>
            </a:pPr>
            <a:r>
              <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rPr>
              <a:t>	{</a:t>
            </a:r>
          </a:p>
          <a:p>
            <a:pPr algn="just">
              <a:buFont typeface="Wingdings" panose="05000000000000000000" pitchFamily="2" charset="2"/>
              <a:buNone/>
            </a:pPr>
            <a:r>
              <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rPr>
              <a:t>		</a:t>
            </a:r>
            <a:r>
              <a:rPr lang="en-US" altLang="en-US" sz="1600" dirty="0" err="1" smtClean="0">
                <a:latin typeface="Courier New" panose="02070309020205020404" pitchFamily="49" charset="0"/>
                <a:ea typeface="ＭＳ Ｐゴシック" panose="020B0600070205080204" pitchFamily="34" charset="-128"/>
                <a:cs typeface="Courier New" panose="02070309020205020404" pitchFamily="49" charset="0"/>
              </a:rPr>
              <a:t>function_body</a:t>
            </a:r>
            <a:endPar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endParaRPr>
          </a:p>
          <a:p>
            <a:pPr algn="just">
              <a:buFont typeface="Wingdings" panose="05000000000000000000" pitchFamily="2" charset="2"/>
              <a:buNone/>
            </a:pPr>
            <a:r>
              <a:rPr lang="en-US" altLang="en-US" sz="1600" dirty="0" smtClean="0">
                <a:latin typeface="Courier New" panose="02070309020205020404" pitchFamily="49" charset="0"/>
                <a:ea typeface="ＭＳ Ｐゴシック" panose="020B0600070205080204" pitchFamily="34" charset="-128"/>
                <a:cs typeface="Courier New" panose="02070309020205020404" pitchFamily="49" charset="0"/>
              </a:rPr>
              <a:t>	}</a:t>
            </a:r>
          </a:p>
          <a:p>
            <a:pPr algn="just">
              <a:buFont typeface="Wingdings" panose="05000000000000000000" pitchFamily="2" charset="2"/>
              <a:buNone/>
            </a:pPr>
            <a:endParaRPr lang="en-US" altLang="en-US" sz="1000" dirty="0" smtClean="0">
              <a:latin typeface="Courier New" panose="02070309020205020404" pitchFamily="49" charset="0"/>
              <a:ea typeface="ＭＳ Ｐゴシック" panose="020B0600070205080204" pitchFamily="34" charset="-128"/>
              <a:cs typeface="Courier New" panose="02070309020205020404" pitchFamily="49" charset="0"/>
            </a:endParaRPr>
          </a:p>
          <a:p>
            <a:pPr lvl="1" algn="just">
              <a:spcBef>
                <a:spcPct val="0"/>
              </a:spcBef>
              <a:buFont typeface="Wingdings" panose="05000000000000000000" pitchFamily="2" charset="2"/>
              <a:buChar char="§"/>
            </a:pP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function type </a:t>
            </a:r>
            <a:r>
              <a:rPr lang="en-US" altLang="en-US" sz="1800" dirty="0" smtClean="0">
                <a:ea typeface="ＭＳ Ｐゴシック" panose="020B0600070205080204" pitchFamily="34" charset="-128"/>
              </a:rPr>
              <a:t>is any data type such as </a:t>
            </a:r>
            <a:r>
              <a:rPr lang="en-US" altLang="en-US" sz="1800" dirty="0" err="1" smtClean="0">
                <a:latin typeface="Courier New" panose="02070309020205020404" pitchFamily="49" charset="0"/>
                <a:ea typeface="ＭＳ Ｐゴシック" panose="020B0600070205080204" pitchFamily="34" charset="-128"/>
                <a:cs typeface="Courier New" panose="02070309020205020404" pitchFamily="49" charset="0"/>
              </a:rPr>
              <a:t>int</a:t>
            </a:r>
            <a:r>
              <a:rPr lang="en-US" altLang="en-US" sz="1800" dirty="0" smtClean="0">
                <a:ea typeface="ＭＳ Ｐゴシック" panose="020B0600070205080204" pitchFamily="34" charset="-128"/>
              </a:rPr>
              <a:t>, </a:t>
            </a: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double</a:t>
            </a:r>
            <a:r>
              <a:rPr lang="en-US" altLang="en-US" sz="1800" dirty="0" smtClean="0">
                <a:ea typeface="ＭＳ Ｐゴシック" panose="020B0600070205080204" pitchFamily="34" charset="-128"/>
              </a:rPr>
              <a:t>, </a:t>
            </a: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float</a:t>
            </a:r>
            <a:r>
              <a:rPr lang="en-US" altLang="en-US" sz="1800" dirty="0" smtClean="0">
                <a:ea typeface="ＭＳ Ｐゴシック" panose="020B0600070205080204" pitchFamily="34" charset="-128"/>
              </a:rPr>
              <a:t>, </a:t>
            </a: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char </a:t>
            </a:r>
            <a:r>
              <a:rPr lang="en-US" altLang="en-US" sz="1800" dirty="0" smtClean="0">
                <a:ea typeface="ＭＳ Ｐゴシック" panose="020B0600070205080204" pitchFamily="34" charset="-128"/>
              </a:rPr>
              <a:t>or </a:t>
            </a: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void</a:t>
            </a:r>
            <a:r>
              <a:rPr lang="en-US" altLang="en-US" sz="1800" dirty="0" smtClean="0">
                <a:ea typeface="ＭＳ Ｐゴシック" panose="020B0600070205080204" pitchFamily="34" charset="-128"/>
              </a:rPr>
              <a:t>.</a:t>
            </a:r>
          </a:p>
          <a:p>
            <a:pPr lvl="1" algn="just">
              <a:spcBef>
                <a:spcPct val="0"/>
              </a:spcBef>
              <a:buFont typeface="Wingdings" panose="05000000000000000000" pitchFamily="2" charset="2"/>
              <a:buChar char="§"/>
            </a:pPr>
            <a:r>
              <a:rPr lang="en-US" altLang="en-US" sz="18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1800" dirty="0" smtClean="0">
                <a:ea typeface="ＭＳ Ｐゴシック" panose="020B0600070205080204" pitchFamily="34" charset="-128"/>
              </a:rPr>
              <a:t> is any identifier name as the name must follow the rules in naming identifiers</a:t>
            </a:r>
          </a:p>
          <a:p>
            <a:pPr lvl="1" algn="just">
              <a:spcBef>
                <a:spcPct val="0"/>
              </a:spcBef>
              <a:buFont typeface="Wingdings" panose="05000000000000000000" pitchFamily="2" charset="2"/>
              <a:buChar char="§"/>
            </a:pP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Formal parameter list </a:t>
            </a:r>
            <a:r>
              <a:rPr lang="en-US" altLang="en-US" sz="1800" dirty="0" smtClean="0">
                <a:ea typeface="ＭＳ Ｐゴシック" panose="020B0600070205080204" pitchFamily="34" charset="-128"/>
              </a:rPr>
              <a:t>is any data type and identifier name that is being passed to the function</a:t>
            </a:r>
          </a:p>
        </p:txBody>
      </p:sp>
    </p:spTree>
    <p:extLst>
      <p:ext uri="{BB962C8B-B14F-4D97-AF65-F5344CB8AC3E}">
        <p14:creationId xmlns:p14="http://schemas.microsoft.com/office/powerpoint/2010/main" val="36099126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457200" y="1600200"/>
            <a:ext cx="8229600" cy="4144963"/>
          </a:xfrm>
        </p:spPr>
        <p:txBody>
          <a:bodyPr/>
          <a:lstStyle/>
          <a:p>
            <a:pPr algn="just"/>
            <a:r>
              <a:rPr lang="en-US" altLang="en-US" sz="2400" smtClean="0">
                <a:ea typeface="ＭＳ Ｐゴシック" panose="020B0600070205080204" pitchFamily="34" charset="-128"/>
              </a:rPr>
              <a:t>A parameter list in a function definition is known as formal parameter list. </a:t>
            </a:r>
          </a:p>
          <a:p>
            <a:pPr algn="just"/>
            <a:r>
              <a:rPr lang="en-US" altLang="en-US" sz="2400" smtClean="0">
                <a:ea typeface="ＭＳ Ｐゴシック" panose="020B0600070205080204" pitchFamily="34" charset="-128"/>
              </a:rPr>
              <a:t>If there is more than one parameter list, separate them with commas (,).</a:t>
            </a:r>
          </a:p>
          <a:p>
            <a:pPr algn="just"/>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function_body</a:t>
            </a:r>
            <a:r>
              <a:rPr lang="en-US" altLang="en-US" sz="2400" smtClean="0">
                <a:ea typeface="ＭＳ Ｐゴシック" panose="020B0600070205080204" pitchFamily="34" charset="-128"/>
              </a:rPr>
              <a:t> is enclosed in braces and composed of executable statements such as input, process and output.</a:t>
            </a:r>
          </a:p>
          <a:p>
            <a:pPr algn="just"/>
            <a:r>
              <a:rPr lang="en-US" altLang="en-US" sz="2400" smtClean="0">
                <a:ea typeface="ＭＳ Ｐゴシック" panose="020B0600070205080204" pitchFamily="34" charset="-128"/>
              </a:rPr>
              <a:t>A function definition which starts with the function type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int</a:t>
            </a:r>
            <a:r>
              <a:rPr lang="en-US" altLang="en-US" sz="2400" smtClean="0">
                <a:ea typeface="ＭＳ Ｐゴシック" panose="020B0600070205080204" pitchFamily="34" charset="-128"/>
              </a:rPr>
              <a:t>,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double</a:t>
            </a:r>
            <a:r>
              <a:rPr lang="en-US" altLang="en-US" sz="2400" smtClean="0">
                <a:ea typeface="ＭＳ Ｐゴシック" panose="020B0600070205080204" pitchFamily="34" charset="-128"/>
              </a:rPr>
              <a:t>,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float</a:t>
            </a:r>
            <a:r>
              <a:rPr lang="en-US" altLang="en-US" sz="2400" smtClean="0">
                <a:ea typeface="ＭＳ Ｐゴシック" panose="020B0600070205080204" pitchFamily="34" charset="-128"/>
              </a:rPr>
              <a:t> and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char</a:t>
            </a:r>
            <a:r>
              <a:rPr lang="en-US" altLang="en-US" sz="2400" smtClean="0">
                <a:ea typeface="ＭＳ Ｐゴシック" panose="020B0600070205080204" pitchFamily="34" charset="-128"/>
              </a:rPr>
              <a:t> must return its value to the function call, whereas if it starts with function type void, the function does not have to return a value.</a:t>
            </a:r>
          </a:p>
        </p:txBody>
      </p:sp>
      <p:sp>
        <p:nvSpPr>
          <p:cNvPr id="16387" name="Title 1"/>
          <p:cNvSpPr>
            <a:spLocks noGrp="1"/>
          </p:cNvSpPr>
          <p:nvPr>
            <p:ph type="title"/>
          </p:nvPr>
        </p:nvSpPr>
        <p:spPr>
          <a:xfrm>
            <a:off x="914400" y="381000"/>
            <a:ext cx="7315200" cy="290336"/>
          </a:xfrm>
        </p:spPr>
        <p:txBody>
          <a:bodyPr/>
          <a:lstStyle/>
          <a:p>
            <a:r>
              <a:rPr lang="en-US" altLang="en-US" dirty="0" smtClean="0">
                <a:ea typeface="ＭＳ Ｐゴシック" panose="020B0600070205080204" pitchFamily="34" charset="-128"/>
              </a:rPr>
              <a:t>Function Definition (cont.)</a:t>
            </a:r>
          </a:p>
        </p:txBody>
      </p:sp>
    </p:spTree>
    <p:extLst>
      <p:ext uri="{BB962C8B-B14F-4D97-AF65-F5344CB8AC3E}">
        <p14:creationId xmlns:p14="http://schemas.microsoft.com/office/powerpoint/2010/main" val="14793892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p:cNvPicPr>
            <a:picLocks noChangeAspect="1" noChangeArrowheads="1"/>
          </p:cNvPicPr>
          <p:nvPr/>
        </p:nvPicPr>
        <p:blipFill>
          <a:blip r:embed="rId2">
            <a:extLst>
              <a:ext uri="{28A0092B-C50C-407E-A947-70E740481C1C}">
                <a14:useLocalDpi xmlns:a14="http://schemas.microsoft.com/office/drawing/2010/main" val="0"/>
              </a:ext>
            </a:extLst>
          </a:blip>
          <a:srcRect l="36177" t="19955" r="24767" b="56320"/>
          <a:stretch>
            <a:fillRect/>
          </a:stretch>
        </p:blipFill>
        <p:spPr bwMode="auto">
          <a:xfrm>
            <a:off x="381000" y="1447800"/>
            <a:ext cx="47466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5"/>
          <p:cNvPicPr>
            <a:picLocks noChangeAspect="1" noChangeArrowheads="1"/>
          </p:cNvPicPr>
          <p:nvPr/>
        </p:nvPicPr>
        <p:blipFill>
          <a:blip r:embed="rId3">
            <a:extLst>
              <a:ext uri="{28A0092B-C50C-407E-A947-70E740481C1C}">
                <a14:useLocalDpi xmlns:a14="http://schemas.microsoft.com/office/drawing/2010/main" val="0"/>
              </a:ext>
            </a:extLst>
          </a:blip>
          <a:srcRect l="25594" t="18765" r="33707" b="50000"/>
          <a:stretch>
            <a:fillRect/>
          </a:stretch>
        </p:blipFill>
        <p:spPr bwMode="auto">
          <a:xfrm>
            <a:off x="4276725" y="1468438"/>
            <a:ext cx="45339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5"/>
          <p:cNvPicPr>
            <a:picLocks noChangeAspect="1" noChangeArrowheads="1"/>
          </p:cNvPicPr>
          <p:nvPr/>
        </p:nvPicPr>
        <p:blipFill>
          <a:blip r:embed="rId3">
            <a:extLst>
              <a:ext uri="{28A0092B-C50C-407E-A947-70E740481C1C}">
                <a14:useLocalDpi xmlns:a14="http://schemas.microsoft.com/office/drawing/2010/main" val="0"/>
              </a:ext>
            </a:extLst>
          </a:blip>
          <a:srcRect l="24995" t="53178" r="34132" b="16135"/>
          <a:stretch>
            <a:fillRect/>
          </a:stretch>
        </p:blipFill>
        <p:spPr bwMode="auto">
          <a:xfrm>
            <a:off x="1981200" y="3811588"/>
            <a:ext cx="5257800"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itle 1"/>
          <p:cNvSpPr>
            <a:spLocks noGrp="1"/>
          </p:cNvSpPr>
          <p:nvPr>
            <p:ph type="title"/>
          </p:nvPr>
        </p:nvSpPr>
        <p:spPr>
          <a:xfrm>
            <a:off x="952500" y="457200"/>
            <a:ext cx="7315200" cy="290336"/>
          </a:xfrm>
        </p:spPr>
        <p:txBody>
          <a:bodyPr/>
          <a:lstStyle/>
          <a:p>
            <a:r>
              <a:rPr lang="en-US" altLang="en-US" dirty="0" smtClean="0">
                <a:ea typeface="ＭＳ Ｐゴシック" panose="020B0600070205080204" pitchFamily="34" charset="-128"/>
              </a:rPr>
              <a:t>Function Definition (cont.)</a:t>
            </a:r>
          </a:p>
        </p:txBody>
      </p:sp>
    </p:spTree>
    <p:extLst>
      <p:ext uri="{BB962C8B-B14F-4D97-AF65-F5344CB8AC3E}">
        <p14:creationId xmlns:p14="http://schemas.microsoft.com/office/powerpoint/2010/main" val="15555325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914400" y="457200"/>
            <a:ext cx="7315200" cy="290336"/>
          </a:xfrm>
        </p:spPr>
        <p:txBody>
          <a:bodyPr/>
          <a:lstStyle/>
          <a:p>
            <a:r>
              <a:rPr lang="en-US" altLang="en-US" dirty="0" smtClean="0">
                <a:ea typeface="ＭＳ Ｐゴシック" panose="020B0600070205080204" pitchFamily="34" charset="-128"/>
              </a:rPr>
              <a:t>Function Call</a:t>
            </a:r>
          </a:p>
        </p:txBody>
      </p:sp>
      <p:sp>
        <p:nvSpPr>
          <p:cNvPr id="18435" name="Content Placeholder 2"/>
          <p:cNvSpPr>
            <a:spLocks noGrp="1"/>
          </p:cNvSpPr>
          <p:nvPr>
            <p:ph idx="1"/>
          </p:nvPr>
        </p:nvSpPr>
        <p:spPr>
          <a:xfrm>
            <a:off x="457200" y="1295400"/>
            <a:ext cx="8229600" cy="4267200"/>
          </a:xfrm>
        </p:spPr>
        <p:txBody>
          <a:bodyPr/>
          <a:lstStyle/>
          <a:p>
            <a:pPr algn="just"/>
            <a:r>
              <a:rPr lang="en-US" altLang="en-US" sz="2000" dirty="0" smtClean="0">
                <a:ea typeface="ＭＳ Ｐゴシック" panose="020B0600070205080204" pitchFamily="34" charset="-128"/>
              </a:rPr>
              <a:t>All function definitions must be called so that they can be useful.</a:t>
            </a:r>
          </a:p>
          <a:p>
            <a:pPr algn="just"/>
            <a:r>
              <a:rPr lang="en-US" altLang="en-US" sz="2000" dirty="0" smtClean="0">
                <a:ea typeface="ＭＳ Ｐゴシック" panose="020B0600070205080204" pitchFamily="34" charset="-128"/>
              </a:rPr>
              <a:t>A function definition which is not called does not have the ability to perform its task.</a:t>
            </a:r>
          </a:p>
          <a:p>
            <a:pPr algn="just"/>
            <a:r>
              <a:rPr lang="en-US" altLang="en-US" sz="2000" dirty="0" smtClean="0">
                <a:ea typeface="ＭＳ Ｐゴシック" panose="020B0600070205080204" pitchFamily="34" charset="-128"/>
              </a:rPr>
              <a:t>A function definition in a program can be called by any other functions including the main function.</a:t>
            </a:r>
          </a:p>
          <a:p>
            <a:pPr algn="just"/>
            <a:r>
              <a:rPr lang="en-US" altLang="en-US" sz="2000" dirty="0" smtClean="0">
                <a:ea typeface="ＭＳ Ｐゴシック" panose="020B0600070205080204" pitchFamily="34" charset="-128"/>
              </a:rPr>
              <a:t>When calling a function, follow the form below:</a:t>
            </a:r>
          </a:p>
          <a:p>
            <a:pPr algn="ctr">
              <a:buFont typeface="Wingdings" panose="05000000000000000000" pitchFamily="2" charset="2"/>
              <a:buNone/>
            </a:pPr>
            <a:r>
              <a:rPr lang="en-US" altLang="en-US" sz="1800" dirty="0" smtClean="0">
                <a:ea typeface="ＭＳ Ｐゴシック" panose="020B0600070205080204" pitchFamily="34" charset="-128"/>
              </a:rPr>
              <a:t>	</a:t>
            </a:r>
            <a:r>
              <a:rPr lang="en-US" altLang="en-US" sz="18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 (actual parameter list);</a:t>
            </a:r>
          </a:p>
          <a:p>
            <a:pPr lvl="1" algn="just">
              <a:buFont typeface="Wingdings" panose="05000000000000000000" pitchFamily="2" charset="2"/>
              <a:buChar char="§"/>
            </a:pPr>
            <a:r>
              <a:rPr lang="en-US" altLang="en-US" sz="1800" dirty="0" err="1" smtClean="0">
                <a:latin typeface="Courier New" panose="02070309020205020404" pitchFamily="49" charset="0"/>
                <a:ea typeface="ＭＳ Ｐゴシック" panose="020B0600070205080204" pitchFamily="34" charset="-128"/>
                <a:cs typeface="Courier New" panose="02070309020205020404" pitchFamily="49" charset="0"/>
              </a:rPr>
              <a:t>function_name</a:t>
            </a:r>
            <a:r>
              <a:rPr lang="en-US" altLang="en-US" sz="1800" dirty="0" smtClean="0">
                <a:ea typeface="ＭＳ Ｐゴシック" panose="020B0600070205080204" pitchFamily="34" charset="-128"/>
              </a:rPr>
              <a:t> is any identifier name as the name must follow the rules in naming 	identifiers.</a:t>
            </a:r>
          </a:p>
          <a:p>
            <a:pPr lvl="1" algn="just">
              <a:buFont typeface="Wingdings" panose="05000000000000000000" pitchFamily="2" charset="2"/>
              <a:buChar char="§"/>
            </a:pPr>
            <a:r>
              <a:rPr lang="en-US" altLang="en-US" sz="1800" dirty="0" smtClean="0">
                <a:latin typeface="Courier New" panose="02070309020205020404" pitchFamily="49" charset="0"/>
                <a:ea typeface="ＭＳ Ｐゴシック" panose="020B0600070205080204" pitchFamily="34" charset="-128"/>
                <a:cs typeface="Courier New" panose="02070309020205020404" pitchFamily="49" charset="0"/>
              </a:rPr>
              <a:t>parameter list </a:t>
            </a:r>
            <a:r>
              <a:rPr lang="en-US" altLang="en-US" sz="1800" dirty="0" smtClean="0">
                <a:ea typeface="ＭＳ Ｐゴシック" panose="020B0600070205080204" pitchFamily="34" charset="-128"/>
              </a:rPr>
              <a:t>is any identifier name or value that is being passed to the function.</a:t>
            </a:r>
          </a:p>
          <a:p>
            <a:pPr algn="just"/>
            <a:r>
              <a:rPr lang="en-US" altLang="en-US" sz="2000" dirty="0" smtClean="0">
                <a:ea typeface="ＭＳ Ｐゴシック" panose="020B0600070205080204" pitchFamily="34" charset="-128"/>
              </a:rPr>
              <a:t>A parameter list in a function call is known as an actual parameter list. If there is more than one parameter list, separate them with commas (,).</a:t>
            </a:r>
          </a:p>
          <a:p>
            <a:pPr algn="just">
              <a:buFont typeface="Wingdings" panose="05000000000000000000" pitchFamily="2" charset="2"/>
              <a:buNone/>
            </a:pPr>
            <a:endParaRPr lang="en-US" altLang="en-US" sz="2000" dirty="0" smtClean="0">
              <a:ea typeface="ＭＳ Ｐゴシック" panose="020B0600070205080204" pitchFamily="34" charset="-128"/>
            </a:endParaRPr>
          </a:p>
        </p:txBody>
      </p:sp>
    </p:spTree>
    <p:extLst>
      <p:ext uri="{BB962C8B-B14F-4D97-AF65-F5344CB8AC3E}">
        <p14:creationId xmlns:p14="http://schemas.microsoft.com/office/powerpoint/2010/main" val="12233980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l="35786" t="14529" r="23798" b="55064"/>
          <a:stretch>
            <a:fillRect/>
          </a:stretch>
        </p:blipFill>
        <p:spPr bwMode="auto">
          <a:xfrm>
            <a:off x="304800" y="1657350"/>
            <a:ext cx="5562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2"/>
          <p:cNvPicPr>
            <a:picLocks noChangeAspect="1" noChangeArrowheads="1"/>
          </p:cNvPicPr>
          <p:nvPr/>
        </p:nvPicPr>
        <p:blipFill>
          <a:blip r:embed="rId3">
            <a:extLst>
              <a:ext uri="{28A0092B-C50C-407E-A947-70E740481C1C}">
                <a14:useLocalDpi xmlns:a14="http://schemas.microsoft.com/office/drawing/2010/main" val="0"/>
              </a:ext>
            </a:extLst>
          </a:blip>
          <a:srcRect l="36580" t="51111" r="29768" b="6834"/>
          <a:stretch>
            <a:fillRect/>
          </a:stretch>
        </p:blipFill>
        <p:spPr bwMode="auto">
          <a:xfrm>
            <a:off x="4152900" y="2886075"/>
            <a:ext cx="46101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itle 1"/>
          <p:cNvSpPr>
            <a:spLocks noGrp="1"/>
          </p:cNvSpPr>
          <p:nvPr>
            <p:ph type="title"/>
          </p:nvPr>
        </p:nvSpPr>
        <p:spPr>
          <a:xfrm>
            <a:off x="990600" y="443139"/>
            <a:ext cx="7315200" cy="290336"/>
          </a:xfrm>
        </p:spPr>
        <p:txBody>
          <a:bodyPr/>
          <a:lstStyle/>
          <a:p>
            <a:r>
              <a:rPr lang="en-US" altLang="en-US" dirty="0" smtClean="0">
                <a:ea typeface="ＭＳ Ｐゴシック" panose="020B0600070205080204" pitchFamily="34" charset="-128"/>
              </a:rPr>
              <a:t>Function Call (cont.)</a:t>
            </a:r>
          </a:p>
        </p:txBody>
      </p:sp>
    </p:spTree>
    <p:extLst>
      <p:ext uri="{BB962C8B-B14F-4D97-AF65-F5344CB8AC3E}">
        <p14:creationId xmlns:p14="http://schemas.microsoft.com/office/powerpoint/2010/main" val="22708945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762000" y="381000"/>
            <a:ext cx="7315200" cy="290336"/>
          </a:xfrm>
        </p:spPr>
        <p:txBody>
          <a:bodyPr/>
          <a:lstStyle/>
          <a:p>
            <a:r>
              <a:rPr lang="en-US" altLang="en-US" dirty="0" smtClean="0">
                <a:ea typeface="ＭＳ Ｐゴシック" panose="020B0600070205080204" pitchFamily="34" charset="-128"/>
              </a:rPr>
              <a:t>Types of Variable and Their Scope</a:t>
            </a:r>
          </a:p>
        </p:txBody>
      </p:sp>
      <p:pic>
        <p:nvPicPr>
          <p:cNvPr id="21507" name="Picture 2"/>
          <p:cNvPicPr>
            <a:picLocks noChangeAspect="1" noChangeArrowheads="1"/>
          </p:cNvPicPr>
          <p:nvPr/>
        </p:nvPicPr>
        <p:blipFill>
          <a:blip r:embed="rId2">
            <a:extLst>
              <a:ext uri="{28A0092B-C50C-407E-A947-70E740481C1C}">
                <a14:useLocalDpi xmlns:a14="http://schemas.microsoft.com/office/drawing/2010/main" val="0"/>
              </a:ext>
            </a:extLst>
          </a:blip>
          <a:srcRect l="27046" t="40884" r="36011" b="39043"/>
          <a:stretch>
            <a:fillRect/>
          </a:stretch>
        </p:blipFill>
        <p:spPr bwMode="auto">
          <a:xfrm>
            <a:off x="228600" y="1600200"/>
            <a:ext cx="801052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72235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914400" y="457200"/>
            <a:ext cx="7315200" cy="290336"/>
          </a:xfrm>
        </p:spPr>
        <p:txBody>
          <a:bodyPr/>
          <a:lstStyle/>
          <a:p>
            <a:r>
              <a:rPr lang="en-US" altLang="en-US" dirty="0" smtClean="0">
                <a:ea typeface="ＭＳ Ｐゴシック" panose="020B0600070205080204" pitchFamily="34" charset="-128"/>
              </a:rPr>
              <a:t>Function with Return Statement</a:t>
            </a:r>
          </a:p>
        </p:txBody>
      </p:sp>
      <p:sp>
        <p:nvSpPr>
          <p:cNvPr id="3" name="Content Placeholder 2"/>
          <p:cNvSpPr>
            <a:spLocks noGrp="1"/>
          </p:cNvSpPr>
          <p:nvPr>
            <p:ph idx="1"/>
          </p:nvPr>
        </p:nvSpPr>
        <p:spPr>
          <a:xfrm>
            <a:off x="457200" y="1600200"/>
            <a:ext cx="8229600" cy="4297363"/>
          </a:xfrm>
        </p:spPr>
        <p:txBody>
          <a:bodyPr/>
          <a:lstStyle/>
          <a:p>
            <a:pPr algn="just">
              <a:defRPr/>
            </a:pPr>
            <a:r>
              <a:rPr lang="en-US" sz="2400" dirty="0"/>
              <a:t>A function which type is </a:t>
            </a:r>
            <a:r>
              <a:rPr lang="en-US" sz="2400" dirty="0" err="1">
                <a:latin typeface="Courier New" pitchFamily="49" charset="0"/>
                <a:cs typeface="Courier New" pitchFamily="49" charset="0"/>
              </a:rPr>
              <a:t>int</a:t>
            </a:r>
            <a:r>
              <a:rPr lang="en-US" sz="2400" dirty="0"/>
              <a:t>, </a:t>
            </a:r>
            <a:r>
              <a:rPr lang="en-US" sz="2400" dirty="0">
                <a:latin typeface="Courier New" pitchFamily="49" charset="0"/>
                <a:cs typeface="Courier New" pitchFamily="49" charset="0"/>
              </a:rPr>
              <a:t>char</a:t>
            </a:r>
            <a:r>
              <a:rPr lang="en-US" sz="2400" dirty="0"/>
              <a:t>, </a:t>
            </a:r>
            <a:r>
              <a:rPr lang="en-US" sz="2400" dirty="0">
                <a:latin typeface="Courier New" pitchFamily="49" charset="0"/>
                <a:cs typeface="Courier New" pitchFamily="49" charset="0"/>
              </a:rPr>
              <a:t>double</a:t>
            </a:r>
            <a:r>
              <a:rPr lang="en-US" sz="2400" dirty="0"/>
              <a:t> or </a:t>
            </a:r>
            <a:r>
              <a:rPr lang="en-US" sz="2400" dirty="0">
                <a:latin typeface="Courier New" pitchFamily="49" charset="0"/>
                <a:cs typeface="Courier New" pitchFamily="49" charset="0"/>
              </a:rPr>
              <a:t>float</a:t>
            </a:r>
            <a:r>
              <a:rPr lang="en-US" sz="2400" dirty="0"/>
              <a:t> must return values to the </a:t>
            </a:r>
            <a:r>
              <a:rPr lang="en-US" sz="2400" dirty="0" smtClean="0"/>
              <a:t>function call</a:t>
            </a:r>
            <a:r>
              <a:rPr lang="en-US" sz="2400" dirty="0"/>
              <a:t>. </a:t>
            </a:r>
            <a:endParaRPr lang="en-US" sz="2400" dirty="0" smtClean="0"/>
          </a:p>
          <a:p>
            <a:pPr algn="just">
              <a:defRPr/>
            </a:pPr>
            <a:r>
              <a:rPr lang="en-US" sz="2400" dirty="0" smtClean="0"/>
              <a:t>A </a:t>
            </a:r>
            <a:r>
              <a:rPr lang="en-US" sz="2400" dirty="0"/>
              <a:t>function can only return one value at a </a:t>
            </a:r>
            <a:r>
              <a:rPr lang="en-US" sz="2400" dirty="0" smtClean="0"/>
              <a:t>time.</a:t>
            </a:r>
          </a:p>
          <a:p>
            <a:pPr algn="just">
              <a:defRPr/>
            </a:pPr>
            <a:r>
              <a:rPr lang="en-US" sz="2400" dirty="0" smtClean="0"/>
              <a:t>The </a:t>
            </a:r>
            <a:r>
              <a:rPr lang="en-US" sz="2400" dirty="0"/>
              <a:t>syntax to return a value is:</a:t>
            </a:r>
          </a:p>
          <a:p>
            <a:pPr marL="0" indent="0" algn="ctr">
              <a:buFont typeface="Wingdings" panose="05000000000000000000" pitchFamily="2" charset="2"/>
              <a:buNone/>
              <a:defRPr/>
            </a:pPr>
            <a:r>
              <a:rPr lang="en-US" sz="2000" dirty="0" smtClean="0">
                <a:latin typeface="Courier New" panose="02070309020205020404" pitchFamily="49" charset="0"/>
                <a:cs typeface="Courier New" panose="02070309020205020404" pitchFamily="49" charset="0"/>
              </a:rPr>
              <a:t>return </a:t>
            </a:r>
            <a:r>
              <a:rPr lang="en-US" sz="2000" dirty="0">
                <a:latin typeface="Courier New" panose="02070309020205020404" pitchFamily="49" charset="0"/>
                <a:cs typeface="Courier New" panose="02070309020205020404" pitchFamily="49" charset="0"/>
              </a:rPr>
              <a:t>expression;</a:t>
            </a:r>
          </a:p>
          <a:p>
            <a:pPr marL="857250" lvl="2" indent="-457200" algn="just">
              <a:buFont typeface="Wingdings" pitchFamily="2" charset="2"/>
              <a:buChar char="§"/>
              <a:defRPr/>
            </a:pPr>
            <a:r>
              <a:rPr lang="en-US" sz="2200" dirty="0" smtClean="0"/>
              <a:t>an </a:t>
            </a:r>
            <a:r>
              <a:rPr lang="en-US" sz="2200" dirty="0"/>
              <a:t>expression can be in the form of </a:t>
            </a:r>
            <a:r>
              <a:rPr lang="en-US" sz="2200" dirty="0" smtClean="0"/>
              <a:t>values </a:t>
            </a:r>
            <a:r>
              <a:rPr lang="en-US" sz="2200" dirty="0"/>
              <a:t>that match with their type </a:t>
            </a:r>
            <a:r>
              <a:rPr lang="en-US" sz="2200" dirty="0" smtClean="0"/>
              <a:t>of identifiers.</a:t>
            </a:r>
            <a:endParaRPr lang="en-US" sz="2200" dirty="0"/>
          </a:p>
        </p:txBody>
      </p:sp>
    </p:spTree>
    <p:extLst>
      <p:ext uri="{BB962C8B-B14F-4D97-AF65-F5344CB8AC3E}">
        <p14:creationId xmlns:p14="http://schemas.microsoft.com/office/powerpoint/2010/main" val="20871331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1"/>
          <p:cNvGrpSpPr>
            <a:grpSpLocks/>
          </p:cNvGrpSpPr>
          <p:nvPr/>
        </p:nvGrpSpPr>
        <p:grpSpPr bwMode="auto">
          <a:xfrm>
            <a:off x="0" y="1600200"/>
            <a:ext cx="7908925" cy="4508500"/>
            <a:chOff x="0" y="1600200"/>
            <a:chExt cx="7908925" cy="4508500"/>
          </a:xfrm>
        </p:grpSpPr>
        <p:pic>
          <p:nvPicPr>
            <p:cNvPr id="23557" name="Picture 2"/>
            <p:cNvPicPr>
              <a:picLocks noChangeAspect="1" noChangeArrowheads="1"/>
            </p:cNvPicPr>
            <p:nvPr/>
          </p:nvPicPr>
          <p:blipFill>
            <a:blip r:embed="rId2">
              <a:extLst>
                <a:ext uri="{28A0092B-C50C-407E-A947-70E740481C1C}">
                  <a14:useLocalDpi xmlns:a14="http://schemas.microsoft.com/office/drawing/2010/main" val="0"/>
                </a:ext>
              </a:extLst>
            </a:blip>
            <a:srcRect l="35266" t="16988" r="24120" b="42149"/>
            <a:stretch>
              <a:fillRect/>
            </a:stretch>
          </p:blipFill>
          <p:spPr bwMode="auto">
            <a:xfrm>
              <a:off x="0" y="1600200"/>
              <a:ext cx="52832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2"/>
            <p:cNvPicPr>
              <a:picLocks noChangeAspect="1" noChangeArrowheads="1"/>
            </p:cNvPicPr>
            <p:nvPr/>
          </p:nvPicPr>
          <p:blipFill>
            <a:blip r:embed="rId2">
              <a:extLst>
                <a:ext uri="{28A0092B-C50C-407E-A947-70E740481C1C}">
                  <a14:useLocalDpi xmlns:a14="http://schemas.microsoft.com/office/drawing/2010/main" val="0"/>
                </a:ext>
              </a:extLst>
            </a:blip>
            <a:srcRect l="37309" t="56259" r="23582" b="10896"/>
            <a:stretch>
              <a:fillRect/>
            </a:stretch>
          </p:blipFill>
          <p:spPr bwMode="auto">
            <a:xfrm>
              <a:off x="2622550" y="3505200"/>
              <a:ext cx="5286375"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555" name="Picture 2"/>
          <p:cNvPicPr>
            <a:picLocks noChangeAspect="1" noChangeArrowheads="1"/>
          </p:cNvPicPr>
          <p:nvPr/>
        </p:nvPicPr>
        <p:blipFill>
          <a:blip r:embed="rId3">
            <a:extLst>
              <a:ext uri="{28A0092B-C50C-407E-A947-70E740481C1C}">
                <a14:useLocalDpi xmlns:a14="http://schemas.microsoft.com/office/drawing/2010/main" val="0"/>
              </a:ext>
            </a:extLst>
          </a:blip>
          <a:srcRect l="26392" t="18314" r="38994" b="62202"/>
          <a:stretch>
            <a:fillRect/>
          </a:stretch>
        </p:blipFill>
        <p:spPr bwMode="auto">
          <a:xfrm>
            <a:off x="5410200" y="1676400"/>
            <a:ext cx="342900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itle 1"/>
          <p:cNvSpPr>
            <a:spLocks noGrp="1"/>
          </p:cNvSpPr>
          <p:nvPr>
            <p:ph type="title"/>
          </p:nvPr>
        </p:nvSpPr>
        <p:spPr>
          <a:xfrm>
            <a:off x="914400" y="433564"/>
            <a:ext cx="7315200" cy="290336"/>
          </a:xfrm>
        </p:spPr>
        <p:txBody>
          <a:bodyPr/>
          <a:lstStyle/>
          <a:p>
            <a:r>
              <a:rPr lang="en-US" altLang="en-US" dirty="0" smtClean="0">
                <a:ea typeface="ＭＳ Ｐゴシック" panose="020B0600070205080204" pitchFamily="34" charset="-128"/>
              </a:rPr>
              <a:t>Function with Return Statement (cont.)</a:t>
            </a:r>
          </a:p>
        </p:txBody>
      </p:sp>
    </p:spTree>
    <p:extLst>
      <p:ext uri="{BB962C8B-B14F-4D97-AF65-F5344CB8AC3E}">
        <p14:creationId xmlns:p14="http://schemas.microsoft.com/office/powerpoint/2010/main" val="22594705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533400" y="1600200"/>
            <a:ext cx="8153400" cy="4297363"/>
          </a:xfrm>
        </p:spPr>
        <p:txBody>
          <a:bodyPr/>
          <a:lstStyle/>
          <a:p>
            <a:pPr algn="just"/>
            <a:r>
              <a:rPr lang="en-US" altLang="en-US" sz="2400" smtClean="0">
                <a:ea typeface="ＭＳ Ｐゴシック" panose="020B0600070205080204" pitchFamily="34" charset="-128"/>
              </a:rPr>
              <a:t>A function which starts with the word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void</a:t>
            </a:r>
            <a:r>
              <a:rPr lang="en-US" altLang="en-US" sz="2400" smtClean="0">
                <a:ea typeface="ＭＳ Ｐゴシック" panose="020B0600070205080204" pitchFamily="34" charset="-128"/>
              </a:rPr>
              <a:t> in front does not have to return a value to the function call. </a:t>
            </a:r>
          </a:p>
          <a:p>
            <a:pPr algn="just"/>
            <a:r>
              <a:rPr lang="en-US" altLang="en-US" sz="2400" smtClean="0">
                <a:ea typeface="ＭＳ Ｐゴシック" panose="020B0600070205080204" pitchFamily="34" charset="-128"/>
              </a:rPr>
              <a:t>However, this function can have the word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return</a:t>
            </a:r>
            <a:r>
              <a:rPr lang="en-US" altLang="en-US" sz="2400" smtClean="0">
                <a:ea typeface="ＭＳ Ｐゴシック" panose="020B0600070205080204" pitchFamily="34" charset="-128"/>
              </a:rPr>
              <a:t> in it but the purpose is only to stop function execution and does not return any value. </a:t>
            </a:r>
          </a:p>
          <a:p>
            <a:pPr algn="just"/>
            <a:r>
              <a:rPr lang="en-US" altLang="en-US" sz="2400" smtClean="0">
                <a:ea typeface="ＭＳ Ｐゴシック" panose="020B0600070205080204" pitchFamily="34" charset="-128"/>
              </a:rPr>
              <a:t>Any statement after </a:t>
            </a:r>
            <a:r>
              <a:rPr lang="en-US" altLang="en-US" sz="2400" smtClean="0">
                <a:latin typeface="Courier New" panose="02070309020205020404" pitchFamily="49" charset="0"/>
                <a:ea typeface="ＭＳ Ｐゴシック" panose="020B0600070205080204" pitchFamily="34" charset="-128"/>
                <a:cs typeface="Courier New" panose="02070309020205020404" pitchFamily="49" charset="0"/>
              </a:rPr>
              <a:t>return</a:t>
            </a:r>
            <a:r>
              <a:rPr lang="en-US" altLang="en-US" sz="2400" smtClean="0">
                <a:ea typeface="ＭＳ Ｐゴシック" panose="020B0600070205080204" pitchFamily="34" charset="-128"/>
              </a:rPr>
              <a:t> will not be executed.</a:t>
            </a:r>
          </a:p>
        </p:txBody>
      </p:sp>
      <p:sp>
        <p:nvSpPr>
          <p:cNvPr id="6" name="Title 1"/>
          <p:cNvSpPr txBox="1">
            <a:spLocks/>
          </p:cNvSpPr>
          <p:nvPr/>
        </p:nvSpPr>
        <p:spPr bwMode="auto">
          <a:xfrm>
            <a:off x="952500" y="-152400"/>
            <a:ext cx="7315200" cy="1417638"/>
          </a:xfrm>
          <a:prstGeom prst="rect">
            <a:avLst/>
          </a:prstGeom>
          <a:noFill/>
          <a:ln w="9525">
            <a:noFill/>
            <a:miter lim="800000"/>
            <a:headEnd/>
            <a:tailEnd/>
          </a:ln>
        </p:spPr>
        <p:txBody>
          <a:bodyPr anchor="ctr"/>
          <a:lstStyle/>
          <a:p>
            <a:pPr>
              <a:defRPr/>
            </a:pPr>
            <a:r>
              <a:rPr lang="en-US" altLang="en-US" sz="2400" b="1" kern="0" dirty="0">
                <a:latin typeface="+mj-lt"/>
                <a:ea typeface="ＭＳ Ｐゴシック" pitchFamily="50" charset="-128"/>
                <a:cs typeface="ＭＳ Ｐゴシック" charset="0"/>
              </a:rPr>
              <a:t>Function without Return Statement (cont.)</a:t>
            </a:r>
          </a:p>
        </p:txBody>
      </p:sp>
    </p:spTree>
    <p:extLst>
      <p:ext uri="{BB962C8B-B14F-4D97-AF65-F5344CB8AC3E}">
        <p14:creationId xmlns:p14="http://schemas.microsoft.com/office/powerpoint/2010/main" val="24140158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ChangeAspect="1" noChangeArrowheads="1"/>
          </p:cNvPicPr>
          <p:nvPr/>
        </p:nvPicPr>
        <p:blipFill>
          <a:blip r:embed="rId3">
            <a:extLst>
              <a:ext uri="{28A0092B-C50C-407E-A947-70E740481C1C}">
                <a14:useLocalDpi xmlns:a14="http://schemas.microsoft.com/office/drawing/2010/main" val="0"/>
              </a:ext>
            </a:extLst>
          </a:blip>
          <a:srcRect l="26471" t="28362" r="44357" b="53088"/>
          <a:stretch>
            <a:fillRect/>
          </a:stretch>
        </p:blipFill>
        <p:spPr bwMode="auto">
          <a:xfrm>
            <a:off x="2998788" y="1524000"/>
            <a:ext cx="3451225"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3"/>
          <p:cNvPicPr>
            <a:picLocks noChangeAspect="1" noChangeArrowheads="1"/>
          </p:cNvPicPr>
          <p:nvPr/>
        </p:nvPicPr>
        <p:blipFill>
          <a:blip r:embed="rId3">
            <a:extLst>
              <a:ext uri="{28A0092B-C50C-407E-A947-70E740481C1C}">
                <a14:useLocalDpi xmlns:a14="http://schemas.microsoft.com/office/drawing/2010/main" val="0"/>
              </a:ext>
            </a:extLst>
          </a:blip>
          <a:srcRect l="26471" t="56519" r="43060" b="22404"/>
          <a:stretch>
            <a:fillRect/>
          </a:stretch>
        </p:blipFill>
        <p:spPr bwMode="auto">
          <a:xfrm>
            <a:off x="685800" y="3814763"/>
            <a:ext cx="3733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p:cNvPicPr>
            <a:picLocks noChangeAspect="1" noChangeArrowheads="1"/>
          </p:cNvPicPr>
          <p:nvPr/>
        </p:nvPicPr>
        <p:blipFill>
          <a:blip r:embed="rId4">
            <a:extLst>
              <a:ext uri="{28A0092B-C50C-407E-A947-70E740481C1C}">
                <a14:useLocalDpi xmlns:a14="http://schemas.microsoft.com/office/drawing/2010/main" val="0"/>
              </a:ext>
            </a:extLst>
          </a:blip>
          <a:srcRect l="37225" t="36171" r="37225" b="43808"/>
          <a:stretch>
            <a:fillRect/>
          </a:stretch>
        </p:blipFill>
        <p:spPr bwMode="auto">
          <a:xfrm>
            <a:off x="4624388" y="3783013"/>
            <a:ext cx="3494087"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a:spLocks/>
          </p:cNvSpPr>
          <p:nvPr/>
        </p:nvSpPr>
        <p:spPr bwMode="auto">
          <a:xfrm>
            <a:off x="762000" y="152400"/>
            <a:ext cx="7315200" cy="838200"/>
          </a:xfrm>
          <a:prstGeom prst="rect">
            <a:avLst/>
          </a:prstGeom>
          <a:noFill/>
          <a:ln w="9525">
            <a:noFill/>
            <a:miter lim="800000"/>
            <a:headEnd/>
            <a:tailEnd/>
          </a:ln>
        </p:spPr>
        <p:txBody>
          <a:bodyPr anchor="ctr"/>
          <a:lstStyle/>
          <a:p>
            <a:pPr>
              <a:defRPr/>
            </a:pPr>
            <a:r>
              <a:rPr lang="en-US" altLang="en-US" sz="2400" b="1" kern="0" dirty="0">
                <a:latin typeface="+mj-lt"/>
                <a:ea typeface="ＭＳ Ｐゴシック" pitchFamily="50" charset="-128"/>
                <a:cs typeface="ＭＳ Ｐゴシック" charset="0"/>
              </a:rPr>
              <a:t>Function without Return Statement (cont.)</a:t>
            </a:r>
          </a:p>
        </p:txBody>
      </p:sp>
    </p:spTree>
    <p:extLst>
      <p:ext uri="{BB962C8B-B14F-4D97-AF65-F5344CB8AC3E}">
        <p14:creationId xmlns:p14="http://schemas.microsoft.com/office/powerpoint/2010/main" val="24233770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952500" y="457200"/>
            <a:ext cx="7239000" cy="290336"/>
          </a:xfrm>
        </p:spPr>
        <p:txBody>
          <a:bodyPr/>
          <a:lstStyle/>
          <a:p>
            <a:r>
              <a:rPr lang="en-US" altLang="en-US" dirty="0" smtClean="0">
                <a:ea typeface="ＭＳ Ｐゴシック" panose="020B0600070205080204" pitchFamily="34" charset="-128"/>
              </a:rPr>
              <a:t>Parameter Passing</a:t>
            </a:r>
          </a:p>
        </p:txBody>
      </p:sp>
      <p:sp>
        <p:nvSpPr>
          <p:cNvPr id="3" name="Content Placeholder 2"/>
          <p:cNvSpPr>
            <a:spLocks noGrp="1"/>
          </p:cNvSpPr>
          <p:nvPr>
            <p:ph idx="1"/>
          </p:nvPr>
        </p:nvSpPr>
        <p:spPr>
          <a:xfrm>
            <a:off x="457200" y="1600200"/>
            <a:ext cx="8229600" cy="4144963"/>
          </a:xfrm>
        </p:spPr>
        <p:txBody>
          <a:bodyPr/>
          <a:lstStyle/>
          <a:p>
            <a:pPr algn="just">
              <a:defRPr/>
            </a:pPr>
            <a:r>
              <a:rPr lang="en-US" sz="2400" dirty="0"/>
              <a:t>If a global variable is not used in a program, the variable needs to be declared as a </a:t>
            </a:r>
            <a:r>
              <a:rPr lang="en-US" sz="2400" dirty="0" smtClean="0"/>
              <a:t>local variable.</a:t>
            </a:r>
          </a:p>
          <a:p>
            <a:pPr algn="just">
              <a:defRPr/>
            </a:pPr>
            <a:r>
              <a:rPr lang="en-US" sz="2400" dirty="0"/>
              <a:t>P</a:t>
            </a:r>
            <a:r>
              <a:rPr lang="en-US" sz="2400" dirty="0" smtClean="0"/>
              <a:t>arameter </a:t>
            </a:r>
            <a:r>
              <a:rPr lang="en-US" sz="2400" dirty="0"/>
              <a:t>passing must be done to pass the variables to the function.</a:t>
            </a:r>
          </a:p>
          <a:p>
            <a:pPr algn="just">
              <a:defRPr/>
            </a:pPr>
            <a:r>
              <a:rPr lang="en-US" sz="2400" dirty="0"/>
              <a:t>In parameter passing, the parameter data type needs to be written in the </a:t>
            </a:r>
            <a:r>
              <a:rPr lang="en-US" sz="2400" dirty="0" smtClean="0"/>
              <a:t>parameter list </a:t>
            </a:r>
            <a:r>
              <a:rPr lang="en-US" sz="2400" dirty="0"/>
              <a:t>in the function declaration/prototype and it needs to be declared in the </a:t>
            </a:r>
            <a:r>
              <a:rPr lang="en-US" sz="2400" dirty="0" smtClean="0"/>
              <a:t>function definition.</a:t>
            </a:r>
          </a:p>
          <a:p>
            <a:pPr algn="just">
              <a:defRPr/>
            </a:pPr>
            <a:r>
              <a:rPr lang="en-US" sz="2400" dirty="0"/>
              <a:t>However, in the function call, the parameter which passed the parameter to the function definition must only pass the value or identifier name.</a:t>
            </a:r>
          </a:p>
          <a:p>
            <a:pPr marL="0" indent="0" algn="just">
              <a:buFont typeface="Wingdings" panose="05000000000000000000" pitchFamily="2" charset="2"/>
              <a:buNone/>
              <a:defRPr/>
            </a:pPr>
            <a:r>
              <a:rPr lang="en-US" sz="2400" dirty="0" smtClean="0"/>
              <a:t> </a:t>
            </a:r>
          </a:p>
        </p:txBody>
      </p:sp>
    </p:spTree>
    <p:extLst>
      <p:ext uri="{BB962C8B-B14F-4D97-AF65-F5344CB8AC3E}">
        <p14:creationId xmlns:p14="http://schemas.microsoft.com/office/powerpoint/2010/main" val="32553274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144963"/>
          </a:xfrm>
        </p:spPr>
        <p:txBody>
          <a:bodyPr/>
          <a:lstStyle/>
          <a:p>
            <a:pPr algn="just">
              <a:defRPr/>
            </a:pPr>
            <a:r>
              <a:rPr lang="en-US" sz="2400" dirty="0" smtClean="0"/>
              <a:t>Three</a:t>
            </a:r>
            <a:r>
              <a:rPr lang="en-US" sz="2400" dirty="0"/>
              <a:t> </a:t>
            </a:r>
            <a:r>
              <a:rPr lang="en-US" sz="2400" dirty="0" smtClean="0"/>
              <a:t>important </a:t>
            </a:r>
            <a:r>
              <a:rPr lang="en-US" sz="2400" dirty="0"/>
              <a:t>things about </a:t>
            </a:r>
            <a:r>
              <a:rPr lang="en-US" sz="2400" dirty="0" smtClean="0"/>
              <a:t>parameters: </a:t>
            </a:r>
            <a:endParaRPr lang="en-US" sz="2400" dirty="0"/>
          </a:p>
          <a:p>
            <a:pPr marL="457200" indent="-457200" algn="just">
              <a:buFont typeface="+mj-lt"/>
              <a:buAutoNum type="arabicPeriod"/>
              <a:defRPr/>
            </a:pPr>
            <a:r>
              <a:rPr lang="en-US" sz="2400" dirty="0" smtClean="0"/>
              <a:t>The </a:t>
            </a:r>
            <a:r>
              <a:rPr lang="en-US" sz="2400" dirty="0"/>
              <a:t>number of actual parameters </a:t>
            </a:r>
            <a:r>
              <a:rPr lang="en-US" sz="2400" dirty="0" smtClean="0"/>
              <a:t>and formal parameters </a:t>
            </a:r>
            <a:r>
              <a:rPr lang="en-US" sz="2400" dirty="0"/>
              <a:t>must both be the </a:t>
            </a:r>
            <a:r>
              <a:rPr lang="en-US" sz="2400" dirty="0" smtClean="0"/>
              <a:t>same in the function call </a:t>
            </a:r>
            <a:r>
              <a:rPr lang="en-US" sz="2400" dirty="0"/>
              <a:t>and function </a:t>
            </a:r>
            <a:r>
              <a:rPr lang="en-US" sz="2400" dirty="0" smtClean="0"/>
              <a:t>definition.</a:t>
            </a:r>
          </a:p>
          <a:p>
            <a:pPr marL="457200" indent="-457200" algn="just">
              <a:buFont typeface="+mj-lt"/>
              <a:buAutoNum type="arabicPeriod"/>
              <a:defRPr/>
            </a:pPr>
            <a:r>
              <a:rPr lang="en-US" sz="2400" dirty="0" smtClean="0"/>
              <a:t>The </a:t>
            </a:r>
            <a:r>
              <a:rPr lang="en-US" sz="2400" dirty="0"/>
              <a:t>relationship between the </a:t>
            </a:r>
            <a:r>
              <a:rPr lang="en-US" sz="2400" dirty="0" smtClean="0"/>
              <a:t>actual parameter and formal </a:t>
            </a:r>
            <a:r>
              <a:rPr lang="en-US" sz="2400" dirty="0"/>
              <a:t>parameter is </a:t>
            </a:r>
            <a:r>
              <a:rPr lang="en-US" sz="2400" dirty="0" smtClean="0"/>
              <a:t>one-to-one. First</a:t>
            </a:r>
            <a:r>
              <a:rPr lang="en-US" sz="2400" dirty="0"/>
              <a:t>, the actual </a:t>
            </a:r>
            <a:r>
              <a:rPr lang="en-US" sz="2400" dirty="0" smtClean="0"/>
              <a:t>parameter must </a:t>
            </a:r>
            <a:r>
              <a:rPr lang="en-US" sz="2400" dirty="0"/>
              <a:t>be the same </a:t>
            </a:r>
            <a:r>
              <a:rPr lang="en-US" sz="2400" dirty="0" smtClean="0"/>
              <a:t>with the </a:t>
            </a:r>
            <a:r>
              <a:rPr lang="en-US" sz="2400" dirty="0"/>
              <a:t>first formal </a:t>
            </a:r>
            <a:r>
              <a:rPr lang="en-US" sz="2400" dirty="0" smtClean="0"/>
              <a:t>parameter.</a:t>
            </a:r>
          </a:p>
          <a:p>
            <a:pPr marL="457200" indent="-457200" algn="just">
              <a:buFont typeface="+mj-lt"/>
              <a:buAutoNum type="arabicPeriod"/>
              <a:defRPr/>
            </a:pPr>
            <a:r>
              <a:rPr lang="en-US" sz="2400" dirty="0" smtClean="0"/>
              <a:t>The </a:t>
            </a:r>
            <a:r>
              <a:rPr lang="en-US" sz="2400" dirty="0"/>
              <a:t>data type for every actual parameter </a:t>
            </a:r>
            <a:r>
              <a:rPr lang="en-US" sz="2400" dirty="0" smtClean="0"/>
              <a:t>must the </a:t>
            </a:r>
            <a:r>
              <a:rPr lang="en-US" sz="2400" dirty="0"/>
              <a:t>same as the formal </a:t>
            </a:r>
            <a:r>
              <a:rPr lang="en-US" sz="2400" dirty="0" smtClean="0"/>
              <a:t>parameter or </a:t>
            </a:r>
            <a:r>
              <a:rPr lang="en-US" sz="2400" dirty="0"/>
              <a:t>type that </a:t>
            </a:r>
            <a:r>
              <a:rPr lang="en-US" sz="2400" dirty="0" smtClean="0"/>
              <a:t>can be </a:t>
            </a:r>
            <a:r>
              <a:rPr lang="en-US" sz="2400" dirty="0"/>
              <a:t>changed by the compiler</a:t>
            </a:r>
            <a:r>
              <a:rPr lang="en-US" sz="2400" dirty="0" smtClean="0"/>
              <a:t>.</a:t>
            </a:r>
            <a:endParaRPr lang="en-US" sz="2400" dirty="0"/>
          </a:p>
        </p:txBody>
      </p:sp>
      <p:sp>
        <p:nvSpPr>
          <p:cNvPr id="28675" name="Title 1"/>
          <p:cNvSpPr>
            <a:spLocks noGrp="1"/>
          </p:cNvSpPr>
          <p:nvPr>
            <p:ph type="title"/>
          </p:nvPr>
        </p:nvSpPr>
        <p:spPr>
          <a:xfrm>
            <a:off x="952500" y="457200"/>
            <a:ext cx="7239000" cy="290336"/>
          </a:xfrm>
        </p:spPr>
        <p:txBody>
          <a:bodyPr/>
          <a:lstStyle/>
          <a:p>
            <a:r>
              <a:rPr lang="en-US" altLang="en-US" dirty="0" smtClean="0">
                <a:ea typeface="ＭＳ Ｐゴシック" panose="020B0600070205080204" pitchFamily="34" charset="-128"/>
              </a:rPr>
              <a:t>Parameter Passing (cont.)</a:t>
            </a:r>
          </a:p>
        </p:txBody>
      </p:sp>
    </p:spTree>
    <p:extLst>
      <p:ext uri="{BB962C8B-B14F-4D97-AF65-F5344CB8AC3E}">
        <p14:creationId xmlns:p14="http://schemas.microsoft.com/office/powerpoint/2010/main" val="3229641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4"/>
          <p:cNvGrpSpPr>
            <a:grpSpLocks/>
          </p:cNvGrpSpPr>
          <p:nvPr/>
        </p:nvGrpSpPr>
        <p:grpSpPr bwMode="auto">
          <a:xfrm>
            <a:off x="2057400" y="1447800"/>
            <a:ext cx="5329238" cy="4610100"/>
            <a:chOff x="2057400" y="1447800"/>
            <a:chExt cx="5328994" cy="4610872"/>
          </a:xfrm>
        </p:grpSpPr>
        <p:pic>
          <p:nvPicPr>
            <p:cNvPr id="29700" name="Picture 2"/>
            <p:cNvPicPr>
              <a:picLocks noChangeAspect="1" noChangeArrowheads="1"/>
            </p:cNvPicPr>
            <p:nvPr/>
          </p:nvPicPr>
          <p:blipFill>
            <a:blip r:embed="rId2">
              <a:extLst>
                <a:ext uri="{28A0092B-C50C-407E-A947-70E740481C1C}">
                  <a14:useLocalDpi xmlns:a14="http://schemas.microsoft.com/office/drawing/2010/main" val="0"/>
                </a:ext>
              </a:extLst>
            </a:blip>
            <a:srcRect l="35023" t="21687" r="23222" b="35201"/>
            <a:stretch>
              <a:fillRect/>
            </a:stretch>
          </p:blipFill>
          <p:spPr bwMode="auto">
            <a:xfrm>
              <a:off x="2057400" y="1447800"/>
              <a:ext cx="5328994" cy="3438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3"/>
            <p:cNvPicPr>
              <a:picLocks noChangeAspect="1" noChangeArrowheads="1"/>
            </p:cNvPicPr>
            <p:nvPr/>
          </p:nvPicPr>
          <p:blipFill>
            <a:blip r:embed="rId3">
              <a:extLst>
                <a:ext uri="{28A0092B-C50C-407E-A947-70E740481C1C}">
                  <a14:useLocalDpi xmlns:a14="http://schemas.microsoft.com/office/drawing/2010/main" val="0"/>
                </a:ext>
              </a:extLst>
            </a:blip>
            <a:srcRect l="25645" t="31297" r="34132" b="51187"/>
            <a:stretch>
              <a:fillRect/>
            </a:stretch>
          </p:blipFill>
          <p:spPr bwMode="auto">
            <a:xfrm>
              <a:off x="2133600" y="4886326"/>
              <a:ext cx="5105400" cy="11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699" name="Title 1"/>
          <p:cNvSpPr>
            <a:spLocks noGrp="1"/>
          </p:cNvSpPr>
          <p:nvPr>
            <p:ph type="title"/>
          </p:nvPr>
        </p:nvSpPr>
        <p:spPr>
          <a:xfrm>
            <a:off x="914400" y="457200"/>
            <a:ext cx="7239000" cy="290336"/>
          </a:xfrm>
        </p:spPr>
        <p:txBody>
          <a:bodyPr/>
          <a:lstStyle/>
          <a:p>
            <a:r>
              <a:rPr lang="en-US" altLang="en-US" dirty="0" smtClean="0">
                <a:ea typeface="ＭＳ Ｐゴシック" panose="020B0600070205080204" pitchFamily="34" charset="-128"/>
              </a:rPr>
              <a:t>Parameter Passing (cont.)</a:t>
            </a:r>
          </a:p>
        </p:txBody>
      </p:sp>
    </p:spTree>
    <p:extLst>
      <p:ext uri="{BB962C8B-B14F-4D97-AF65-F5344CB8AC3E}">
        <p14:creationId xmlns:p14="http://schemas.microsoft.com/office/powerpoint/2010/main" val="28729772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l="35451" t="23650" r="42700" b="58356"/>
          <a:stretch>
            <a:fillRect/>
          </a:stretch>
        </p:blipFill>
        <p:spPr bwMode="auto">
          <a:xfrm>
            <a:off x="685800" y="1524000"/>
            <a:ext cx="32194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l="26050" t="19231" r="34209" b="28571"/>
          <a:stretch>
            <a:fillRect/>
          </a:stretch>
        </p:blipFill>
        <p:spPr bwMode="auto">
          <a:xfrm>
            <a:off x="533400" y="3048000"/>
            <a:ext cx="40386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p:cNvPicPr>
            <a:picLocks noChangeAspect="1" noChangeArrowheads="1"/>
          </p:cNvPicPr>
          <p:nvPr/>
        </p:nvPicPr>
        <p:blipFill>
          <a:blip r:embed="rId4">
            <a:extLst>
              <a:ext uri="{28A0092B-C50C-407E-A947-70E740481C1C}">
                <a14:useLocalDpi xmlns:a14="http://schemas.microsoft.com/office/drawing/2010/main" val="0"/>
              </a:ext>
            </a:extLst>
          </a:blip>
          <a:srcRect l="35252" t="23077" r="23618" b="16809"/>
          <a:stretch>
            <a:fillRect/>
          </a:stretch>
        </p:blipFill>
        <p:spPr bwMode="auto">
          <a:xfrm>
            <a:off x="4543425" y="1676400"/>
            <a:ext cx="4421188"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itle 1"/>
          <p:cNvSpPr>
            <a:spLocks noGrp="1"/>
          </p:cNvSpPr>
          <p:nvPr>
            <p:ph type="title"/>
          </p:nvPr>
        </p:nvSpPr>
        <p:spPr>
          <a:xfrm>
            <a:off x="923925" y="341010"/>
            <a:ext cx="7239000" cy="290336"/>
          </a:xfrm>
        </p:spPr>
        <p:txBody>
          <a:bodyPr/>
          <a:lstStyle/>
          <a:p>
            <a:r>
              <a:rPr lang="en-US" altLang="en-US" dirty="0" smtClean="0">
                <a:ea typeface="ＭＳ Ｐゴシック" panose="020B0600070205080204" pitchFamily="34" charset="-128"/>
              </a:rPr>
              <a:t>Parameter Passing (cont.)</a:t>
            </a:r>
          </a:p>
        </p:txBody>
      </p:sp>
    </p:spTree>
    <p:extLst>
      <p:ext uri="{BB962C8B-B14F-4D97-AF65-F5344CB8AC3E}">
        <p14:creationId xmlns:p14="http://schemas.microsoft.com/office/powerpoint/2010/main" val="11543792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MY" altLang="en-US" smtClean="0">
                <a:ea typeface="ＭＳ Ｐゴシック" panose="020B0600070205080204" pitchFamily="34" charset="-128"/>
              </a:rPr>
              <a:t>Comparing: Value vs. Reference</a:t>
            </a:r>
          </a:p>
        </p:txBody>
      </p:sp>
      <p:sp>
        <p:nvSpPr>
          <p:cNvPr id="31747" name="Content Placeholder 2"/>
          <p:cNvSpPr>
            <a:spLocks noGrp="1"/>
          </p:cNvSpPr>
          <p:nvPr>
            <p:ph idx="1"/>
          </p:nvPr>
        </p:nvSpPr>
        <p:spPr/>
        <p:txBody>
          <a:bodyPr/>
          <a:lstStyle/>
          <a:p>
            <a:r>
              <a:rPr lang="en-US" altLang="en-US" sz="1800" b="1" smtClean="0">
                <a:ea typeface="ＭＳ Ｐゴシック" panose="020B0600070205080204" pitchFamily="34" charset="-128"/>
              </a:rPr>
              <a:t>Pass By Value</a:t>
            </a:r>
            <a:endParaRPr lang="en-US" altLang="en-US" sz="1800" smtClean="0">
              <a:ea typeface="ＭＳ Ｐゴシック" panose="020B0600070205080204" pitchFamily="34" charset="-128"/>
            </a:endParaRPr>
          </a:p>
          <a:p>
            <a:pPr lvl="1"/>
            <a:r>
              <a:rPr lang="en-US" altLang="en-US" sz="1800" smtClean="0">
                <a:ea typeface="ＭＳ Ｐゴシック" panose="020B0600070205080204" pitchFamily="34" charset="-128"/>
              </a:rPr>
              <a:t>The local parameters are copies of the original arguments passed in</a:t>
            </a:r>
          </a:p>
          <a:p>
            <a:pPr lvl="1"/>
            <a:r>
              <a:rPr lang="en-US" altLang="en-US" sz="1800" smtClean="0">
                <a:ea typeface="ＭＳ Ｐゴシック" panose="020B0600070205080204" pitchFamily="34" charset="-128"/>
              </a:rPr>
              <a:t>Changes made in the function to these variables do not affect originals</a:t>
            </a:r>
          </a:p>
          <a:p>
            <a:r>
              <a:rPr lang="en-US" altLang="en-US" sz="1800" b="1" smtClean="0">
                <a:ea typeface="ＭＳ Ｐゴシック" panose="020B0600070205080204" pitchFamily="34" charset="-128"/>
              </a:rPr>
              <a:t>Pass By Reference</a:t>
            </a:r>
            <a:endParaRPr lang="en-US" altLang="en-US" sz="1800" smtClean="0">
              <a:ea typeface="ＭＳ Ｐゴシック" panose="020B0600070205080204" pitchFamily="34" charset="-128"/>
            </a:endParaRPr>
          </a:p>
          <a:p>
            <a:pPr lvl="1"/>
            <a:r>
              <a:rPr lang="en-US" altLang="en-US" sz="1800" smtClean="0">
                <a:ea typeface="ＭＳ Ｐゴシック" panose="020B0600070205080204" pitchFamily="34" charset="-128"/>
              </a:rPr>
              <a:t>The local parameters are references to the storage locations of the original arguments passed in.</a:t>
            </a:r>
          </a:p>
          <a:p>
            <a:pPr lvl="1"/>
            <a:r>
              <a:rPr lang="en-US" altLang="en-US" sz="1800" smtClean="0">
                <a:ea typeface="ＭＳ Ｐゴシック" panose="020B0600070205080204" pitchFamily="34" charset="-128"/>
              </a:rPr>
              <a:t>Changes to these variables in the function </a:t>
            </a:r>
            <a:r>
              <a:rPr lang="en-US" altLang="en-US" sz="1800" b="1" smtClean="0">
                <a:ea typeface="ＭＳ Ｐゴシック" panose="020B0600070205080204" pitchFamily="34" charset="-128"/>
              </a:rPr>
              <a:t>will</a:t>
            </a:r>
            <a:r>
              <a:rPr lang="en-US" altLang="en-US" sz="1800" smtClean="0">
                <a:ea typeface="ＭＳ Ｐゴシック" panose="020B0600070205080204" pitchFamily="34" charset="-128"/>
              </a:rPr>
              <a:t> affect the originals</a:t>
            </a:r>
          </a:p>
          <a:p>
            <a:pPr lvl="1"/>
            <a:r>
              <a:rPr lang="en-US" altLang="en-US" sz="1800" smtClean="0">
                <a:ea typeface="ＭＳ Ｐゴシック" panose="020B0600070205080204" pitchFamily="34" charset="-128"/>
              </a:rPr>
              <a:t>No copy is made, so overhead of copying (time, storage) is saved</a:t>
            </a:r>
          </a:p>
        </p:txBody>
      </p:sp>
    </p:spTree>
    <p:extLst>
      <p:ext uri="{BB962C8B-B14F-4D97-AF65-F5344CB8AC3E}">
        <p14:creationId xmlns:p14="http://schemas.microsoft.com/office/powerpoint/2010/main" val="37649917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1"/>
          <p:cNvGrpSpPr>
            <a:grpSpLocks/>
          </p:cNvGrpSpPr>
          <p:nvPr/>
        </p:nvGrpSpPr>
        <p:grpSpPr bwMode="auto">
          <a:xfrm>
            <a:off x="762000" y="1828800"/>
            <a:ext cx="7448550" cy="3981450"/>
            <a:chOff x="762000" y="1828800"/>
            <a:chExt cx="7448550" cy="3981664"/>
          </a:xfrm>
        </p:grpSpPr>
        <p:pic>
          <p:nvPicPr>
            <p:cNvPr id="32772" name="Picture 2"/>
            <p:cNvPicPr>
              <a:picLocks noChangeAspect="1" noChangeArrowheads="1"/>
            </p:cNvPicPr>
            <p:nvPr/>
          </p:nvPicPr>
          <p:blipFill>
            <a:blip r:embed="rId2">
              <a:extLst>
                <a:ext uri="{28A0092B-C50C-407E-A947-70E740481C1C}">
                  <a14:useLocalDpi xmlns:a14="http://schemas.microsoft.com/office/drawing/2010/main" val="0"/>
                </a:ext>
              </a:extLst>
            </a:blip>
            <a:srcRect l="26012" t="12860" r="34123" b="45677"/>
            <a:stretch>
              <a:fillRect/>
            </a:stretch>
          </p:blipFill>
          <p:spPr bwMode="auto">
            <a:xfrm>
              <a:off x="762000" y="1828800"/>
              <a:ext cx="5334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2"/>
            <p:cNvPicPr>
              <a:picLocks noChangeAspect="1" noChangeArrowheads="1"/>
            </p:cNvPicPr>
            <p:nvPr/>
          </p:nvPicPr>
          <p:blipFill>
            <a:blip r:embed="rId2">
              <a:extLst>
                <a:ext uri="{28A0092B-C50C-407E-A947-70E740481C1C}">
                  <a14:useLocalDpi xmlns:a14="http://schemas.microsoft.com/office/drawing/2010/main" val="0"/>
                </a:ext>
              </a:extLst>
            </a:blip>
            <a:srcRect l="27536" t="54128" r="43462" b="11584"/>
            <a:stretch>
              <a:fillRect/>
            </a:stretch>
          </p:blipFill>
          <p:spPr bwMode="auto">
            <a:xfrm>
              <a:off x="3657600" y="2819400"/>
              <a:ext cx="4552950" cy="299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71" name="Title 1"/>
          <p:cNvSpPr>
            <a:spLocks noGrp="1"/>
          </p:cNvSpPr>
          <p:nvPr>
            <p:ph type="title"/>
          </p:nvPr>
        </p:nvSpPr>
        <p:spPr>
          <a:xfrm>
            <a:off x="971550" y="381000"/>
            <a:ext cx="7239000" cy="290336"/>
          </a:xfrm>
        </p:spPr>
        <p:txBody>
          <a:bodyPr/>
          <a:lstStyle/>
          <a:p>
            <a:r>
              <a:rPr lang="en-US" altLang="en-US" dirty="0" smtClean="0">
                <a:ea typeface="ＭＳ Ｐゴシック" panose="020B0600070205080204" pitchFamily="34" charset="-128"/>
              </a:rPr>
              <a:t>Parameter Passing (cont.)</a:t>
            </a:r>
          </a:p>
        </p:txBody>
      </p:sp>
    </p:spTree>
    <p:extLst>
      <p:ext uri="{BB962C8B-B14F-4D97-AF65-F5344CB8AC3E}">
        <p14:creationId xmlns:p14="http://schemas.microsoft.com/office/powerpoint/2010/main" val="6835814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1"/>
          <p:cNvGrpSpPr>
            <a:grpSpLocks/>
          </p:cNvGrpSpPr>
          <p:nvPr/>
        </p:nvGrpSpPr>
        <p:grpSpPr bwMode="auto">
          <a:xfrm>
            <a:off x="1219200" y="1600200"/>
            <a:ext cx="7315200" cy="4419600"/>
            <a:chOff x="1219199" y="1600200"/>
            <a:chExt cx="7315201" cy="4419600"/>
          </a:xfrm>
        </p:grpSpPr>
        <p:pic>
          <p:nvPicPr>
            <p:cNvPr id="33796" name="Picture 2"/>
            <p:cNvPicPr>
              <a:picLocks noChangeAspect="1" noChangeArrowheads="1"/>
            </p:cNvPicPr>
            <p:nvPr/>
          </p:nvPicPr>
          <p:blipFill>
            <a:blip r:embed="rId3">
              <a:extLst>
                <a:ext uri="{28A0092B-C50C-407E-A947-70E740481C1C}">
                  <a14:useLocalDpi xmlns:a14="http://schemas.microsoft.com/office/drawing/2010/main" val="0"/>
                </a:ext>
              </a:extLst>
            </a:blip>
            <a:srcRect l="26642" t="15633" r="43941" b="68887"/>
            <a:stretch>
              <a:fillRect/>
            </a:stretch>
          </p:blipFill>
          <p:spPr bwMode="auto">
            <a:xfrm>
              <a:off x="1219199" y="1600200"/>
              <a:ext cx="3962401"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3"/>
            <p:cNvPicPr>
              <a:picLocks noChangeAspect="1" noChangeArrowheads="1"/>
            </p:cNvPicPr>
            <p:nvPr/>
          </p:nvPicPr>
          <p:blipFill>
            <a:blip r:embed="rId4">
              <a:extLst>
                <a:ext uri="{28A0092B-C50C-407E-A947-70E740481C1C}">
                  <a14:useLocalDpi xmlns:a14="http://schemas.microsoft.com/office/drawing/2010/main" val="0"/>
                </a:ext>
              </a:extLst>
            </a:blip>
            <a:srcRect l="36592" t="23203" r="27367" b="20026"/>
            <a:stretch>
              <a:fillRect/>
            </a:stretch>
          </p:blipFill>
          <p:spPr bwMode="auto">
            <a:xfrm>
              <a:off x="3657600" y="1600200"/>
              <a:ext cx="4876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795" name="Title 1"/>
          <p:cNvSpPr>
            <a:spLocks noGrp="1"/>
          </p:cNvSpPr>
          <p:nvPr>
            <p:ph type="title"/>
          </p:nvPr>
        </p:nvSpPr>
        <p:spPr>
          <a:xfrm>
            <a:off x="914400" y="381000"/>
            <a:ext cx="7239000" cy="290336"/>
          </a:xfrm>
        </p:spPr>
        <p:txBody>
          <a:bodyPr/>
          <a:lstStyle/>
          <a:p>
            <a:r>
              <a:rPr lang="en-US" altLang="en-US" dirty="0" smtClean="0">
                <a:ea typeface="ＭＳ Ｐゴシック" panose="020B0600070205080204" pitchFamily="34" charset="-128"/>
              </a:rPr>
              <a:t>Parameter Passing (cont.)</a:t>
            </a:r>
          </a:p>
        </p:txBody>
      </p:sp>
    </p:spTree>
    <p:extLst>
      <p:ext uri="{BB962C8B-B14F-4D97-AF65-F5344CB8AC3E}">
        <p14:creationId xmlns:p14="http://schemas.microsoft.com/office/powerpoint/2010/main" val="38257823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MY" altLang="en-US" smtClean="0">
                <a:ea typeface="ＭＳ Ｐゴシック" panose="020B0600070205080204" pitchFamily="34" charset="-128"/>
              </a:rPr>
              <a:t>Exercise 1</a:t>
            </a:r>
          </a:p>
        </p:txBody>
      </p:sp>
      <p:sp>
        <p:nvSpPr>
          <p:cNvPr id="35843" name="Content Placeholder 2"/>
          <p:cNvSpPr>
            <a:spLocks noGrp="1"/>
          </p:cNvSpPr>
          <p:nvPr>
            <p:ph idx="1"/>
          </p:nvPr>
        </p:nvSpPr>
        <p:spPr/>
        <p:txBody>
          <a:bodyPr/>
          <a:lstStyle/>
          <a:p>
            <a:pPr marL="0" indent="0">
              <a:buFont typeface="Wingdings" panose="05000000000000000000" pitchFamily="2" charset="2"/>
              <a:buNone/>
            </a:pPr>
            <a:r>
              <a:rPr lang="en-MY" altLang="en-US" smtClean="0">
                <a:ea typeface="ＭＳ Ｐゴシック" panose="020B0600070205080204" pitchFamily="34" charset="-128"/>
              </a:rPr>
              <a:t>Prompt user to enter the working hours and rate per hour. Function calSalary () will accept the working hours and rate per hours. Then, the system will calculate and return the salary to the main function while the main function will display the salary.</a:t>
            </a:r>
          </a:p>
          <a:p>
            <a:pPr marL="0" indent="0">
              <a:buFont typeface="Wingdings" panose="05000000000000000000" pitchFamily="2" charset="2"/>
              <a:buNone/>
            </a:pPr>
            <a:endParaRPr lang="en-MY" altLang="en-US" smtClean="0">
              <a:ea typeface="ＭＳ Ｐゴシック" panose="020B0600070205080204" pitchFamily="34" charset="-128"/>
            </a:endParaRPr>
          </a:p>
        </p:txBody>
      </p:sp>
    </p:spTree>
    <p:extLst>
      <p:ext uri="{BB962C8B-B14F-4D97-AF65-F5344CB8AC3E}">
        <p14:creationId xmlns:p14="http://schemas.microsoft.com/office/powerpoint/2010/main" val="20144758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MY" altLang="en-US" smtClean="0">
                <a:ea typeface="ＭＳ Ｐゴシック" panose="020B0600070205080204" pitchFamily="34" charset="-128"/>
              </a:rPr>
              <a:t>Exercise 2</a:t>
            </a:r>
          </a:p>
        </p:txBody>
      </p:sp>
      <p:sp>
        <p:nvSpPr>
          <p:cNvPr id="36867" name="Content Placeholder 2"/>
          <p:cNvSpPr>
            <a:spLocks noGrp="1"/>
          </p:cNvSpPr>
          <p:nvPr>
            <p:ph idx="1"/>
          </p:nvPr>
        </p:nvSpPr>
        <p:spPr/>
        <p:txBody>
          <a:bodyPr/>
          <a:lstStyle/>
          <a:p>
            <a:pPr marL="0" indent="0">
              <a:buFont typeface="Wingdings" panose="05000000000000000000" pitchFamily="2" charset="2"/>
              <a:buNone/>
            </a:pPr>
            <a:r>
              <a:rPr lang="en-MY" altLang="en-US" smtClean="0">
                <a:ea typeface="ＭＳ Ｐゴシック" panose="020B0600070205080204" pitchFamily="34" charset="-128"/>
              </a:rPr>
              <a:t>Write a program to calculate the total price of an item by asking the user to input the price and quantity of the item. Set the prototype declaration as cal_price()</a:t>
            </a:r>
          </a:p>
        </p:txBody>
      </p:sp>
    </p:spTree>
    <p:extLst>
      <p:ext uri="{BB962C8B-B14F-4D97-AF65-F5344CB8AC3E}">
        <p14:creationId xmlns:p14="http://schemas.microsoft.com/office/powerpoint/2010/main" val="16276057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MY" altLang="en-US" smtClean="0">
                <a:ea typeface="ＭＳ Ｐゴシック" panose="020B0600070205080204" pitchFamily="34" charset="-128"/>
              </a:rPr>
              <a:t>Exercise 3</a:t>
            </a:r>
          </a:p>
        </p:txBody>
      </p:sp>
      <p:graphicFrame>
        <p:nvGraphicFramePr>
          <p:cNvPr id="6" name="Table 5"/>
          <p:cNvGraphicFramePr>
            <a:graphicFrameLocks noGrp="1"/>
          </p:cNvGraphicFramePr>
          <p:nvPr/>
        </p:nvGraphicFramePr>
        <p:xfrm>
          <a:off x="1219200" y="5426075"/>
          <a:ext cx="5480050" cy="822960"/>
        </p:xfrm>
        <a:graphic>
          <a:graphicData uri="http://schemas.openxmlformats.org/drawingml/2006/table">
            <a:tbl>
              <a:tblPr firstRow="1" firstCol="1" bandRow="1">
                <a:tableStyleId>{5C22544A-7EE6-4342-B048-85BDC9FD1C3A}</a:tableStyleId>
              </a:tblPr>
              <a:tblGrid>
                <a:gridCol w="1826260">
                  <a:extLst>
                    <a:ext uri="{9D8B030D-6E8A-4147-A177-3AD203B41FA5}">
                      <a16:colId xmlns:a16="http://schemas.microsoft.com/office/drawing/2014/main" val="568887444"/>
                    </a:ext>
                  </a:extLst>
                </a:gridCol>
                <a:gridCol w="1826895">
                  <a:extLst>
                    <a:ext uri="{9D8B030D-6E8A-4147-A177-3AD203B41FA5}">
                      <a16:colId xmlns:a16="http://schemas.microsoft.com/office/drawing/2014/main" val="2156069883"/>
                    </a:ext>
                  </a:extLst>
                </a:gridCol>
                <a:gridCol w="1826895">
                  <a:extLst>
                    <a:ext uri="{9D8B030D-6E8A-4147-A177-3AD203B41FA5}">
                      <a16:colId xmlns:a16="http://schemas.microsoft.com/office/drawing/2014/main" val="541101602"/>
                    </a:ext>
                  </a:extLst>
                </a:gridCol>
              </a:tblGrid>
              <a:tr h="274108">
                <a:tc>
                  <a:txBody>
                    <a:bodyPr/>
                    <a:lstStyle/>
                    <a:p>
                      <a:pPr>
                        <a:lnSpc>
                          <a:spcPct val="150000"/>
                        </a:lnSpc>
                        <a:spcAft>
                          <a:spcPts val="0"/>
                        </a:spcAft>
                      </a:pPr>
                      <a:r>
                        <a:rPr lang="en-US" sz="1200">
                          <a:solidFill>
                            <a:schemeClr val="tx1"/>
                          </a:solidFill>
                          <a:effectLst/>
                        </a:rPr>
                        <a:t>Category</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a:solidFill>
                            <a:schemeClr val="tx1"/>
                          </a:solidFill>
                          <a:effectLst/>
                        </a:rPr>
                        <a:t>Normal Price (RM)</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a:solidFill>
                            <a:schemeClr val="tx1"/>
                          </a:solidFill>
                          <a:effectLst/>
                        </a:rPr>
                        <a:t>Discount</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777416218"/>
                  </a:ext>
                </a:extLst>
              </a:tr>
              <a:tr h="274108">
                <a:tc>
                  <a:txBody>
                    <a:bodyPr/>
                    <a:lstStyle/>
                    <a:p>
                      <a:pPr>
                        <a:lnSpc>
                          <a:spcPct val="150000"/>
                        </a:lnSpc>
                        <a:spcAft>
                          <a:spcPts val="0"/>
                        </a:spcAft>
                      </a:pPr>
                      <a:r>
                        <a:rPr lang="en-US" sz="1200">
                          <a:solidFill>
                            <a:schemeClr val="tx1"/>
                          </a:solidFill>
                          <a:effectLst/>
                        </a:rPr>
                        <a:t>Children (C)</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a:solidFill>
                            <a:schemeClr val="tx1"/>
                          </a:solidFill>
                          <a:effectLst/>
                        </a:rPr>
                        <a:t>45.00</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a:solidFill>
                            <a:schemeClr val="tx1"/>
                          </a:solidFill>
                          <a:effectLst/>
                        </a:rPr>
                        <a:t>20%</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570177032"/>
                  </a:ext>
                </a:extLst>
              </a:tr>
              <a:tr h="274108">
                <a:tc>
                  <a:txBody>
                    <a:bodyPr/>
                    <a:lstStyle/>
                    <a:p>
                      <a:pPr>
                        <a:lnSpc>
                          <a:spcPct val="150000"/>
                        </a:lnSpc>
                        <a:spcAft>
                          <a:spcPts val="0"/>
                        </a:spcAft>
                      </a:pPr>
                      <a:r>
                        <a:rPr lang="en-US" sz="1200">
                          <a:solidFill>
                            <a:schemeClr val="tx1"/>
                          </a:solidFill>
                          <a:effectLst/>
                        </a:rPr>
                        <a:t>Adult (A)</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a:solidFill>
                            <a:schemeClr val="tx1"/>
                          </a:solidFill>
                          <a:effectLst/>
                        </a:rPr>
                        <a:t>5.00</a:t>
                      </a:r>
                      <a:endParaRPr lang="en-MY" sz="1200">
                        <a:solidFill>
                          <a:schemeClr val="tx1"/>
                        </a:solidFill>
                        <a:effectLst/>
                        <a:latin typeface="Times New Roman" panose="02020603050405020304" pitchFamily="18" charset="0"/>
                        <a:ea typeface="SimSun" panose="02010600030101010101" pitchFamily="2" charset="-122"/>
                      </a:endParaRPr>
                    </a:p>
                  </a:txBody>
                  <a:tcPr marL="68580" marR="68580" marT="0" marB="0"/>
                </a:tc>
                <a:tc>
                  <a:txBody>
                    <a:bodyPr/>
                    <a:lstStyle/>
                    <a:p>
                      <a:pPr>
                        <a:lnSpc>
                          <a:spcPct val="150000"/>
                        </a:lnSpc>
                        <a:spcAft>
                          <a:spcPts val="0"/>
                        </a:spcAft>
                      </a:pPr>
                      <a:r>
                        <a:rPr lang="en-US" sz="1200" dirty="0">
                          <a:solidFill>
                            <a:schemeClr val="tx1"/>
                          </a:solidFill>
                          <a:effectLst/>
                        </a:rPr>
                        <a:t>5%</a:t>
                      </a:r>
                      <a:endParaRPr lang="en-MY" sz="1200" dirty="0">
                        <a:solidFill>
                          <a:schemeClr val="tx1"/>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855233840"/>
                  </a:ext>
                </a:extLst>
              </a:tr>
            </a:tbl>
          </a:graphicData>
        </a:graphic>
      </p:graphicFrame>
      <p:sp>
        <p:nvSpPr>
          <p:cNvPr id="7" name="Rectangle 2"/>
          <p:cNvSpPr>
            <a:spLocks noChangeArrowheads="1"/>
          </p:cNvSpPr>
          <p:nvPr/>
        </p:nvSpPr>
        <p:spPr bwMode="auto">
          <a:xfrm>
            <a:off x="457200" y="1524000"/>
            <a:ext cx="80010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defRPr/>
            </a:pPr>
            <a:r>
              <a:rPr lang="en-US" altLang="zh-CN" sz="2000" dirty="0" err="1">
                <a:solidFill>
                  <a:srgbClr val="000000"/>
                </a:solidFill>
                <a:latin typeface="+mj-lt"/>
                <a:cs typeface="Times-Roman"/>
              </a:rPr>
              <a:t>KidsPlayLand</a:t>
            </a:r>
            <a:r>
              <a:rPr lang="en-US" altLang="zh-CN" sz="2000" dirty="0">
                <a:solidFill>
                  <a:srgbClr val="000000"/>
                </a:solidFill>
                <a:latin typeface="+mj-lt"/>
                <a:cs typeface="Times-Roman"/>
              </a:rPr>
              <a:t> offers great discounts for entrance tickets during the school holidays. The following are the prices and discounts given for children and adults.</a:t>
            </a:r>
            <a:r>
              <a:rPr lang="en-US" sz="2000" dirty="0">
                <a:latin typeface="+mj-lt"/>
              </a:rPr>
              <a:t> </a:t>
            </a:r>
          </a:p>
          <a:p>
            <a:pPr algn="just">
              <a:defRPr/>
            </a:pPr>
            <a:r>
              <a:rPr lang="en-US" sz="2000" dirty="0">
                <a:latin typeface="+mj-lt"/>
              </a:rPr>
              <a:t>a. Write a function definition for a function Price() that receives categories in character code and quantity. The function will calculate </a:t>
            </a:r>
          </a:p>
          <a:p>
            <a:pPr algn="just">
              <a:defRPr/>
            </a:pPr>
            <a:r>
              <a:rPr lang="en-US" sz="2000" dirty="0">
                <a:latin typeface="+mj-lt"/>
              </a:rPr>
              <a:t>and return the total price.</a:t>
            </a:r>
          </a:p>
          <a:p>
            <a:pPr algn="just">
              <a:defRPr/>
            </a:pPr>
            <a:r>
              <a:rPr lang="en-US" sz="2000" dirty="0">
                <a:latin typeface="+mj-lt"/>
              </a:rPr>
              <a:t>b. Write a function definition for a function named Discount() that receives categories in character code and quantity. The function will calculate and return </a:t>
            </a:r>
            <a:r>
              <a:rPr lang="en-US" sz="2000" dirty="0" err="1">
                <a:latin typeface="+mj-lt"/>
              </a:rPr>
              <a:t>PriceDisc</a:t>
            </a:r>
            <a:r>
              <a:rPr lang="en-US" sz="2000" dirty="0">
                <a:latin typeface="+mj-lt"/>
              </a:rPr>
              <a:t>()</a:t>
            </a:r>
          </a:p>
          <a:p>
            <a:pPr algn="just">
              <a:defRPr/>
            </a:pPr>
            <a:r>
              <a:rPr lang="en-US" sz="2000" dirty="0">
                <a:latin typeface="+mj-lt"/>
              </a:rPr>
              <a:t>c. Write main function to calculate the total price after discount. The program will call the above function to calculate the total price after discount. </a:t>
            </a:r>
            <a:endParaRPr lang="en-MY" sz="2000" dirty="0">
              <a:latin typeface="+mj-lt"/>
            </a:endParaRPr>
          </a:p>
          <a:p>
            <a:pPr algn="just">
              <a:defRPr/>
            </a:pPr>
            <a:endParaRPr lang="en-US" altLang="zh-CN" sz="2000" dirty="0">
              <a:latin typeface="+mj-lt"/>
            </a:endParaRPr>
          </a:p>
          <a:p>
            <a:pPr algn="just">
              <a:defRPr/>
            </a:pPr>
            <a:endParaRPr lang="en-US" altLang="zh-CN" sz="2000" dirty="0">
              <a:latin typeface="+mj-lt"/>
            </a:endParaRPr>
          </a:p>
        </p:txBody>
      </p:sp>
    </p:spTree>
    <p:extLst>
      <p:ext uri="{BB962C8B-B14F-4D97-AF65-F5344CB8AC3E}">
        <p14:creationId xmlns:p14="http://schemas.microsoft.com/office/powerpoint/2010/main" val="578979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p:cNvSpPr>
            <a:spLocks noGrp="1"/>
          </p:cNvSpPr>
          <p:nvPr>
            <p:ph idx="1"/>
          </p:nvPr>
        </p:nvSpPr>
        <p:spPr>
          <a:xfrm>
            <a:off x="457200" y="1600200"/>
            <a:ext cx="8229600" cy="4144963"/>
          </a:xfrm>
        </p:spPr>
        <p:txBody>
          <a:bodyPr/>
          <a:lstStyle/>
          <a:p>
            <a:pPr algn="just"/>
            <a:r>
              <a:rPr lang="en-US" altLang="en-US" sz="2200" smtClean="0">
                <a:ea typeface="ＭＳ Ｐゴシック" panose="020B0600070205080204" pitchFamily="34" charset="-128"/>
              </a:rPr>
              <a:t>Functions can divide problems into sub-problems.</a:t>
            </a:r>
          </a:p>
          <a:p>
            <a:pPr algn="just"/>
            <a:r>
              <a:rPr lang="en-US" altLang="en-US" sz="2200" smtClean="0">
                <a:ea typeface="ＭＳ Ｐゴシック" panose="020B0600070205080204" pitchFamily="34" charset="-128"/>
              </a:rPr>
              <a:t>In order to develop programs using functions, the three function elements needed to be identified are function prototype/declaration, function call and function definition.</a:t>
            </a:r>
          </a:p>
          <a:p>
            <a:pPr algn="just"/>
            <a:r>
              <a:rPr lang="en-US" altLang="en-US" sz="2200" smtClean="0">
                <a:ea typeface="ＭＳ Ｐゴシック" panose="020B0600070205080204" pitchFamily="34" charset="-128"/>
              </a:rPr>
              <a:t>Writing programs using functions provide many advantages as functions can break a program into smaller items which will be easier for the programmer to code, test and debug.</a:t>
            </a:r>
          </a:p>
          <a:p>
            <a:pPr algn="just"/>
            <a:r>
              <a:rPr lang="en-US" altLang="en-US" sz="2200" smtClean="0">
                <a:ea typeface="ＭＳ Ｐゴシック" panose="020B0600070205080204" pitchFamily="34" charset="-128"/>
              </a:rPr>
              <a:t>Each of the functions is reusable where the function can be called many times.</a:t>
            </a:r>
          </a:p>
          <a:p>
            <a:pPr algn="just"/>
            <a:r>
              <a:rPr lang="en-US" altLang="en-US" sz="2200" smtClean="0">
                <a:ea typeface="ＭＳ Ｐゴシック" panose="020B0600070205080204" pitchFamily="34" charset="-128"/>
              </a:rPr>
              <a:t>Repeating code in a program can be avoided.</a:t>
            </a:r>
          </a:p>
        </p:txBody>
      </p:sp>
      <p:sp>
        <p:nvSpPr>
          <p:cNvPr id="38915" name="Title 1"/>
          <p:cNvSpPr>
            <a:spLocks noGrp="1"/>
          </p:cNvSpPr>
          <p:nvPr>
            <p:ph type="title"/>
          </p:nvPr>
        </p:nvSpPr>
        <p:spPr>
          <a:xfrm>
            <a:off x="762000" y="381000"/>
            <a:ext cx="7239000" cy="290336"/>
          </a:xfrm>
        </p:spPr>
        <p:txBody>
          <a:bodyPr/>
          <a:lstStyle/>
          <a:p>
            <a:r>
              <a:rPr lang="en-US" altLang="en-US" dirty="0" smtClean="0">
                <a:ea typeface="ＭＳ Ｐゴシック" panose="020B0600070205080204" pitchFamily="34" charset="-128"/>
              </a:rPr>
              <a:t>Conclusion</a:t>
            </a:r>
          </a:p>
        </p:txBody>
      </p:sp>
    </p:spTree>
    <p:extLst>
      <p:ext uri="{BB962C8B-B14F-4D97-AF65-F5344CB8AC3E}">
        <p14:creationId xmlns:p14="http://schemas.microsoft.com/office/powerpoint/2010/main" val="3660456562"/>
      </p:ext>
    </p:extLst>
  </p:cSld>
  <p:clrMapOvr>
    <a:masterClrMapping/>
  </p:clrMapOvr>
  <p:timing>
    <p:tnLst>
      <p:par>
        <p:cTn id="1" dur="indefinite" restart="never" nodeType="tmRoot"/>
      </p:par>
    </p:tnLst>
  </p:timing>
</p:sld>
</file>

<file path=ppt/theme/theme1.xml><?xml version="1.0" encoding="utf-8"?>
<a:theme xmlns:a="http://schemas.openxmlformats.org/drawingml/2006/main" name="Malik_cpp">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4006</TotalTime>
  <Words>1262</Words>
  <Application>Microsoft Office PowerPoint</Application>
  <PresentationFormat>On-screen Show (4:3)</PresentationFormat>
  <Paragraphs>153</Paragraphs>
  <Slides>31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DengXian</vt:lpstr>
      <vt:lpstr>ＭＳ Ｐゴシック</vt:lpstr>
      <vt:lpstr>SimSun</vt:lpstr>
      <vt:lpstr>Arial</vt:lpstr>
      <vt:lpstr>Calibri</vt:lpstr>
      <vt:lpstr>Calibri Light</vt:lpstr>
      <vt:lpstr>Courier New</vt:lpstr>
      <vt:lpstr>Times New Roman</vt:lpstr>
      <vt:lpstr>Times-Roman</vt:lpstr>
      <vt:lpstr>Wingdings</vt:lpstr>
      <vt:lpstr>Malik_cpp</vt:lpstr>
      <vt:lpstr>Chapter 6</vt:lpstr>
      <vt:lpstr>PowerPoint Presentation</vt:lpstr>
      <vt:lpstr>Introduction</vt:lpstr>
      <vt:lpstr>Introduction (cont.)</vt:lpstr>
      <vt:lpstr>Introduction (cont.)</vt:lpstr>
      <vt:lpstr>Function Types</vt:lpstr>
      <vt:lpstr>Predefined Functions</vt:lpstr>
      <vt:lpstr>User-defined Functions</vt:lpstr>
      <vt:lpstr>User-defined Functions (cont.)</vt:lpstr>
      <vt:lpstr>Function Declaration/Prototype(cont.)</vt:lpstr>
      <vt:lpstr>Function Definition</vt:lpstr>
      <vt:lpstr>Function Definition (cont.)</vt:lpstr>
      <vt:lpstr>Function Definition (cont.)</vt:lpstr>
      <vt:lpstr>Function Call</vt:lpstr>
      <vt:lpstr>Function Call (cont.)</vt:lpstr>
      <vt:lpstr>Types of Variable and Their Scope</vt:lpstr>
      <vt:lpstr>Function with Return Statement</vt:lpstr>
      <vt:lpstr>Function with Return Statement (cont.)</vt:lpstr>
      <vt:lpstr>PowerPoint Presentation</vt:lpstr>
      <vt:lpstr>PowerPoint Presentation</vt:lpstr>
      <vt:lpstr>Parameter Passing</vt:lpstr>
      <vt:lpstr>Parameter Passing (cont.)</vt:lpstr>
      <vt:lpstr>Parameter Passing (cont.)</vt:lpstr>
      <vt:lpstr>Parameter Passing (cont.)</vt:lpstr>
      <vt:lpstr>Comparing: Value vs. Reference</vt:lpstr>
      <vt:lpstr>Parameter Passing (cont.)</vt:lpstr>
      <vt:lpstr>Parameter Passing (cont.)</vt:lpstr>
      <vt:lpstr>Exercise 1</vt:lpstr>
      <vt:lpstr>Exercise 2</vt:lpstr>
      <vt:lpstr>Exercise 3</vt:lpstr>
      <vt:lpstr>Conclusion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Program Design Including  Data Structures, Fifth Edition</dc:title>
  <dc:creator>Rita</dc:creator>
  <cp:lastModifiedBy>Windows User</cp:lastModifiedBy>
  <cp:revision>272</cp:revision>
  <cp:lastPrinted>2009-04-22T19:24:48Z</cp:lastPrinted>
  <dcterms:created xsi:type="dcterms:W3CDTF">2002-07-27T03:19:07Z</dcterms:created>
  <dcterms:modified xsi:type="dcterms:W3CDTF">2020-01-06T07:36:13Z</dcterms:modified>
</cp:coreProperties>
</file>