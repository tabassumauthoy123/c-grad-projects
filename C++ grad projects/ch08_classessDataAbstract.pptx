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17" r:id="rId1"/>
  </p:sldMasterIdLst>
  <p:notesMasterIdLst>
    <p:notesMasterId r:id="rId50"/>
  </p:notesMasterIdLst>
  <p:sldIdLst>
    <p:sldId id="386" r:id="rId2"/>
    <p:sldId id="261" r:id="rId3"/>
    <p:sldId id="300" r:id="rId4"/>
    <p:sldId id="387" r:id="rId5"/>
    <p:sldId id="262" r:id="rId6"/>
    <p:sldId id="263" r:id="rId7"/>
    <p:sldId id="265" r:id="rId8"/>
    <p:sldId id="365" r:id="rId9"/>
    <p:sldId id="388" r:id="rId10"/>
    <p:sldId id="267" r:id="rId11"/>
    <p:sldId id="268" r:id="rId12"/>
    <p:sldId id="269" r:id="rId13"/>
    <p:sldId id="366" r:id="rId14"/>
    <p:sldId id="270" r:id="rId15"/>
    <p:sldId id="389" r:id="rId16"/>
    <p:sldId id="271" r:id="rId17"/>
    <p:sldId id="272" r:id="rId18"/>
    <p:sldId id="273" r:id="rId19"/>
    <p:sldId id="390" r:id="rId20"/>
    <p:sldId id="368" r:id="rId21"/>
    <p:sldId id="383" r:id="rId22"/>
    <p:sldId id="333" r:id="rId23"/>
    <p:sldId id="305" r:id="rId24"/>
    <p:sldId id="306" r:id="rId25"/>
    <p:sldId id="274" r:id="rId26"/>
    <p:sldId id="275" r:id="rId27"/>
    <p:sldId id="277" r:id="rId28"/>
    <p:sldId id="373" r:id="rId29"/>
    <p:sldId id="372" r:id="rId30"/>
    <p:sldId id="374" r:id="rId31"/>
    <p:sldId id="375" r:id="rId32"/>
    <p:sldId id="392" r:id="rId33"/>
    <p:sldId id="376" r:id="rId34"/>
    <p:sldId id="282" r:id="rId35"/>
    <p:sldId id="283" r:id="rId36"/>
    <p:sldId id="285" r:id="rId37"/>
    <p:sldId id="312" r:id="rId38"/>
    <p:sldId id="286" r:id="rId39"/>
    <p:sldId id="308" r:id="rId40"/>
    <p:sldId id="347" r:id="rId41"/>
    <p:sldId id="287" r:id="rId42"/>
    <p:sldId id="393" r:id="rId43"/>
    <p:sldId id="394" r:id="rId44"/>
    <p:sldId id="309" r:id="rId45"/>
    <p:sldId id="391" r:id="rId46"/>
    <p:sldId id="304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DAD"/>
    <a:srgbClr val="3333FF"/>
    <a:srgbClr val="333399"/>
    <a:srgbClr val="B2B2B2"/>
    <a:srgbClr val="800000"/>
    <a:srgbClr val="996600"/>
    <a:srgbClr val="FF9999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9" autoAdjust="0"/>
    <p:restoredTop sz="94737" autoAdjust="0"/>
  </p:normalViewPr>
  <p:slideViewPr>
    <p:cSldViewPr>
      <p:cViewPr varScale="1">
        <p:scale>
          <a:sx n="70" d="100"/>
          <a:sy n="70" d="100"/>
        </p:scale>
        <p:origin x="5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1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1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90402D7-0EF5-4A20-A27C-6908679009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8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26C4B93-EDC4-4CA5-B076-1807B35F35CC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938C848-85D6-4D03-A39D-00BC5AAF4E90}" type="slidenum">
              <a:rPr lang="en-US" altLang="en-US" smtClean="0"/>
              <a:pPr eaLnBrk="1" hangingPunct="1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8AEC292-EA1C-46E9-B407-30E2E8E1484C}" type="slidenum">
              <a:rPr lang="en-US" altLang="en-US" smtClean="0"/>
              <a:pPr eaLnBrk="1" hangingPunct="1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768741A-F1C0-4331-BE24-BF162253CD1B}" type="slidenum">
              <a:rPr lang="en-US" altLang="en-US" smtClean="0"/>
              <a:pPr eaLnBrk="1" hangingPunct="1"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E7F2B24-E1A5-42AD-9601-7177719D2A5D}" type="slidenum">
              <a:rPr lang="en-US" altLang="en-US" smtClean="0"/>
              <a:pPr eaLnBrk="1" hangingPunct="1"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5E3E507-607A-46EA-8152-E1A802042458}" type="slidenum">
              <a:rPr lang="en-US" altLang="en-US" smtClean="0"/>
              <a:pPr eaLnBrk="1" hangingPunct="1"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8EBB102-4F65-4E5B-A976-B5D2BD7BDF77}" type="slidenum">
              <a:rPr lang="en-US" altLang="en-US" smtClean="0"/>
              <a:pPr eaLnBrk="1" hangingPunct="1"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4A1852E-2B3C-4372-BCEF-29337B925455}" type="slidenum">
              <a:rPr lang="en-US" altLang="en-US" smtClean="0"/>
              <a:pPr eaLnBrk="1" hangingPunct="1"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8AC5A81-05F6-443A-977D-DC3EE79A1BBB}" type="slidenum">
              <a:rPr lang="en-US" altLang="en-US" smtClean="0"/>
              <a:pPr eaLnBrk="1" hangingPunct="1"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EA10273-0675-4959-8959-904231842E55}" type="slidenum">
              <a:rPr lang="en-US" altLang="en-US" smtClean="0"/>
              <a:pPr eaLnBrk="1" hangingPunct="1"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22A030C-ABEE-4E43-85B4-4C118A409FEF}" type="slidenum">
              <a:rPr lang="en-US" altLang="en-US" smtClean="0"/>
              <a:pPr eaLnBrk="1" hangingPunct="1"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17C0D80-DE1C-494B-9881-318DBBC1C78E}" type="slidenum">
              <a:rPr lang="en-US" altLang="en-US" smtClean="0"/>
              <a:pPr eaLnBrk="1" hangingPunct="1"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3CA9D13-569A-4D97-951F-1C028A690C66}" type="slidenum">
              <a:rPr lang="en-US" altLang="en-US" smtClean="0"/>
              <a:pPr eaLnBrk="1" hangingPunct="1"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DA76825-FB6F-4041-88A1-A2657A4F7881}" type="slidenum">
              <a:rPr lang="en-US" altLang="en-US" smtClean="0"/>
              <a:pPr eaLnBrk="1" hangingPunct="1"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1EF61EE-DA89-4893-AC30-1C3193D70E22}" type="slidenum">
              <a:rPr lang="en-US" altLang="en-US" smtClean="0"/>
              <a:pPr eaLnBrk="1" hangingPunct="1"/>
              <a:t>15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3CA526A-FF5D-461E-99B3-D5AEA82556DA}" type="slidenum">
              <a:rPr lang="en-US" altLang="en-US" smtClean="0"/>
              <a:pPr eaLnBrk="1" hangingPunct="1"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5CEB6C9-7BAF-49C0-B94C-CF53F455CC89}" type="slidenum">
              <a:rPr lang="en-US" altLang="en-US" smtClean="0"/>
              <a:pPr eaLnBrk="1" hangingPunct="1"/>
              <a:t>17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E5B2624-0B93-4860-AFA5-085B8C15E229}" type="slidenum">
              <a:rPr lang="en-US" altLang="en-US" smtClean="0"/>
              <a:pPr eaLnBrk="1" hangingPunct="1"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205867F-B561-4E47-A70F-9FBA21A6F135}" type="slidenum">
              <a:rPr lang="en-US" altLang="en-US" smtClean="0"/>
              <a:pPr eaLnBrk="1" hangingPunct="1"/>
              <a:t>19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EB446D8-4E82-43CB-B8C8-687793AB298E}" type="slidenum">
              <a:rPr lang="en-US" altLang="en-US" smtClean="0"/>
              <a:pPr eaLnBrk="1" hangingPunct="1"/>
              <a:t>20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98AD464-FD55-4E99-8DF9-160D141879E8}" type="slidenum">
              <a:rPr lang="en-US" altLang="en-US" smtClean="0"/>
              <a:pPr eaLnBrk="1" hangingPunct="1"/>
              <a:t>21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9FD972E-4922-4C49-A8E6-90349658AA05}" type="slidenum">
              <a:rPr lang="en-US" altLang="en-US" smtClean="0"/>
              <a:pPr eaLnBrk="1" hangingPunct="1"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369F3F0-7DF5-4D5B-8512-CBB570D9FD5A}" type="slidenum">
              <a:rPr lang="en-US" altLang="en-US" smtClean="0"/>
              <a:pPr eaLnBrk="1" hangingPunct="1"/>
              <a:t>23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6C266FD-BF65-4FBA-AD45-BB3653ED44FC}" type="slidenum">
              <a:rPr lang="en-US" altLang="en-US" smtClean="0"/>
              <a:pPr eaLnBrk="1" hangingPunct="1"/>
              <a:t>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6DD6C47-E809-49A9-93A8-AFCE23B7945C}" type="slidenum">
              <a:rPr lang="en-US" altLang="en-US" smtClean="0"/>
              <a:pPr eaLnBrk="1" hangingPunct="1"/>
              <a:t>25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3D86F9A-AAD3-4D78-92B0-034A53DD1EF4}" type="slidenum">
              <a:rPr lang="en-US" altLang="en-US" smtClean="0"/>
              <a:pPr eaLnBrk="1" hangingPunct="1"/>
              <a:t>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5C267A1-1E51-43B0-8E3C-D2144044E4DB}" type="slidenum">
              <a:rPr lang="en-US" altLang="en-US" smtClean="0"/>
              <a:pPr eaLnBrk="1" hangingPunct="1"/>
              <a:t>27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03F726D-2B41-44FC-B8B3-3D64A0C8C975}" type="slidenum">
              <a:rPr lang="en-US" altLang="en-US" smtClean="0"/>
              <a:pPr eaLnBrk="1" hangingPunct="1"/>
              <a:t>28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3A1FB17-4DEF-4B0A-950F-D4C620E38D04}" type="slidenum">
              <a:rPr lang="en-US" altLang="en-US" smtClean="0"/>
              <a:pPr eaLnBrk="1" hangingPunct="1"/>
              <a:t>29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5DA33A-B616-491B-ACB8-96B7DDA10B32}" type="slidenum">
              <a:rPr lang="en-US" altLang="en-US" smtClean="0"/>
              <a:pPr eaLnBrk="1" hangingPunct="1"/>
              <a:t>30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1407255-99CE-4692-80E8-C3F60A2611AF}" type="slidenum">
              <a:rPr lang="en-US" altLang="en-US" smtClean="0"/>
              <a:pPr eaLnBrk="1" hangingPunct="1"/>
              <a:t>31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D6E19FF-0D4A-4FBE-9BB9-DE664C13BF6A}" type="slidenum">
              <a:rPr lang="en-US" altLang="en-US" smtClean="0"/>
              <a:pPr eaLnBrk="1" hangingPunct="1"/>
              <a:t>32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2036D2C-8741-4814-9A10-F48664C65BD0}" type="slidenum">
              <a:rPr lang="en-US" altLang="en-US" smtClean="0"/>
              <a:pPr eaLnBrk="1" hangingPunct="1"/>
              <a:t>33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2E871B9-8B69-41DD-A295-FCC3F5F930AC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6812593-B8E0-4B5D-9697-BF6799A36BBF}" type="slidenum">
              <a:rPr lang="en-US" altLang="en-US" smtClean="0"/>
              <a:pPr eaLnBrk="1" hangingPunct="1"/>
              <a:t>35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3CE38BD-5602-439F-AECE-B34CFB42BA7B}" type="slidenum">
              <a:rPr lang="en-US" altLang="en-US" smtClean="0"/>
              <a:pPr eaLnBrk="1" hangingPunct="1"/>
              <a:t>36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2FFD0C73-B525-4CEC-B866-9ADF9395AA04}" type="slidenum">
              <a:rPr lang="en-US" altLang="en-US" smtClean="0"/>
              <a:pPr eaLnBrk="1" hangingPunct="1"/>
              <a:t>37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C8B43EC-5163-4292-837F-4B21E096BD52}" type="slidenum">
              <a:rPr lang="en-US" altLang="en-US" smtClean="0"/>
              <a:pPr eaLnBrk="1" hangingPunct="1"/>
              <a:t>38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54BB31B-E360-4180-9AF4-95A76F3D9694}" type="slidenum">
              <a:rPr lang="en-US" altLang="en-US" smtClean="0"/>
              <a:pPr eaLnBrk="1" hangingPunct="1"/>
              <a:t>39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2D74349-9A1F-49BF-97B0-9AB0114BFF62}" type="slidenum">
              <a:rPr lang="en-US" altLang="en-US" smtClean="0"/>
              <a:pPr eaLnBrk="1" hangingPunct="1"/>
              <a:t>40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CA9AE73-B114-4700-A4DE-D104206E2D1B}" type="slidenum">
              <a:rPr lang="en-US" altLang="en-US" smtClean="0"/>
              <a:pPr eaLnBrk="1" hangingPunct="1"/>
              <a:t>41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7ADEAC0-9439-4A55-882D-5DD6240049CB}" type="slidenum">
              <a:rPr lang="en-US" altLang="en-US" smtClean="0"/>
              <a:pPr eaLnBrk="1" hangingPunct="1"/>
              <a:t>44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E31B9FF-5FE0-4AC1-B819-22CDA49A2293}" type="slidenum">
              <a:rPr lang="en-US" altLang="en-US" smtClean="0"/>
              <a:pPr eaLnBrk="1" hangingPunct="1"/>
              <a:t>45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7A9343F-B644-46DB-A6DC-2E81B41D2B71}" type="slidenum">
              <a:rPr lang="en-US" altLang="en-US" smtClean="0"/>
              <a:pPr eaLnBrk="1" hangingPunct="1"/>
              <a:t>46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243CFB11-8F6E-4C3E-B970-4A0B9B0F3557}" type="slidenum">
              <a:rPr lang="en-US" altLang="en-US" smtClean="0"/>
              <a:pPr eaLnBrk="1" hangingPunct="1"/>
              <a:t>47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EE2109-1EF4-46ED-9717-2C9B406D3379}" type="slidenum">
              <a:rPr lang="en-US" altLang="en-US" smtClean="0"/>
              <a:pPr eaLnBrk="1" hangingPunct="1"/>
              <a:t>48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98500" y="3098238"/>
            <a:ext cx="7747000" cy="369460"/>
          </a:xfrm>
        </p:spPr>
        <p:txBody>
          <a:bodyPr/>
          <a:lstStyle/>
          <a:p>
            <a:r>
              <a:rPr lang="en-US" altLang="en-US" dirty="0"/>
              <a:t>Chapter </a:t>
            </a:r>
            <a:r>
              <a:rPr lang="en-US" altLang="en-US" dirty="0"/>
              <a:t>8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Classes and Data Abstraction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(1 of 2)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en-US" dirty="0"/>
              <a:t>In this chapter, you will: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Learn about classes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Learn about </a:t>
            </a:r>
            <a:r>
              <a:rPr lang="en-US" altLang="en-US" b="1" dirty="0">
                <a:latin typeface="Courier New" pitchFamily="49" charset="0"/>
              </a:rPr>
              <a:t>private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protected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itchFamily="49" charset="0"/>
              </a:rPr>
              <a:t>public</a:t>
            </a:r>
            <a:r>
              <a:rPr lang="en-US" altLang="en-US" dirty="0"/>
              <a:t> members of a class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Explore how classes are implemented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Become aware of accessor and mutator functions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dirty="0"/>
              <a:t>Examine constructors and destructors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(2 of 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03708"/>
          </a:xfrm>
        </p:spPr>
        <p:txBody>
          <a:bodyPr/>
          <a:lstStyle/>
          <a:p>
            <a:pPr lvl="1" eaLnBrk="1" hangingPunct="1"/>
            <a:r>
              <a:rPr lang="en-US" altLang="en-US" dirty="0"/>
              <a:t>Learn about the abstract data type (ADT)</a:t>
            </a:r>
          </a:p>
          <a:p>
            <a:pPr lvl="1" eaLnBrk="1" hangingPunct="1"/>
            <a:r>
              <a:rPr lang="en-US" altLang="en-US" dirty="0"/>
              <a:t>Explore how classes are used to implement ADTs</a:t>
            </a:r>
          </a:p>
          <a:p>
            <a:pPr lvl="1" eaLnBrk="1" hangingPunct="1"/>
            <a:r>
              <a:rPr lang="en-US" altLang="en-US" dirty="0"/>
              <a:t>Become aware of the differences between a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dirty="0"/>
              <a:t> and a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class</a:t>
            </a:r>
          </a:p>
          <a:p>
            <a:pPr lvl="1" eaLnBrk="1" hangingPunct="1"/>
            <a:r>
              <a:rPr lang="en-US" altLang="en-US" dirty="0"/>
              <a:t>Learn about information hiding</a:t>
            </a:r>
          </a:p>
          <a:p>
            <a:pPr lvl="1" eaLnBrk="1" hangingPunct="1"/>
            <a:r>
              <a:rPr lang="en-US" altLang="en-US" dirty="0"/>
              <a:t>Explore how information hiding is implemented in C++</a:t>
            </a:r>
          </a:p>
          <a:p>
            <a:pPr lvl="1"/>
            <a:r>
              <a:rPr lang="en-US" dirty="0"/>
              <a:t>Become aware of inline functions of a class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Learn about the </a:t>
            </a:r>
            <a:r>
              <a:rPr lang="en-US" altLang="en-US" b="1" dirty="0">
                <a:latin typeface="Courier New" pitchFamily="49" charset="0"/>
              </a:rPr>
              <a:t>static</a:t>
            </a:r>
            <a:r>
              <a:rPr lang="en-US" altLang="en-US" dirty="0"/>
              <a:t> members of a class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(1 of 4)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631216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Object-oriented design (OOD)</a:t>
            </a:r>
            <a:r>
              <a:rPr lang="en-US" altLang="en-US" dirty="0"/>
              <a:t>: a problem solving methodology</a:t>
            </a:r>
          </a:p>
          <a:p>
            <a:r>
              <a:rPr lang="en-US" altLang="en-US" u="sng" dirty="0"/>
              <a:t>Object</a:t>
            </a:r>
            <a:r>
              <a:rPr lang="en-US" altLang="en-US" dirty="0"/>
              <a:t>: </a:t>
            </a:r>
            <a:r>
              <a:rPr lang="en-US" dirty="0"/>
              <a:t>combines data and the operations on that data in a single unit</a:t>
            </a:r>
            <a:endParaRPr lang="en-US" altLang="en-US" dirty="0"/>
          </a:p>
          <a:p>
            <a:pPr eaLnBrk="1" hangingPunct="1"/>
            <a:r>
              <a:rPr lang="en-US" altLang="en-US" u="sng" dirty="0"/>
              <a:t>Class</a:t>
            </a:r>
            <a:r>
              <a:rPr lang="en-US" altLang="en-US" dirty="0"/>
              <a:t>: a collection of a fixed number of components</a:t>
            </a:r>
          </a:p>
          <a:p>
            <a:pPr eaLnBrk="1" hangingPunct="1"/>
            <a:r>
              <a:rPr lang="en-US" altLang="en-US" u="sng" dirty="0"/>
              <a:t>Member</a:t>
            </a:r>
            <a:r>
              <a:rPr lang="en-US" altLang="en-US" dirty="0"/>
              <a:t>: a component of a class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(2 of 4)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The general syntax for defining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:</a:t>
            </a:r>
            <a:endParaRPr lang="en-US" altLang="en-US" dirty="0"/>
          </a:p>
        </p:txBody>
      </p:sp>
      <p:pic>
        <p:nvPicPr>
          <p:cNvPr id="19463" name="Picture 7" descr="class classIdentifier&#10;{&#10;    classMembersList&#10;}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30765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505201"/>
            <a:ext cx="8415338" cy="1418850"/>
          </a:xfrm>
        </p:spPr>
        <p:txBody>
          <a:bodyPr/>
          <a:lstStyle/>
          <a:p>
            <a:r>
              <a:rPr lang="en-US" altLang="en-US" dirty="0"/>
              <a:t>A class member can be a variable or a function</a:t>
            </a:r>
          </a:p>
          <a:p>
            <a:r>
              <a:rPr lang="en-US" altLang="en-US" dirty="0"/>
              <a:t>If a member of a </a:t>
            </a:r>
            <a:r>
              <a:rPr lang="en-US" altLang="en-US" b="1" dirty="0">
                <a:latin typeface="Courier New" pitchFamily="49" charset="0"/>
              </a:rPr>
              <a:t>class</a:t>
            </a:r>
            <a:r>
              <a:rPr lang="en-US" altLang="en-US" dirty="0"/>
              <a:t> is a variable</a:t>
            </a:r>
          </a:p>
          <a:p>
            <a:pPr lvl="1"/>
            <a:r>
              <a:rPr lang="en-US" altLang="en-US" dirty="0"/>
              <a:t>It is declared like any other variable</a:t>
            </a:r>
          </a:p>
          <a:p>
            <a:pPr lvl="1"/>
            <a:r>
              <a:rPr lang="en-US" altLang="en-US" dirty="0"/>
              <a:t>You cannot initialize a variable when you declare it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(3 of 4)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99036"/>
          </a:xfrm>
        </p:spPr>
        <p:txBody>
          <a:bodyPr/>
          <a:lstStyle/>
          <a:p>
            <a:pPr eaLnBrk="1" hangingPunct="1"/>
            <a:r>
              <a:rPr lang="en-US" altLang="en-US" dirty="0"/>
              <a:t>If a member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is a function</a:t>
            </a:r>
          </a:p>
          <a:p>
            <a:pPr lvl="1" eaLnBrk="1" hangingPunct="1"/>
            <a:r>
              <a:rPr lang="en-US" altLang="en-US" dirty="0"/>
              <a:t>A function prototype declares that member</a:t>
            </a:r>
          </a:p>
          <a:p>
            <a:pPr lvl="1" eaLnBrk="1" hangingPunct="1"/>
            <a:r>
              <a:rPr lang="en-US" altLang="en-US" dirty="0"/>
              <a:t>Function members can (directly) access any member of the </a:t>
            </a:r>
            <a:r>
              <a:rPr lang="en-US" altLang="en-US" b="1" dirty="0">
                <a:latin typeface="Courier New" pitchFamily="49" charset="0"/>
              </a:rPr>
              <a:t>class</a:t>
            </a:r>
          </a:p>
          <a:p>
            <a:r>
              <a:rPr lang="en-US" altLang="en-US" dirty="0"/>
              <a:t>A class definition defines only a data type</a:t>
            </a:r>
          </a:p>
          <a:p>
            <a:pPr lvl="1"/>
            <a:r>
              <a:rPr lang="en-US" altLang="en-US" dirty="0"/>
              <a:t>No memory is allocated</a:t>
            </a:r>
          </a:p>
          <a:p>
            <a:pPr lvl="1"/>
            <a:r>
              <a:rPr lang="en-US" altLang="en-US" dirty="0"/>
              <a:t>Remember the semicolon (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en-US" dirty="0"/>
              <a:t>) after the closing brace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(4 of 4)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82438"/>
          </a:xfrm>
        </p:spPr>
        <p:txBody>
          <a:bodyPr/>
          <a:lstStyle/>
          <a:p>
            <a:pPr eaLnBrk="1" hangingPunct="1"/>
            <a:r>
              <a:rPr lang="en-US" altLang="en-US" dirty="0"/>
              <a:t>Three categories of class members: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(default)</a:t>
            </a:r>
            <a:endParaRPr lang="en-US" altLang="en-US" dirty="0">
              <a:latin typeface="Courier New" pitchFamily="49" charset="0"/>
            </a:endParaRPr>
          </a:p>
          <a:p>
            <a:pPr lvl="2" eaLnBrk="1" hangingPunct="1"/>
            <a:r>
              <a:rPr lang="en-US" altLang="en-US" dirty="0"/>
              <a:t>Member cannot be accessed outside the </a:t>
            </a:r>
            <a:r>
              <a:rPr lang="en-US" altLang="en-US" dirty="0">
                <a:latin typeface="Courier New" pitchFamily="49" charset="0"/>
              </a:rPr>
              <a:t>class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</a:p>
          <a:p>
            <a:pPr lvl="2" eaLnBrk="1" hangingPunct="1"/>
            <a:r>
              <a:rPr lang="en-US" altLang="en-US" dirty="0"/>
              <a:t>Member is accessible outside the class</a:t>
            </a:r>
            <a:endParaRPr lang="en-US" altLang="en-US" dirty="0">
              <a:latin typeface="Courier New" pitchFamily="49" charset="0"/>
            </a:endParaRP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protected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Modeling Language Class Diagrams (1 of 2)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08517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Modeling Language (UML) notation: used to graphically describe a class and its members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+</a:t>
            </a:r>
            <a:r>
              <a:rPr lang="en-US" altLang="en-US" dirty="0"/>
              <a:t>: member is public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-</a:t>
            </a:r>
            <a:r>
              <a:rPr lang="en-US" altLang="en-US" dirty="0">
                <a:cs typeface="Courier New" pitchFamily="49" charset="0"/>
              </a:rPr>
              <a:t>:</a:t>
            </a:r>
            <a:r>
              <a:rPr lang="en-US" altLang="en-US" dirty="0"/>
              <a:t> member is private</a:t>
            </a: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  <a:cs typeface="Courier New" pitchFamily="49" charset="0"/>
              </a:rPr>
              <a:t>#</a:t>
            </a:r>
            <a:r>
              <a:rPr lang="en-US" altLang="en-US" dirty="0"/>
              <a:t>: member is protected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Unified Modeling Language Class Diagrams (2 of 2)</a:t>
            </a:r>
          </a:p>
        </p:txBody>
      </p:sp>
      <p:pic>
        <p:nvPicPr>
          <p:cNvPr id="23559" name="Picture 7" descr="Figure 10-1 shows the UML class diagram of the class clockTyp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17768"/>
            <a:ext cx="6400800" cy="2830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1600" y="4648200"/>
            <a:ext cx="6949440" cy="297004"/>
          </a:xfrm>
        </p:spPr>
        <p:txBody>
          <a:bodyPr/>
          <a:lstStyle/>
          <a:p>
            <a:r>
              <a:rPr lang="en-US" b="1" dirty="0"/>
              <a:t>FIGURE 10-1 </a:t>
            </a:r>
            <a:r>
              <a:rPr lang="en-US" dirty="0"/>
              <a:t>UML class diagram of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clockType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(Object) Declaration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65124" y="1538818"/>
            <a:ext cx="8503920" cy="1412951"/>
          </a:xfrm>
        </p:spPr>
        <p:txBody>
          <a:bodyPr/>
          <a:lstStyle/>
          <a:p>
            <a:pPr eaLnBrk="1" hangingPunct="1"/>
            <a:r>
              <a:rPr lang="en-US" altLang="en-US" dirty="0"/>
              <a:t>Once defined, you can declare variables of that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type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clockType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myClock</a:t>
            </a:r>
            <a:r>
              <a:rPr lang="en-US" altLang="en-US" dirty="0">
                <a:latin typeface="Courier New" pitchFamily="49" charset="0"/>
              </a:rPr>
              <a:t>;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clockType yourClock;</a:t>
            </a:r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variable is called a </a:t>
            </a:r>
            <a:r>
              <a:rPr lang="en-US" altLang="en-US" u="sng" dirty="0"/>
              <a:t>class object</a:t>
            </a:r>
            <a:r>
              <a:rPr lang="en-US" altLang="en-US" dirty="0"/>
              <a:t> or </a:t>
            </a:r>
            <a:r>
              <a:rPr lang="en-US" altLang="en-US" u="sng" dirty="0"/>
              <a:t>class instance</a:t>
            </a:r>
          </a:p>
        </p:txBody>
      </p:sp>
      <p:pic>
        <p:nvPicPr>
          <p:cNvPr id="24584" name="Picture 8" descr="Figure 10-2 shows the objects myClock and yourClock with&#10;values in their member variab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6400800" cy="138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98938" y="4596322"/>
            <a:ext cx="4114800" cy="297004"/>
          </a:xfrm>
        </p:spPr>
        <p:txBody>
          <a:bodyPr/>
          <a:lstStyle/>
          <a:p>
            <a:r>
              <a:rPr lang="en-US" b="1" dirty="0"/>
              <a:t>FIGURE 10-2 </a:t>
            </a:r>
            <a:r>
              <a:rPr lang="en-US" dirty="0"/>
              <a:t>Objects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Class Members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r>
              <a:rPr lang="en-US" dirty="0"/>
              <a:t>Once an object is declared, it can access the members of the class</a:t>
            </a:r>
          </a:p>
          <a:p>
            <a:r>
              <a:rPr lang="en-US" dirty="0"/>
              <a:t>The general syntax for an object to access a member of a class:</a:t>
            </a:r>
          </a:p>
        </p:txBody>
      </p:sp>
      <p:pic>
        <p:nvPicPr>
          <p:cNvPr id="25607" name="Picture 7" descr="classObjectName.memberNa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35909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365125" y="3048001"/>
            <a:ext cx="8415338" cy="1031051"/>
          </a:xfrm>
        </p:spPr>
        <p:txBody>
          <a:bodyPr/>
          <a:lstStyle/>
          <a:p>
            <a:r>
              <a:rPr lang="en-US" dirty="0"/>
              <a:t>If an object is declared in the definition of a member function of the class, it can access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/>
              <a:t> and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members</a:t>
            </a:r>
          </a:p>
          <a:p>
            <a:r>
              <a:rPr lang="en-US" dirty="0"/>
              <a:t>The dot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/>
              <a:t>) is the </a:t>
            </a:r>
            <a:r>
              <a:rPr lang="en-US" u="sng" dirty="0"/>
              <a:t>member access operator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Built-in Operations on Classes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62185"/>
          </a:xfrm>
        </p:spPr>
        <p:txBody>
          <a:bodyPr/>
          <a:lstStyle/>
          <a:p>
            <a:r>
              <a:rPr lang="en-US" dirty="0"/>
              <a:t>Most of C++’s built-in operations do not apply to classes</a:t>
            </a:r>
          </a:p>
          <a:p>
            <a:pPr lvl="1"/>
            <a:r>
              <a:rPr lang="en-US" dirty="0"/>
              <a:t>Arithmetic operators cannot be used on class objects unless the operators are overloaded</a:t>
            </a:r>
          </a:p>
          <a:p>
            <a:pPr lvl="1"/>
            <a:r>
              <a:rPr lang="en-US" dirty="0"/>
              <a:t>Relational operators cannot be used to compare two class objects for equality</a:t>
            </a:r>
          </a:p>
          <a:p>
            <a:r>
              <a:rPr lang="en-US" dirty="0"/>
              <a:t>Built-in operations that are valid for class objects:</a:t>
            </a:r>
          </a:p>
          <a:p>
            <a:pPr lvl="1"/>
            <a:r>
              <a:rPr lang="en-US" dirty="0"/>
              <a:t>Member access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Assignment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)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Assignment Operator and Classes</a:t>
            </a:r>
          </a:p>
        </p:txBody>
      </p:sp>
      <p:pic>
        <p:nvPicPr>
          <p:cNvPr id="27655" name="Picture 7" descr="Figure 10-3 shows the values of myClock and yourClock before and after executing the statement myClock = yourCloc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38363"/>
            <a:ext cx="6400800" cy="19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447800" y="4101394"/>
            <a:ext cx="6949440" cy="501676"/>
          </a:xfrm>
        </p:spPr>
        <p:txBody>
          <a:bodyPr/>
          <a:lstStyle/>
          <a:p>
            <a:pPr marL="1030288" indent="-1030288"/>
            <a:r>
              <a:rPr lang="en-US" b="1" dirty="0"/>
              <a:t>FIGURE 10-3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r>
              <a:rPr lang="en-US" b="1" dirty="0"/>
              <a:t> </a:t>
            </a:r>
            <a:r>
              <a:rPr lang="en-US" dirty="0"/>
              <a:t>before and after executing the statement 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yourClock;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Scope (1 of 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45148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</a:rPr>
              <a:t>class</a:t>
            </a:r>
            <a:r>
              <a:rPr lang="en-US" altLang="en-US" dirty="0"/>
              <a:t> object can be automatic or static</a:t>
            </a:r>
          </a:p>
          <a:p>
            <a:pPr lvl="1" eaLnBrk="1" hangingPunct="1"/>
            <a:r>
              <a:rPr lang="en-US" altLang="en-US" dirty="0"/>
              <a:t>Automatic: created when the declaration is reached and destroyed when the surrounding block is exited</a:t>
            </a:r>
          </a:p>
          <a:p>
            <a:pPr lvl="1" eaLnBrk="1" hangingPunct="1"/>
            <a:r>
              <a:rPr lang="en-US" altLang="en-US" dirty="0"/>
              <a:t>Static: created when the declaration is reached and destroyed when the program terminates</a:t>
            </a:r>
          </a:p>
          <a:p>
            <a:r>
              <a:rPr lang="en-US" dirty="0"/>
              <a:t>A member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/>
              <a:t> </a:t>
            </a:r>
            <a:r>
              <a:rPr lang="en-US" dirty="0"/>
              <a:t>has the same scope as a member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Scope (2 of 2)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77328"/>
          </a:xfrm>
        </p:spPr>
        <p:txBody>
          <a:bodyPr/>
          <a:lstStyle/>
          <a:p>
            <a:pPr eaLnBrk="1" hangingPunct="1"/>
            <a:r>
              <a:rPr lang="en-US" altLang="en-US" dirty="0"/>
              <a:t>A member of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is local to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</a:p>
          <a:p>
            <a:pPr eaLnBrk="1" hangingPunct="1"/>
            <a:r>
              <a:rPr lang="en-US" altLang="en-US" dirty="0"/>
              <a:t>You access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member outside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by using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object name and the member access operator (</a:t>
            </a:r>
            <a:r>
              <a:rPr lang="en-US" altLang="en-US" b="1" dirty="0">
                <a:latin typeface="Courier New" pitchFamily="49" charset="0"/>
              </a:rPr>
              <a:t>.</a:t>
            </a:r>
            <a:r>
              <a:rPr lang="en-US" altLang="en-US" dirty="0"/>
              <a:t>)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Functions and Classes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206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Objects can be passed as parameters to functions and returned as function values </a:t>
            </a:r>
          </a:p>
          <a:p>
            <a:pPr eaLnBrk="1" hangingPunct="1"/>
            <a:r>
              <a:rPr lang="en-US" altLang="en-US" dirty="0"/>
              <a:t>As parameters to functions:</a:t>
            </a:r>
          </a:p>
          <a:p>
            <a:pPr lvl="1"/>
            <a:r>
              <a:rPr lang="en-US" altLang="en-US" dirty="0"/>
              <a:t>Class objects can be passed by value or by reference </a:t>
            </a:r>
          </a:p>
          <a:p>
            <a:pPr eaLnBrk="1" hangingPunct="1"/>
            <a:r>
              <a:rPr lang="en-US" altLang="en-US" dirty="0"/>
              <a:t>If an object is passed by value:</a:t>
            </a:r>
          </a:p>
          <a:p>
            <a:pPr lvl="1" eaLnBrk="1" hangingPunct="1"/>
            <a:r>
              <a:rPr lang="en-US" altLang="en-US" dirty="0"/>
              <a:t>Contents of data members of the actual parameter are copied into the corresponding data members of the formal parameter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 Parameters and Class Objects (Variables) (1 of 2)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09808"/>
          </a:xfrm>
        </p:spPr>
        <p:txBody>
          <a:bodyPr/>
          <a:lstStyle/>
          <a:p>
            <a:pPr eaLnBrk="1" hangingPunct="1"/>
            <a:r>
              <a:rPr lang="en-US" altLang="en-US" dirty="0"/>
              <a:t>Passing by value might require a large amount of storage space and a considerable amount of computer time to copy the value of the actual parameter into the formal parameter</a:t>
            </a:r>
          </a:p>
          <a:p>
            <a:pPr eaLnBrk="1" hangingPunct="1"/>
            <a:r>
              <a:rPr lang="en-US" altLang="en-US" dirty="0"/>
              <a:t>If a variable is passed by reference:</a:t>
            </a:r>
          </a:p>
          <a:p>
            <a:pPr lvl="1" eaLnBrk="1" hangingPunct="1"/>
            <a:r>
              <a:rPr lang="en-US" altLang="en-US" dirty="0"/>
              <a:t>The formal parameter receives only the address of the actual parameter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Reference Parameters and Class Objects (Variables) (2 of 2)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239185"/>
          </a:xfrm>
        </p:spPr>
        <p:txBody>
          <a:bodyPr/>
          <a:lstStyle/>
          <a:p>
            <a:pPr eaLnBrk="1" hangingPunct="1"/>
            <a:r>
              <a:rPr lang="en-US" altLang="en-US" dirty="0"/>
              <a:t>Pass by reference is an efficient way to pass a variable as a parameter</a:t>
            </a:r>
          </a:p>
          <a:p>
            <a:pPr lvl="1" eaLnBrk="1" hangingPunct="1"/>
            <a:r>
              <a:rPr lang="en-US" altLang="en-US" dirty="0"/>
              <a:t>Problem: when passing by reference, the actual parameter changes when the formal parameter changes</a:t>
            </a:r>
          </a:p>
          <a:p>
            <a:pPr lvl="1" eaLnBrk="1" hangingPunct="1"/>
            <a:r>
              <a:rPr lang="en-US" altLang="en-US" dirty="0"/>
              <a:t>Solution: use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const</a:t>
            </a:r>
            <a:r>
              <a:rPr lang="en-US" altLang="en-US" dirty="0"/>
              <a:t> in the formal parameter declaration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(1 of 4)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77328"/>
          </a:xfrm>
        </p:spPr>
        <p:txBody>
          <a:bodyPr/>
          <a:lstStyle/>
          <a:p>
            <a:pPr eaLnBrk="1" hangingPunct="1"/>
            <a:r>
              <a:rPr lang="en-US" altLang="en-US" dirty="0"/>
              <a:t>Must write the code for functions defined as function prototypes</a:t>
            </a:r>
          </a:p>
          <a:p>
            <a:pPr eaLnBrk="1" hangingPunct="1"/>
            <a:r>
              <a:rPr lang="en-US" altLang="en-US" dirty="0"/>
              <a:t>Prototypes are left in the class to keep the class smaller and to hide the implementation</a:t>
            </a:r>
          </a:p>
          <a:p>
            <a:pPr eaLnBrk="1" hangingPunct="1"/>
            <a:r>
              <a:rPr lang="en-US" altLang="en-US" dirty="0"/>
              <a:t>To access identifiers local to the class, use the </a:t>
            </a:r>
            <a:r>
              <a:rPr lang="en-US" altLang="en-US" u="sng" dirty="0"/>
              <a:t>scope resolution operator</a:t>
            </a:r>
            <a:r>
              <a:rPr lang="en-US" altLang="en-US" dirty="0"/>
              <a:t>, 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</a:t>
            </a:r>
            <a:r>
              <a:rPr lang="en-US" altLang="en-US" dirty="0"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endParaRPr lang="en-US" altLang="en-US" dirty="0"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(2 of 4)</a:t>
            </a:r>
          </a:p>
        </p:txBody>
      </p:sp>
      <p:pic>
        <p:nvPicPr>
          <p:cNvPr id="34823" name="Picture 7" descr="Figure 10-4 shows the values of myClock and yourClock before and after executing the statement myClock.setTime(3, 48, 52)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90750"/>
            <a:ext cx="6400800" cy="186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1600" y="4058548"/>
            <a:ext cx="6949440" cy="504369"/>
          </a:xfrm>
        </p:spPr>
        <p:txBody>
          <a:bodyPr/>
          <a:lstStyle/>
          <a:p>
            <a:pPr marL="1030288" indent="-1030288"/>
            <a:r>
              <a:rPr lang="en-US" b="1" dirty="0"/>
              <a:t>FIGURE 10-4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myClock</a:t>
            </a:r>
            <a:r>
              <a:rPr lang="en-US" b="1" dirty="0"/>
              <a:t> </a:t>
            </a:r>
            <a:r>
              <a:rPr lang="en-US" dirty="0"/>
              <a:t>before and after executing the statement 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myClock.setTime(3, 48, 52);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(3 of 4)</a:t>
            </a:r>
          </a:p>
        </p:txBody>
      </p:sp>
      <p:pic>
        <p:nvPicPr>
          <p:cNvPr id="35849" name="Picture 9" descr="Figure 10-5 shows objects myClock and yourCloc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43050"/>
            <a:ext cx="6400800" cy="14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62000" y="2966100"/>
            <a:ext cx="6949440" cy="297004"/>
          </a:xfrm>
        </p:spPr>
        <p:txBody>
          <a:bodyPr/>
          <a:lstStyle/>
          <a:p>
            <a:r>
              <a:rPr lang="en-US" b="1" dirty="0"/>
              <a:t>FIGURE 10-5 </a:t>
            </a:r>
            <a:r>
              <a:rPr lang="en-US" dirty="0"/>
              <a:t>Objects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5850" name="Picture 10" descr="Figure 10-6 illustrates the object myClock and the parameter otherClock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6400800" cy="1500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3" name="Text Placeholder 2"/>
          <p:cNvSpPr txBox="1">
            <a:spLocks/>
          </p:cNvSpPr>
          <p:nvPr/>
        </p:nvSpPr>
        <p:spPr>
          <a:xfrm>
            <a:off x="762000" y="5234777"/>
            <a:ext cx="6949440" cy="299697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None/>
              <a:defRPr sz="1400" b="0" kern="1200">
                <a:solidFill>
                  <a:srgbClr val="6A6466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1" dirty="0"/>
              <a:t>FIGURE 10-6 </a:t>
            </a:r>
            <a:r>
              <a:rPr lang="en-US" dirty="0"/>
              <a:t>Object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myClock</a:t>
            </a:r>
            <a:r>
              <a:rPr lang="en-US" b="1" dirty="0"/>
              <a:t> </a:t>
            </a:r>
            <a:r>
              <a:rPr lang="en-US" dirty="0"/>
              <a:t>and parameter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otherClock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Member Functions (4 of 4)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24373"/>
          </a:xfrm>
        </p:spPr>
        <p:txBody>
          <a:bodyPr/>
          <a:lstStyle/>
          <a:p>
            <a:pPr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Once a class is properly defined and implemented, it can be used in a program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A program that uses/manipulates objects of a class is called a </a:t>
            </a:r>
            <a:r>
              <a:rPr lang="en-US" altLang="en-US" u="sng" dirty="0"/>
              <a:t>client</a:t>
            </a:r>
            <a:r>
              <a:rPr lang="en-US" altLang="en-US" b="1" dirty="0"/>
              <a:t> </a:t>
            </a:r>
            <a:r>
              <a:rPr lang="en-US" altLang="en-US" dirty="0"/>
              <a:t>of that class</a:t>
            </a:r>
          </a:p>
          <a:p>
            <a:pPr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When you declare objects of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b="1" dirty="0">
                <a:latin typeface="Courier New" pitchFamily="49" charset="0"/>
              </a:rPr>
              <a:t> clockType</a:t>
            </a:r>
            <a:r>
              <a:rPr lang="en-US" altLang="en-US" dirty="0"/>
              <a:t>, each object has its own copy of the member variables (</a:t>
            </a:r>
            <a:r>
              <a:rPr lang="en-US" altLang="en-US" b="1" dirty="0">
                <a:latin typeface="Courier New" pitchFamily="49" charset="0"/>
              </a:rPr>
              <a:t>hr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min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itchFamily="49" charset="0"/>
              </a:rPr>
              <a:t>sec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  <a:buFont typeface="Arial" pitchFamily="34" charset="0"/>
              <a:buChar char="•"/>
            </a:pPr>
            <a:r>
              <a:rPr lang="en-US" altLang="en-US" dirty="0"/>
              <a:t>These variables are called </a:t>
            </a:r>
            <a:r>
              <a:rPr lang="en-US" altLang="en-US" u="sng" dirty="0"/>
              <a:t>instance variables </a:t>
            </a:r>
            <a:r>
              <a:rPr lang="en-US" altLang="en-US" dirty="0"/>
              <a:t>of the class</a:t>
            </a:r>
          </a:p>
          <a:p>
            <a:pPr lvl="1" eaLnBrk="1" hangingPunct="1">
              <a:lnSpc>
                <a:spcPct val="98000"/>
              </a:lnSpc>
              <a:spcBef>
                <a:spcPct val="18000"/>
              </a:spcBef>
            </a:pPr>
            <a:r>
              <a:rPr lang="en-US" altLang="en-US" dirty="0"/>
              <a:t>Every object has its own copy of the data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Accessor and Mutator Functions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49901"/>
          </a:xfrm>
        </p:spPr>
        <p:txBody>
          <a:bodyPr/>
          <a:lstStyle/>
          <a:p>
            <a:r>
              <a:rPr lang="en-US" altLang="en-US" u="sng" dirty="0"/>
              <a:t>Accessor function</a:t>
            </a:r>
            <a:r>
              <a:rPr lang="en-US" altLang="en-US" dirty="0"/>
              <a:t>: member function that only accesses the value(s) of member variable(s)</a:t>
            </a:r>
          </a:p>
          <a:p>
            <a:r>
              <a:rPr lang="en-US" altLang="en-US" u="sng" dirty="0"/>
              <a:t>Mutator function</a:t>
            </a:r>
            <a:r>
              <a:rPr lang="en-US" altLang="en-US" dirty="0"/>
              <a:t>: member function that modifies the value(s) of member variable(s)</a:t>
            </a:r>
          </a:p>
          <a:p>
            <a:r>
              <a:rPr lang="en-US" altLang="en-US" dirty="0"/>
              <a:t>Constant member function</a:t>
            </a:r>
          </a:p>
          <a:p>
            <a:pPr lvl="1"/>
            <a:r>
              <a:rPr lang="en-US" altLang="en-US" dirty="0"/>
              <a:t>Member function that cannot modify member variables of that class</a:t>
            </a:r>
          </a:p>
          <a:p>
            <a:pPr lvl="1"/>
            <a:r>
              <a:rPr lang="en-US" altLang="en-US" dirty="0"/>
              <a:t>Member function heading with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dirty="0"/>
              <a:t> at the end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</a:t>
            </a:r>
            <a:r>
              <a:rPr lang="en-US" altLang="en-US" dirty="0">
                <a:latin typeface="Courier New" pitchFamily="49" charset="0"/>
              </a:rPr>
              <a:t>public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</a:rPr>
              <a:t>private</a:t>
            </a:r>
            <a:r>
              <a:rPr lang="en-US" altLang="en-US" dirty="0"/>
              <a:t> Members of a Class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481175"/>
          </a:xfrm>
        </p:spPr>
        <p:txBody>
          <a:bodyPr/>
          <a:lstStyle/>
          <a:p>
            <a:pPr eaLnBrk="1" hangingPunct="1"/>
            <a:r>
              <a:rPr lang="en-US" altLang="en-US" dirty="0"/>
              <a:t>C++ has no fixed order in which to declare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members</a:t>
            </a:r>
          </a:p>
          <a:p>
            <a:pPr eaLnBrk="1" hangingPunct="1"/>
            <a:r>
              <a:rPr lang="en-US" altLang="en-US" dirty="0"/>
              <a:t>By default, all members of a class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</a:p>
          <a:p>
            <a:pPr eaLnBrk="1" hangingPunct="1"/>
            <a:r>
              <a:rPr lang="en-US" altLang="en-US" dirty="0"/>
              <a:t>Use the member access specifier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to make a member available for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access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(1 of 2)</a:t>
            </a: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45312"/>
          </a:xfrm>
        </p:spPr>
        <p:txBody>
          <a:bodyPr/>
          <a:lstStyle/>
          <a:p>
            <a:pPr eaLnBrk="1" hangingPunct="1"/>
            <a:r>
              <a:rPr lang="en-US" altLang="en-US" dirty="0"/>
              <a:t>Use constructors to guarantee that member variables of a class are initialized</a:t>
            </a:r>
          </a:p>
          <a:p>
            <a:pPr eaLnBrk="1" hangingPunct="1"/>
            <a:r>
              <a:rPr lang="en-US" altLang="en-US" dirty="0"/>
              <a:t>Two types of constructors</a:t>
            </a:r>
          </a:p>
          <a:p>
            <a:pPr lvl="1" eaLnBrk="1" hangingPunct="1"/>
            <a:r>
              <a:rPr lang="en-US" altLang="en-US" dirty="0"/>
              <a:t>With parameters </a:t>
            </a:r>
          </a:p>
          <a:p>
            <a:pPr lvl="1" eaLnBrk="1" hangingPunct="1"/>
            <a:r>
              <a:rPr lang="en-US" altLang="en-US" dirty="0"/>
              <a:t>Without parameters (</a:t>
            </a:r>
            <a:r>
              <a:rPr lang="en-US" altLang="en-US" u="sng" dirty="0"/>
              <a:t>default constructor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Other properties of constructors</a:t>
            </a:r>
          </a:p>
          <a:p>
            <a:pPr lvl="1" eaLnBrk="1" hangingPunct="1"/>
            <a:r>
              <a:rPr lang="en-US" altLang="en-US" dirty="0"/>
              <a:t>Name of a constructor is the same as the  name of the class</a:t>
            </a:r>
          </a:p>
          <a:p>
            <a:pPr lvl="1" eaLnBrk="1" hangingPunct="1"/>
            <a:r>
              <a:rPr lang="en-US" altLang="en-US" dirty="0"/>
              <a:t>A constructor has no type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(2 of 2)</a:t>
            </a:r>
          </a:p>
        </p:txBody>
      </p:sp>
      <p:sp>
        <p:nvSpPr>
          <p:cNvPr id="4096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pPr eaLnBrk="1" hangingPunct="1"/>
            <a:r>
              <a:rPr lang="en-US" altLang="en-US" dirty="0"/>
              <a:t>A class can have more than one constructor</a:t>
            </a:r>
          </a:p>
          <a:p>
            <a:pPr lvl="1" eaLnBrk="1" hangingPunct="1"/>
            <a:r>
              <a:rPr lang="en-US" altLang="en-US" dirty="0"/>
              <a:t>Each must have a different formal parameter list</a:t>
            </a:r>
          </a:p>
          <a:p>
            <a:pPr eaLnBrk="1" hangingPunct="1"/>
            <a:r>
              <a:rPr lang="en-US" altLang="en-US" dirty="0"/>
              <a:t>Constructors execute automatically when a class object enters its scope</a:t>
            </a:r>
          </a:p>
          <a:p>
            <a:pPr lvl="1"/>
            <a:r>
              <a:rPr lang="en-US" altLang="en-US" dirty="0"/>
              <a:t>They cannot be called like other functions</a:t>
            </a:r>
          </a:p>
          <a:p>
            <a:pPr eaLnBrk="1" hangingPunct="1"/>
            <a:r>
              <a:rPr lang="en-US" altLang="en-US" dirty="0"/>
              <a:t>Which constructor executes depends on the types of values passed to the class object when the class object is declared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a Constructor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constructor is automatically executed when a class variable is declared</a:t>
            </a:r>
          </a:p>
          <a:p>
            <a:pPr eaLnBrk="1" hangingPunct="1"/>
            <a:r>
              <a:rPr lang="en-US" altLang="en-US" dirty="0"/>
              <a:t>Because a class may have more than one constructor, you can invoke a specific constructor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the Default Constructor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Syntax to invoke the default constructor is:</a:t>
            </a:r>
          </a:p>
        </p:txBody>
      </p:sp>
      <p:pic>
        <p:nvPicPr>
          <p:cNvPr id="43015" name="Picture 7" descr="className classObjectName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36004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667000"/>
            <a:ext cx="8415338" cy="1838965"/>
          </a:xfrm>
        </p:spPr>
        <p:txBody>
          <a:bodyPr/>
          <a:lstStyle/>
          <a:p>
            <a:r>
              <a:rPr lang="en-US" altLang="en-US" dirty="0"/>
              <a:t>The statement:</a:t>
            </a:r>
          </a:p>
          <a:p>
            <a:pPr marL="228600" lvl="1" indent="0">
              <a:buNone/>
            </a:pPr>
            <a:r>
              <a:rPr lang="en-US" altLang="en-US" b="1" dirty="0">
                <a:latin typeface="Courier New" pitchFamily="49" charset="0"/>
              </a:rPr>
              <a:t>clockType yourClock;</a:t>
            </a:r>
          </a:p>
          <a:p>
            <a:pPr marL="228600" lvl="1" indent="0">
              <a:buNone/>
            </a:pPr>
            <a:r>
              <a:rPr lang="en-US" altLang="en-US" dirty="0"/>
              <a:t>declares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yourClock</a:t>
            </a:r>
            <a:r>
              <a:rPr lang="en-US" altLang="en-US" dirty="0"/>
              <a:t> to be an object of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clockType</a:t>
            </a:r>
            <a:r>
              <a:rPr lang="en-US" altLang="en-US" dirty="0">
                <a:cs typeface="Courier New" panose="02070309020205020404" pitchFamily="49" charset="0"/>
              </a:rPr>
              <a:t> and the default constructor executes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buNone/>
            </a:pPr>
            <a:r>
              <a:rPr lang="en-US" altLang="en-US" b="1" dirty="0">
                <a:latin typeface="Courier New" pitchFamily="49" charset="0"/>
              </a:rPr>
              <a:t>	</a:t>
            </a:r>
            <a:br>
              <a:rPr lang="en-US" altLang="en-US" b="1" dirty="0">
                <a:latin typeface="Courier New" pitchFamily="49" charset="0"/>
              </a:rPr>
            </a:br>
            <a:endParaRPr lang="en-US" altLang="en-US" b="1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Invoking a Constructor with Parameters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The syntax to invoke a constructor with a parameter is:</a:t>
            </a:r>
            <a:endParaRPr lang="en-US" altLang="en-US" dirty="0"/>
          </a:p>
        </p:txBody>
      </p:sp>
      <p:pic>
        <p:nvPicPr>
          <p:cNvPr id="44039" name="Picture 7" descr="className classObjectName(argument1, argument2, ...)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69627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590801"/>
            <a:ext cx="8415338" cy="1371600"/>
          </a:xfrm>
        </p:spPr>
        <p:txBody>
          <a:bodyPr/>
          <a:lstStyle/>
          <a:p>
            <a:r>
              <a:rPr lang="en-US" altLang="en-US" dirty="0"/>
              <a:t>Number and type of arguments should match the formal parameters (in the order given) of one of the constructors</a:t>
            </a:r>
          </a:p>
          <a:p>
            <a:pPr lvl="1"/>
            <a:r>
              <a:rPr lang="en-US" altLang="en-US" dirty="0"/>
              <a:t>Otherwise, C++ uses type conversion and looks for the best match</a:t>
            </a:r>
          </a:p>
          <a:p>
            <a:pPr lvl="1"/>
            <a:r>
              <a:rPr lang="en-US" altLang="en-US" dirty="0"/>
              <a:t>Any ambiguity causes a compile-time error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Constructors and Default Parameters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14480"/>
          </a:xfrm>
        </p:spPr>
        <p:txBody>
          <a:bodyPr/>
          <a:lstStyle/>
          <a:p>
            <a:pPr eaLnBrk="1" hangingPunct="1"/>
            <a:r>
              <a:rPr lang="en-US" altLang="en-US" dirty="0"/>
              <a:t>A constructor can have default parameters</a:t>
            </a:r>
          </a:p>
          <a:p>
            <a:pPr lvl="1" eaLnBrk="1" hangingPunct="1"/>
            <a:r>
              <a:rPr lang="en-US" altLang="en-US" dirty="0"/>
              <a:t>Rules for declaring formal parameters are the same as for declaring default formal parameters in a function</a:t>
            </a:r>
          </a:p>
          <a:p>
            <a:pPr lvl="1" eaLnBrk="1" hangingPunct="1"/>
            <a:r>
              <a:rPr lang="en-US" altLang="en-US" dirty="0"/>
              <a:t>Actual parameters are passed according to the same rules for functions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u="sng" dirty="0"/>
              <a:t>default constructor</a:t>
            </a:r>
            <a:r>
              <a:rPr lang="en-US" altLang="en-US" dirty="0"/>
              <a:t> is a constructor with no parameters or with all default parameters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Classes and Constructors: A Precaution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51331"/>
          </a:xfrm>
        </p:spPr>
        <p:txBody>
          <a:bodyPr/>
          <a:lstStyle/>
          <a:p>
            <a:pPr eaLnBrk="1" hangingPunct="1"/>
            <a:r>
              <a:rPr lang="en-US" altLang="en-US" dirty="0"/>
              <a:t>If a class has no constructor(s), C++ provides the default constructor</a:t>
            </a:r>
          </a:p>
          <a:p>
            <a:pPr lvl="1" eaLnBrk="1" hangingPunct="1"/>
            <a:r>
              <a:rPr lang="en-US" altLang="en-US" dirty="0"/>
              <a:t>However, the object declared is still uninitialized</a:t>
            </a:r>
          </a:p>
          <a:p>
            <a:pPr eaLnBrk="1" hangingPunct="1"/>
            <a:r>
              <a:rPr lang="en-US" altLang="en-US" dirty="0"/>
              <a:t>If a class includes constructor(s) with parameter(s), but not the default constructor</a:t>
            </a:r>
          </a:p>
          <a:p>
            <a:pPr lvl="1" eaLnBrk="1" hangingPunct="1"/>
            <a:r>
              <a:rPr lang="en-US" altLang="en-US" dirty="0"/>
              <a:t>C++ does not provide the default constructor</a:t>
            </a:r>
          </a:p>
          <a:p>
            <a:pPr lvl="1" eaLnBrk="1" hangingPunct="1"/>
            <a:r>
              <a:rPr lang="en-US" altLang="en-US" dirty="0"/>
              <a:t>Appropriate arguments must be included when the object is declared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/>
              <a:t>In-line Initialization of Data Members and the Default Constructor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74387"/>
          </a:xfrm>
        </p:spPr>
        <p:txBody>
          <a:bodyPr/>
          <a:lstStyle/>
          <a:p>
            <a:pPr eaLnBrk="1" hangingPunct="1"/>
            <a:r>
              <a:rPr lang="en-US" altLang="en-US" dirty="0"/>
              <a:t>C++11 standard allows member initialization in class declarations</a:t>
            </a:r>
          </a:p>
          <a:p>
            <a:pPr lvl="1"/>
            <a:r>
              <a:rPr lang="en-US" altLang="en-US" dirty="0"/>
              <a:t>Called in-line initialization of the data members</a:t>
            </a:r>
          </a:p>
          <a:p>
            <a:r>
              <a:rPr lang="en-US" altLang="en-US" dirty="0"/>
              <a:t>When an object is declared without parameters, then the object is initialized with the in-line initialized values</a:t>
            </a:r>
          </a:p>
          <a:p>
            <a:pPr lvl="1"/>
            <a:r>
              <a:rPr lang="en-US" altLang="en-US" dirty="0"/>
              <a:t>If declared with parameters, then the default values are overridden by the constructor with the parameters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Arrays of Class Objects (Variables) and Constructors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371145"/>
          </a:xfrm>
        </p:spPr>
        <p:txBody>
          <a:bodyPr/>
          <a:lstStyle/>
          <a:p>
            <a:pPr eaLnBrk="1" hangingPunct="1"/>
            <a:r>
              <a:rPr lang="en-US" altLang="en-US" dirty="0"/>
              <a:t>If you declare an array of class objects, the class should have the default constructor</a:t>
            </a:r>
          </a:p>
          <a:p>
            <a:pPr lvl="1"/>
            <a:r>
              <a:rPr lang="en-US" altLang="en-US" dirty="0"/>
              <a:t>The default constructor is typically used to initialize each (array) class object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Destructors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57678"/>
          </a:xfrm>
        </p:spPr>
        <p:txBody>
          <a:bodyPr/>
          <a:lstStyle/>
          <a:p>
            <a:r>
              <a:rPr lang="en-US" dirty="0"/>
              <a:t>Destructors are functions without any type</a:t>
            </a:r>
          </a:p>
          <a:p>
            <a:r>
              <a:rPr lang="en-US" dirty="0"/>
              <a:t>A class can have only one destructor</a:t>
            </a:r>
          </a:p>
          <a:p>
            <a:pPr lvl="1"/>
            <a:r>
              <a:rPr lang="en-US" dirty="0"/>
              <a:t>The destructor has no parameters</a:t>
            </a:r>
          </a:p>
          <a:p>
            <a:r>
              <a:rPr lang="en-US" dirty="0"/>
              <a:t>The name of a destructor is the tilde character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/>
              <a:t>) followed by the class name</a:t>
            </a:r>
          </a:p>
          <a:p>
            <a:pPr lvl="1"/>
            <a:r>
              <a:rPr lang="en-US" dirty="0"/>
              <a:t>Example: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~clockType();</a:t>
            </a:r>
          </a:p>
          <a:p>
            <a:r>
              <a:rPr lang="en-US" dirty="0"/>
              <a:t>The destructor automatically executes when the class object goes out of scope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Data Abstract, Classes, and Abstract Data Types</a:t>
            </a:r>
          </a:p>
        </p:txBody>
      </p:sp>
      <p:sp>
        <p:nvSpPr>
          <p:cNvPr id="5017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070345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Abstraction</a:t>
            </a:r>
          </a:p>
          <a:p>
            <a:pPr lvl="1" eaLnBrk="1" hangingPunct="1"/>
            <a:r>
              <a:rPr lang="en-US" altLang="en-US" dirty="0"/>
              <a:t>Separating design details from usage</a:t>
            </a:r>
          </a:p>
          <a:p>
            <a:pPr lvl="1" eaLnBrk="1" hangingPunct="1"/>
            <a:r>
              <a:rPr lang="en-US" altLang="en-US" dirty="0"/>
              <a:t>Separating the logical properties from the implementation details</a:t>
            </a:r>
          </a:p>
          <a:p>
            <a:pPr eaLnBrk="1" hangingPunct="1"/>
            <a:r>
              <a:rPr lang="en-US" altLang="en-US" dirty="0"/>
              <a:t>Abstraction also applicable to data</a:t>
            </a:r>
          </a:p>
          <a:p>
            <a:pPr eaLnBrk="1" hangingPunct="1"/>
            <a:r>
              <a:rPr lang="en-US" altLang="en-US" u="sng" dirty="0"/>
              <a:t>Abstract data type (ADT)</a:t>
            </a:r>
            <a:r>
              <a:rPr lang="en-US" altLang="en-US" dirty="0"/>
              <a:t>: a data type that separates the logical properties from the implementation details</a:t>
            </a:r>
          </a:p>
          <a:p>
            <a:pPr eaLnBrk="1" hangingPunct="1"/>
            <a:r>
              <a:rPr lang="en-US" altLang="en-US" dirty="0"/>
              <a:t>Three things associated with an ADT</a:t>
            </a:r>
          </a:p>
          <a:p>
            <a:pPr lvl="1"/>
            <a:r>
              <a:rPr lang="en-US" altLang="en-US" u="sng" dirty="0"/>
              <a:t>Type name</a:t>
            </a:r>
            <a:r>
              <a:rPr lang="en-US" altLang="en-US" dirty="0"/>
              <a:t>: the name of the ADT</a:t>
            </a:r>
          </a:p>
          <a:p>
            <a:pPr lvl="1"/>
            <a:r>
              <a:rPr lang="en-US" altLang="en-US" u="sng" dirty="0"/>
              <a:t>Domain</a:t>
            </a:r>
            <a:r>
              <a:rPr lang="en-US" altLang="en-US" dirty="0"/>
              <a:t>: the set of values belonging to the ADT</a:t>
            </a:r>
          </a:p>
          <a:p>
            <a:pPr lvl="1"/>
            <a:r>
              <a:rPr lang="en-US" altLang="en-US" dirty="0"/>
              <a:t>Set of </a:t>
            </a:r>
            <a:r>
              <a:rPr lang="en-US" altLang="en-US" u="sng" dirty="0"/>
              <a:t>operations</a:t>
            </a:r>
            <a:r>
              <a:rPr lang="en-US" altLang="en-US" dirty="0"/>
              <a:t> on the data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dirty="0">
                <a:latin typeface="Courier New" pitchFamily="49" charset="0"/>
              </a:rPr>
              <a:t>struct</a:t>
            </a:r>
            <a:r>
              <a:rPr lang="en-US" altLang="en-US" dirty="0"/>
              <a:t> versus a </a:t>
            </a:r>
            <a:r>
              <a:rPr lang="en-US" altLang="en-US" dirty="0">
                <a:latin typeface="Courier New" pitchFamily="49" charset="0"/>
              </a:rPr>
              <a:t>class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dirty="0"/>
              <a:t>(1 of 2)</a:t>
            </a:r>
          </a:p>
        </p:txBody>
      </p:sp>
      <p:sp>
        <p:nvSpPr>
          <p:cNvPr id="5120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525033"/>
          </a:xfrm>
        </p:spPr>
        <p:txBody>
          <a:bodyPr/>
          <a:lstStyle/>
          <a:p>
            <a:pPr eaLnBrk="1" hangingPunct="1"/>
            <a:r>
              <a:rPr lang="en-US" altLang="en-US" dirty="0"/>
              <a:t>By default, members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</a:p>
          <a:p>
            <a:pPr lvl="1"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 specifier can be used in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to make a member private</a:t>
            </a:r>
          </a:p>
          <a:p>
            <a:pPr eaLnBrk="1" hangingPunct="1"/>
            <a:r>
              <a:rPr lang="en-US" altLang="en-US" dirty="0"/>
              <a:t>By default, the members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es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s have the same capabilities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dirty="0">
                <a:latin typeface="Courier New" pitchFamily="49" charset="0"/>
              </a:rPr>
              <a:t>struct</a:t>
            </a:r>
            <a:r>
              <a:rPr lang="en-US" altLang="en-US" dirty="0"/>
              <a:t> versus a </a:t>
            </a:r>
            <a:r>
              <a:rPr lang="en-US" altLang="en-US" dirty="0">
                <a:latin typeface="Courier New" pitchFamily="49" charset="0"/>
              </a:rPr>
              <a:t>class</a:t>
            </a:r>
            <a:r>
              <a:rPr lang="en-US" altLang="en-US" dirty="0"/>
              <a:t> (2 of 2)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63532"/>
          </a:xfrm>
        </p:spPr>
        <p:txBody>
          <a:bodyPr/>
          <a:lstStyle/>
          <a:p>
            <a:pPr eaLnBrk="1" hangingPunct="1"/>
            <a:r>
              <a:rPr lang="en-US" altLang="en-US" dirty="0"/>
              <a:t>In C++, the definition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  <a:r>
              <a:rPr lang="en-US" altLang="en-US" dirty="0"/>
              <a:t> was expanded to include member functions, constructors, and destructors</a:t>
            </a:r>
          </a:p>
          <a:p>
            <a:pPr eaLnBrk="1" hangingPunct="1"/>
            <a:r>
              <a:rPr lang="en-US" altLang="en-US" dirty="0"/>
              <a:t>If all member variables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r>
              <a:rPr lang="en-US" altLang="en-US" dirty="0"/>
              <a:t> and there are no member functions:</a:t>
            </a:r>
          </a:p>
          <a:p>
            <a:pPr lvl="1" eaLnBrk="1" hangingPunct="1"/>
            <a:r>
              <a:rPr lang="en-US" altLang="en-US" dirty="0"/>
              <a:t>Use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struct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Information Hiding (1 of 3)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236271"/>
          </a:xfrm>
        </p:spPr>
        <p:txBody>
          <a:bodyPr/>
          <a:lstStyle/>
          <a:p>
            <a:r>
              <a:rPr lang="en-US" dirty="0"/>
              <a:t>Information hiding refers to hiding the details of the operations on the data</a:t>
            </a:r>
          </a:p>
          <a:p>
            <a:r>
              <a:rPr lang="en-US" dirty="0"/>
              <a:t>The </a:t>
            </a:r>
            <a:r>
              <a:rPr lang="en-US" u="sng" dirty="0"/>
              <a:t>header file</a:t>
            </a:r>
            <a:r>
              <a:rPr lang="en-US" dirty="0"/>
              <a:t> (or </a:t>
            </a:r>
            <a:r>
              <a:rPr lang="en-US" u="sng" dirty="0"/>
              <a:t>interface file</a:t>
            </a:r>
            <a:r>
              <a:rPr lang="en-US" dirty="0"/>
              <a:t>) contains the specification details</a:t>
            </a:r>
          </a:p>
          <a:p>
            <a:pPr lvl="1"/>
            <a:r>
              <a:rPr lang="en-US" dirty="0"/>
              <a:t>The header file has an extension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</a:p>
          <a:p>
            <a:r>
              <a:rPr lang="en-US" dirty="0"/>
              <a:t>The implementation file contains the definitions of the functions to implement the operations of an object</a:t>
            </a:r>
          </a:p>
          <a:p>
            <a:pPr lvl="1"/>
            <a:r>
              <a:rPr lang="en-US" dirty="0"/>
              <a:t>This file has an extension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</a:p>
          <a:p>
            <a:r>
              <a:rPr lang="en-US" dirty="0"/>
              <a:t>In the header file, include function prototypes and comments that briefly describe the functions</a:t>
            </a:r>
          </a:p>
          <a:p>
            <a:pPr lvl="1"/>
            <a:r>
              <a:rPr lang="en-US" dirty="0"/>
              <a:t>Specify preconditions and/or postconditions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Information Hiding (2 of 3)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file must include the header file via the </a:t>
            </a:r>
            <a:r>
              <a:rPr lang="en-US" altLang="en-US" b="1" dirty="0">
                <a:latin typeface="Courier New" pitchFamily="49" charset="0"/>
              </a:rPr>
              <a:t>include</a:t>
            </a:r>
            <a:r>
              <a:rPr lang="en-US" altLang="en-US" dirty="0"/>
              <a:t> statement</a:t>
            </a:r>
          </a:p>
          <a:p>
            <a:pPr eaLnBrk="1" hangingPunct="1"/>
            <a:r>
              <a:rPr lang="en-US" altLang="en-US" dirty="0"/>
              <a:t>In the </a:t>
            </a:r>
            <a:r>
              <a:rPr lang="en-US" altLang="en-US" b="1" dirty="0">
                <a:latin typeface="Courier New" pitchFamily="49" charset="0"/>
              </a:rPr>
              <a:t>include</a:t>
            </a:r>
            <a:r>
              <a:rPr lang="en-US" altLang="en-US" dirty="0"/>
              <a:t> statement:</a:t>
            </a:r>
          </a:p>
          <a:p>
            <a:pPr lvl="1" eaLnBrk="1" hangingPunct="1"/>
            <a:r>
              <a:rPr lang="en-US" altLang="en-US" dirty="0"/>
              <a:t>User-defined header files are enclosed in double quotes </a:t>
            </a:r>
          </a:p>
          <a:p>
            <a:pPr lvl="1" eaLnBrk="1" hangingPunct="1"/>
            <a:r>
              <a:rPr lang="en-US" altLang="en-US" dirty="0"/>
              <a:t>System-provided header files are enclosed between angular brackets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Information Hiding (3 of 3)</a:t>
            </a:r>
          </a:p>
        </p:txBody>
      </p:sp>
      <p:sp>
        <p:nvSpPr>
          <p:cNvPr id="55299" name="Rectangle 4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323439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Precondition</a:t>
            </a:r>
            <a:r>
              <a:rPr lang="en-US" altLang="en-US" dirty="0"/>
              <a:t>: a statement specifying the condition(s) that must be true before the function is called</a:t>
            </a:r>
            <a:endParaRPr lang="en-US" altLang="en-US" b="1" dirty="0"/>
          </a:p>
          <a:p>
            <a:pPr eaLnBrk="1" hangingPunct="1"/>
            <a:r>
              <a:rPr lang="en-US" altLang="en-US" u="sng" dirty="0"/>
              <a:t>Postcondition</a:t>
            </a:r>
            <a:r>
              <a:rPr lang="en-US" altLang="en-US" dirty="0"/>
              <a:t>: a statement specifying what is true after the function call is completed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Executable Code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24369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To use an object in a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program must be able to access the implementation details of the object</a:t>
            </a:r>
          </a:p>
          <a:p>
            <a:r>
              <a:rPr lang="en-US" dirty="0"/>
              <a:t>IDEs Visual C++ Express (2013 or 2016) and Visual Studio 2015, and C++ Builder</a:t>
            </a:r>
            <a:r>
              <a:rPr lang="en-US" altLang="en-US" dirty="0"/>
              <a:t> put the editor, compiler, and linker into a package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One command (</a:t>
            </a:r>
            <a:r>
              <a:rPr lang="en-US" altLang="en-US" u="sng" dirty="0"/>
              <a:t>build</a:t>
            </a:r>
            <a:r>
              <a:rPr lang="en-US" altLang="en-US" dirty="0"/>
              <a:t>, </a:t>
            </a:r>
            <a:r>
              <a:rPr lang="en-US" altLang="en-US" u="sng" dirty="0"/>
              <a:t>rebuild</a:t>
            </a:r>
            <a:r>
              <a:rPr lang="en-US" altLang="en-US" dirty="0"/>
              <a:t>, or </a:t>
            </a:r>
            <a:r>
              <a:rPr lang="en-US" altLang="en-US" u="sng" dirty="0"/>
              <a:t>make</a:t>
            </a:r>
            <a:r>
              <a:rPr lang="en-US" altLang="en-US" dirty="0"/>
              <a:t>) compiles program and links it with the other necessary files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These systems also manage multiple file programs in the form of a project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738664"/>
          </a:xfrm>
        </p:spPr>
        <p:txBody>
          <a:bodyPr/>
          <a:lstStyle/>
          <a:p>
            <a:r>
              <a:rPr lang="en-US" dirty="0"/>
              <a:t>Various examples of classes and how to use them in a program are presented</a:t>
            </a:r>
          </a:p>
          <a:p>
            <a:r>
              <a:rPr lang="en-US" dirty="0"/>
              <a:t>Refer to Example 10-8 through Example 10-11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25947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37114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u="sng" dirty="0"/>
              <a:t>inline function definition</a:t>
            </a:r>
            <a:r>
              <a:rPr lang="en-US" dirty="0"/>
              <a:t> is a member function definition given completely in the definition of the class</a:t>
            </a:r>
          </a:p>
          <a:p>
            <a:pPr lvl="1"/>
            <a:r>
              <a:rPr lang="en-US" dirty="0"/>
              <a:t>Saves the overhead of a function invocation</a:t>
            </a:r>
          </a:p>
          <a:p>
            <a:r>
              <a:rPr lang="en-US" dirty="0"/>
              <a:t>Very short definitions should be defined as inline functions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745156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/>
              <a:t> Members of a Class (1 of 2)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62103"/>
          </a:xfrm>
        </p:spPr>
        <p:txBody>
          <a:bodyPr/>
          <a:lstStyle/>
          <a:p>
            <a:pPr eaLnBrk="1" hangingPunct="1"/>
            <a:r>
              <a:rPr lang="en-US" altLang="en-US" dirty="0"/>
              <a:t>Use the keyword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to declare a function or variable of a class as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 static </a:t>
            </a:r>
            <a:r>
              <a:rPr lang="en-US" altLang="en-US" dirty="0"/>
              <a:t>function or member of a class can be accessed using the class name and the scope resolution operator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member variables of a class exist even if no object of that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class</a:t>
            </a:r>
            <a:r>
              <a:rPr lang="en-US" altLang="en-US" dirty="0"/>
              <a:t> type exists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r>
              <a:rPr lang="en-US" altLang="en-US" dirty="0">
                <a:solidFill>
                  <a:srgbClr val="055C9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>
                <a:solidFill>
                  <a:srgbClr val="055C91"/>
                </a:solidFill>
              </a:rPr>
              <a:t> </a:t>
            </a:r>
            <a:r>
              <a:rPr lang="en-US" altLang="en-US" dirty="0"/>
              <a:t>Members of a Class (2 of 2)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objects of a class each have their own copy of non-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static</a:t>
            </a:r>
            <a:r>
              <a:rPr lang="en-US" altLang="en-US" dirty="0"/>
              <a:t> member variables</a:t>
            </a:r>
          </a:p>
          <a:p>
            <a:pPr eaLnBrk="1" hangingPunct="1"/>
            <a:r>
              <a:rPr lang="en-US" altLang="en-US" dirty="0"/>
              <a:t>All objects of a class share any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dirty="0"/>
              <a:t> member of the class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 Review (1 of 3)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is a collection of a fixed number of components</a:t>
            </a:r>
          </a:p>
          <a:p>
            <a:r>
              <a:rPr lang="en-US" altLang="en-US" dirty="0"/>
              <a:t>Components of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are called the members of the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</a:p>
          <a:p>
            <a:pPr lvl="1" eaLnBrk="1" hangingPunct="1"/>
            <a:r>
              <a:rPr lang="en-US" altLang="en-US" dirty="0"/>
              <a:t>Accessed by name</a:t>
            </a:r>
          </a:p>
          <a:p>
            <a:pPr lvl="1" eaLnBrk="1" hangingPunct="1"/>
            <a:r>
              <a:rPr lang="en-US" altLang="en-US" dirty="0"/>
              <a:t>Classified into one of three categories: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private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protected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public</a:t>
            </a:r>
            <a:endParaRPr lang="en-US" altLang="en-US" b="1" dirty="0">
              <a:solidFill>
                <a:srgbClr val="638DAD"/>
              </a:solidFill>
            </a:endParaRPr>
          </a:p>
          <a:p>
            <a:pPr eaLnBrk="1" hangingPunct="1"/>
            <a:r>
              <a:rPr lang="en-US" altLang="en-US" dirty="0"/>
              <a:t>In C++,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variables are called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objects or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dirty="0"/>
              <a:t> instances or, simply, objects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3)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97607"/>
          </a:xfrm>
        </p:spPr>
        <p:txBody>
          <a:bodyPr/>
          <a:lstStyle/>
          <a:p>
            <a:r>
              <a:rPr lang="en-US" dirty="0"/>
              <a:t>The only built-in operations on classes are assignment and member selection</a:t>
            </a:r>
          </a:p>
          <a:p>
            <a:r>
              <a:rPr lang="en-US" dirty="0"/>
              <a:t>Constructors guarantee that data members are initialized when an object is declared</a:t>
            </a:r>
          </a:p>
          <a:p>
            <a:pPr lvl="1"/>
            <a:r>
              <a:rPr lang="en-US" dirty="0"/>
              <a:t>A default constructor has no parameters</a:t>
            </a:r>
          </a:p>
          <a:p>
            <a:r>
              <a:rPr lang="en-US" dirty="0"/>
              <a:t>The destructor automatically executes when a class object goes out of scope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can have only one destructor</a:t>
            </a:r>
          </a:p>
          <a:p>
            <a:pPr lvl="1"/>
            <a:r>
              <a:rPr lang="en-US" dirty="0"/>
              <a:t>The destructor has no parameters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3)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08379"/>
          </a:xfrm>
        </p:spPr>
        <p:txBody>
          <a:bodyPr/>
          <a:lstStyle/>
          <a:p>
            <a:r>
              <a:rPr lang="en-US" dirty="0"/>
              <a:t>An abstract data type (ADT) is a data type that separates the logical properties from the implementation details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dirty="0"/>
              <a:t>member, function or data,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can be accessed using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name and the scope resolution operator,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</a:p>
          <a:p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/>
              <a:t> member variables of a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exist even when no object of the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type exists</a:t>
            </a:r>
          </a:p>
          <a:p>
            <a:r>
              <a:rPr lang="en-US" dirty="0"/>
              <a:t>Instance variables are non-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/>
              <a:t> data members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</TotalTime>
  <Words>4630</Words>
  <Application>Microsoft Office PowerPoint</Application>
  <PresentationFormat>On-screen Show (4:3)</PresentationFormat>
  <Paragraphs>336</Paragraphs>
  <Slides>48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Courier New</vt:lpstr>
      <vt:lpstr>Wingdings</vt:lpstr>
      <vt:lpstr>Malik_cpp</vt:lpstr>
      <vt:lpstr>Chapter 8</vt:lpstr>
      <vt:lpstr>Objectives (1 of 2)</vt:lpstr>
      <vt:lpstr>Objectives (2 of 2)</vt:lpstr>
      <vt:lpstr>Classes (1 of 4)</vt:lpstr>
      <vt:lpstr>Classes (2 of 4)</vt:lpstr>
      <vt:lpstr>Classes (3 of 4)</vt:lpstr>
      <vt:lpstr>Classes (4 of 4)</vt:lpstr>
      <vt:lpstr>Unified Modeling Language Class Diagrams (1 of 2)</vt:lpstr>
      <vt:lpstr>Unified Modeling Language Class Diagrams (2 of 2)</vt:lpstr>
      <vt:lpstr>Variable (Object) Declaration</vt:lpstr>
      <vt:lpstr>Accessing Class Members</vt:lpstr>
      <vt:lpstr>Built-in Operations on Classes</vt:lpstr>
      <vt:lpstr>Assignment Operator and Classes</vt:lpstr>
      <vt:lpstr>Class Scope (1 of 2)</vt:lpstr>
      <vt:lpstr>Class Scope (2 of 2)</vt:lpstr>
      <vt:lpstr>Functions and Classes</vt:lpstr>
      <vt:lpstr>Reference Parameters and Class Objects (Variables) (1 of 2)</vt:lpstr>
      <vt:lpstr>Reference Parameters and Class Objects (Variables) (2 of 2)</vt:lpstr>
      <vt:lpstr>Implementation of Member Functions (1 of 4)</vt:lpstr>
      <vt:lpstr>Implementation of Member Functions (2 of 4)</vt:lpstr>
      <vt:lpstr>Implementation of Member Functions (3 of 4)</vt:lpstr>
      <vt:lpstr>Implementation of Member Functions (4 of 4)</vt:lpstr>
      <vt:lpstr>Accessor and Mutator Functions</vt:lpstr>
      <vt:lpstr>Order of public and private Members of a Class</vt:lpstr>
      <vt:lpstr>Constructors (1 of 2)</vt:lpstr>
      <vt:lpstr>Constructors (2 of 2)</vt:lpstr>
      <vt:lpstr>Invoking a Constructor</vt:lpstr>
      <vt:lpstr>Invoking the Default Constructor</vt:lpstr>
      <vt:lpstr>Invoking a Constructor with Parameters</vt:lpstr>
      <vt:lpstr>Constructors and Default Parameters</vt:lpstr>
      <vt:lpstr>Classes and Constructors: A Precaution</vt:lpstr>
      <vt:lpstr>In-line Initialization of Data Members and the Default Constructor</vt:lpstr>
      <vt:lpstr>Arrays of Class Objects (Variables) and Constructors</vt:lpstr>
      <vt:lpstr>Destructors</vt:lpstr>
      <vt:lpstr>Data Abstract, Classes, and Abstract Data Types</vt:lpstr>
      <vt:lpstr>A struct versus a class (1 of 2)</vt:lpstr>
      <vt:lpstr>A struct versus a class (2 of 2)</vt:lpstr>
      <vt:lpstr>Information Hiding (1 of 3)</vt:lpstr>
      <vt:lpstr>Information Hiding (2 of 3)</vt:lpstr>
      <vt:lpstr>Information Hiding (3 of 3)</vt:lpstr>
      <vt:lpstr>Executable Code</vt:lpstr>
      <vt:lpstr>More Examples of Classes</vt:lpstr>
      <vt:lpstr>Inline Functions</vt:lpstr>
      <vt:lpstr>static Members of a Class (1 of 2)</vt:lpstr>
      <vt:lpstr>static Members of a Class (2 of 2)</vt:lpstr>
      <vt:lpstr>Quick Review (1 of 3)</vt:lpstr>
      <vt:lpstr>Quick Review (2 of 3)</vt:lpstr>
      <vt:lpstr>Quick Review (3 of 3)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267</cp:revision>
  <cp:lastPrinted>2009-04-22T19:24:48Z</cp:lastPrinted>
  <dcterms:created xsi:type="dcterms:W3CDTF">2002-08-17T01:02:10Z</dcterms:created>
  <dcterms:modified xsi:type="dcterms:W3CDTF">2020-01-06T07:40:19Z</dcterms:modified>
</cp:coreProperties>
</file>