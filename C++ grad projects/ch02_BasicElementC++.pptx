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8" r:id="rId1"/>
  </p:sldMasterIdLst>
  <p:notesMasterIdLst>
    <p:notesMasterId r:id="rId58"/>
  </p:notesMasterIdLst>
  <p:sldIdLst>
    <p:sldId id="375" r:id="rId2"/>
    <p:sldId id="261" r:id="rId3"/>
    <p:sldId id="379" r:id="rId4"/>
    <p:sldId id="378" r:id="rId5"/>
    <p:sldId id="362" r:id="rId6"/>
    <p:sldId id="364" r:id="rId7"/>
    <p:sldId id="365" r:id="rId8"/>
    <p:sldId id="366" r:id="rId9"/>
    <p:sldId id="367" r:id="rId10"/>
    <p:sldId id="262" r:id="rId11"/>
    <p:sldId id="263" r:id="rId12"/>
    <p:sldId id="326" r:id="rId13"/>
    <p:sldId id="265" r:id="rId14"/>
    <p:sldId id="385" r:id="rId15"/>
    <p:sldId id="386" r:id="rId16"/>
    <p:sldId id="267" r:id="rId17"/>
    <p:sldId id="268" r:id="rId18"/>
    <p:sldId id="330" r:id="rId19"/>
    <p:sldId id="270" r:id="rId20"/>
    <p:sldId id="271" r:id="rId21"/>
    <p:sldId id="272" r:id="rId22"/>
    <p:sldId id="273" r:id="rId23"/>
    <p:sldId id="274" r:id="rId24"/>
    <p:sldId id="275" r:id="rId25"/>
    <p:sldId id="370" r:id="rId26"/>
    <p:sldId id="389" r:id="rId27"/>
    <p:sldId id="277" r:id="rId28"/>
    <p:sldId id="371" r:id="rId29"/>
    <p:sldId id="279" r:id="rId30"/>
    <p:sldId id="296" r:id="rId31"/>
    <p:sldId id="331" r:id="rId32"/>
    <p:sldId id="297" r:id="rId33"/>
    <p:sldId id="387" r:id="rId34"/>
    <p:sldId id="333" r:id="rId35"/>
    <p:sldId id="299" r:id="rId36"/>
    <p:sldId id="350" r:id="rId37"/>
    <p:sldId id="352" r:id="rId38"/>
    <p:sldId id="282" r:id="rId39"/>
    <p:sldId id="286" r:id="rId40"/>
    <p:sldId id="287" r:id="rId41"/>
    <p:sldId id="302" r:id="rId42"/>
    <p:sldId id="388" r:id="rId43"/>
    <p:sldId id="305" r:id="rId44"/>
    <p:sldId id="306" r:id="rId45"/>
    <p:sldId id="334" r:id="rId46"/>
    <p:sldId id="383" r:id="rId47"/>
    <p:sldId id="384" r:id="rId48"/>
    <p:sldId id="374" r:id="rId49"/>
    <p:sldId id="377" r:id="rId50"/>
    <p:sldId id="390" r:id="rId51"/>
    <p:sldId id="391" r:id="rId52"/>
    <p:sldId id="392" r:id="rId53"/>
    <p:sldId id="393" r:id="rId54"/>
    <p:sldId id="327" r:id="rId55"/>
    <p:sldId id="328" r:id="rId56"/>
    <p:sldId id="329" r:id="rId5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7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89"/>
    <a:srgbClr val="3333FF"/>
    <a:srgbClr val="333399"/>
    <a:srgbClr val="B2B2B2"/>
    <a:srgbClr val="E8E8E8"/>
    <a:srgbClr val="EEEEEE"/>
    <a:srgbClr val="E2E2E2"/>
    <a:srgbClr val="EAEAEA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30" autoAdjust="0"/>
    <p:restoredTop sz="94624" autoAdjust="0"/>
  </p:normalViewPr>
  <p:slideViewPr>
    <p:cSldViewPr>
      <p:cViewPr varScale="1">
        <p:scale>
          <a:sx n="66" d="100"/>
          <a:sy n="66" d="100"/>
        </p:scale>
        <p:origin x="816" y="66"/>
      </p:cViewPr>
      <p:guideLst>
        <p:guide orient="horz" pos="912"/>
        <p:guide pos="7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319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9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9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9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CBB15E37-5440-44FA-9F38-A0EE893B4E2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333691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3CBD7E4-4266-4D0A-A6B3-D6EA169C3EF3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B807129-7F16-4A1C-9E43-63ACBFAC1725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581A3B0-5F89-4166-8D30-F2EC7D92FA26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1E46F8-E1A3-490B-A2F6-71230FE1668E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FAA7299-E621-4998-8F04-78A6A98D1400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ED1355D-9000-48AE-BB7A-34E29FC177EC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3F1E0CD-31FC-480E-B0CC-503B30A1389D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24B0CF3-EEA4-4623-9A96-1ACEBFE1A6E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1B94F88-357A-401D-A25E-F4406C70C9FD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12B3B66-7A20-4906-89CC-88B11B3D98E0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320D675-058A-4B22-86E5-A700B657BA16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BFE859F-25EE-4475-A684-F6A0310CE1CE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5B4CCEE-5D66-46B6-BCAB-65380BF0DBBA}" type="slidenum">
              <a:rPr lang="en-US" altLang="en-US" smtClean="0"/>
              <a:pPr/>
              <a:t>18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5201A2F-755D-4C2A-9499-1D04B6D0B91E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1CA9E94-A19B-4D7B-ACB1-5E05DAEA78CF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016745D-BEFA-4E2F-A5F2-D69025B3B7AB}" type="slidenum">
              <a:rPr lang="en-US" altLang="en-US" smtClean="0"/>
              <a:pPr/>
              <a:t>21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27F58B0-AC9D-440F-8086-028337089F11}" type="slidenum">
              <a:rPr lang="en-US" altLang="en-US" smtClean="0"/>
              <a:pPr/>
              <a:t>22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9EA51D0-FFDD-4728-B4FC-95727BF468DF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D433604-425D-41AB-BECC-FFA86AE9C57A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71E9FC8-FCAC-4EE4-B734-935277BFAA03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5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FCAD095-88CF-484F-9200-17F76E097B31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817246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545371B-FC2D-4D2D-AB06-347CD26B7170}" type="slidenum">
              <a:rPr lang="en-US" altLang="en-US" smtClean="0"/>
              <a:pPr/>
              <a:t>27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986A3F2-33A0-4F34-B6F3-974F8F6C9E74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F978AF6-3019-4FF5-B9E5-9DA8C2BE9FD3}" type="slidenum">
              <a:rPr lang="en-US" altLang="en-US" smtClean="0"/>
              <a:pPr/>
              <a:t>29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BC409A8-3B82-44FC-9D2B-5092C608629F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3F22021-49BF-4B88-9D44-A45D9417A06E}" type="slidenum">
              <a:rPr lang="en-US" altLang="en-US" smtClean="0"/>
              <a:pPr/>
              <a:t>31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D2FAA3A-41FF-4649-9557-A540977035E7}" type="slidenum">
              <a:rPr lang="en-US" altLang="en-US" smtClean="0"/>
              <a:pPr/>
              <a:t>32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9AAC1F4-22F9-43EE-B611-6DBE16EC1DE1}" type="slidenum">
              <a:rPr lang="en-US" altLang="en-US" smtClean="0"/>
              <a:pPr/>
              <a:t>34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14E7542-F756-4A12-86C1-6AF5D2EDF5A1}" type="slidenum">
              <a:rPr lang="en-US" altLang="en-US" smtClean="0"/>
              <a:pPr/>
              <a:t>35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47FE3DC-C09A-42D5-97C9-D027F3918501}" type="slidenum">
              <a:rPr lang="en-US" altLang="en-US" smtClean="0"/>
              <a:pPr/>
              <a:t>36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E253B80-0413-4CE5-ACFF-25DCB4C3E6C9}" type="slidenum">
              <a:rPr lang="en-US" altLang="en-US" smtClean="0"/>
              <a:pPr/>
              <a:t>37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A785C01-B827-4531-A47C-AD3FDB2B19DE}" type="slidenum">
              <a:rPr lang="en-US" altLang="en-US" smtClean="0"/>
              <a:pPr/>
              <a:t>38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C73D70B-CE40-42E6-9EDB-EA9D58D152B6}" type="slidenum">
              <a:rPr lang="en-US" altLang="en-US" smtClean="0"/>
              <a:pPr/>
              <a:t>39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E012338-0042-4F8F-A5FE-1006760C2846}" type="slidenum">
              <a:rPr lang="en-US" altLang="en-US" smtClean="0"/>
              <a:pPr/>
              <a:t>40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EB58114-8D37-44CB-A784-5C00442609F3}" type="slidenum">
              <a:rPr lang="en-US" altLang="en-US" smtClean="0"/>
              <a:pPr/>
              <a:t>41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6A855A8-2AD4-4DA1-A63C-9BAD012DF8F3}" type="slidenum">
              <a:rPr lang="en-US" altLang="en-US" smtClean="0"/>
              <a:pPr/>
              <a:t>42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00420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00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9578674-18F2-4328-811A-C853AA64268A}" type="slidenum">
              <a:rPr lang="en-US" altLang="en-US" smtClean="0"/>
              <a:pPr/>
              <a:t>43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CF27159-2D3D-4643-92BD-3CA924160769}" type="slidenum">
              <a:rPr lang="en-US" altLang="en-US" smtClean="0"/>
              <a:pPr/>
              <a:t>44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5A39C78-0405-42E5-B1BE-556730B668EF}" type="slidenum">
              <a:rPr lang="en-US" altLang="en-US" smtClean="0"/>
              <a:pPr/>
              <a:t>45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BE7B258-8D37-45F2-9746-201FB591D420}" type="slidenum">
              <a:rPr lang="en-US" altLang="en-US" smtClean="0"/>
              <a:pPr/>
              <a:t>46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BE7B258-8D37-45F2-9746-201FB591D420}" type="slidenum">
              <a:rPr lang="en-US" altLang="en-US" smtClean="0"/>
              <a:pPr/>
              <a:t>47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D52C85E-A105-4B95-A3FB-1798C48E6A50}" type="slidenum">
              <a:rPr lang="en-US" altLang="en-US" smtClean="0"/>
              <a:pPr/>
              <a:t>48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6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1113BD3-CA5C-43FF-AB46-7666AC2845FB}" type="slidenum">
              <a:rPr lang="en-US" altLang="en-US" smtClean="0"/>
              <a:pPr/>
              <a:t>49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7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193FDD6-DBB5-4EBB-9CC6-E767D8AE75AA}" type="slidenum">
              <a:rPr lang="en-US" altLang="en-US" smtClean="0"/>
              <a:pPr/>
              <a:t>54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8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F6989FE-06F4-40F4-A043-CA231263BF7A}" type="slidenum">
              <a:rPr lang="en-US" altLang="en-US" smtClean="0"/>
              <a:pPr/>
              <a:t>55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9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6D35EF9-1FB0-4D09-B5B7-5174DE6CB5F6}" type="slidenum">
              <a:rPr lang="en-US" altLang="en-US" smtClean="0"/>
              <a:pPr/>
              <a:t>56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3090672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pic>
        <p:nvPicPr>
          <p:cNvPr id="8" name="Picture 7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80" y="6257889"/>
            <a:ext cx="634845" cy="262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015922" y="6456817"/>
            <a:ext cx="6399830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24" y="6222910"/>
            <a:ext cx="6400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2"/>
                </a:solidFill>
              </a:rPr>
              <a:t>C++ Programming: From Problem Analysis to Program Design, Eighth</a:t>
            </a:r>
            <a:r>
              <a:rPr lang="en-US" sz="900" baseline="0" dirty="0">
                <a:solidFill>
                  <a:schemeClr val="accent2"/>
                </a:solidFill>
              </a:rPr>
              <a:t> </a:t>
            </a:r>
            <a:r>
              <a:rPr lang="en-US" sz="900" dirty="0">
                <a:solidFill>
                  <a:schemeClr val="accent2"/>
                </a:solidFill>
              </a:rPr>
              <a:t>Edition</a:t>
            </a:r>
          </a:p>
        </p:txBody>
      </p:sp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CL_Logo_DRAW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plit 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05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>
                <a:solidFill>
                  <a:srgbClr val="000000">
                    <a:tint val="75000"/>
                  </a:srgbClr>
                </a:solidFill>
              </a:rPr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904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5102423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</p:spTree>
    <p:extLst>
      <p:ext uri="{BB962C8B-B14F-4D97-AF65-F5344CB8AC3E}">
        <p14:creationId xmlns:p14="http://schemas.microsoft.com/office/powerpoint/2010/main" val="41539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</p:spTree>
    <p:extLst>
      <p:ext uri="{BB962C8B-B14F-4D97-AF65-F5344CB8AC3E}">
        <p14:creationId xmlns:p14="http://schemas.microsoft.com/office/powerpoint/2010/main" val="228790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3673475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5722796"/>
            <a:ext cx="4114800" cy="297004"/>
          </a:xfrm>
        </p:spPr>
        <p:txBody>
          <a:bodyPr lIns="91440" tIns="45720" rIns="9144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</p:spTree>
    <p:extLst>
      <p:ext uri="{BB962C8B-B14F-4D97-AF65-F5344CB8AC3E}">
        <p14:creationId xmlns:p14="http://schemas.microsoft.com/office/powerpoint/2010/main" val="123912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14984" y="6455663"/>
            <a:ext cx="64008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7" r:id="rId4"/>
    <p:sldLayoutId id="2147484048" r:id="rId5"/>
    <p:sldLayoutId id="2147484042" r:id="rId6"/>
    <p:sldLayoutId id="2147484043" r:id="rId7"/>
    <p:sldLayoutId id="2147484044" r:id="rId8"/>
    <p:sldLayoutId id="2147484045" r:id="rId9"/>
    <p:sldLayoutId id="2147484046" r:id="rId1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microsoft.com/office/2007/relationships/hdphoto" Target="../media/hdphoto2.wdp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Chapter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409343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Basic Elements of C++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Objectives (1 of 3)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this chapter, you will:</a:t>
            </a:r>
          </a:p>
          <a:p>
            <a:pPr lvl="1"/>
            <a:r>
              <a:rPr lang="en-US" altLang="en-US" dirty="0"/>
              <a:t>Become familiar with the basic components of a C++ program, including functions, special symbols, and identifiers</a:t>
            </a:r>
          </a:p>
          <a:p>
            <a:pPr lvl="1"/>
            <a:r>
              <a:rPr lang="en-US" altLang="en-US" dirty="0"/>
              <a:t>Explore simple data types</a:t>
            </a:r>
          </a:p>
          <a:p>
            <a:pPr lvl="1"/>
            <a:r>
              <a:rPr lang="en-US" altLang="en-US" dirty="0"/>
              <a:t>Discover how to use arithmetic operators</a:t>
            </a:r>
          </a:p>
          <a:p>
            <a:pPr lvl="1"/>
            <a:r>
              <a:rPr lang="en-US" altLang="en-US" dirty="0"/>
              <a:t>Examine how a program evaluates arithmetic expressions</a:t>
            </a:r>
          </a:p>
          <a:p>
            <a:pPr lvl="1"/>
            <a:r>
              <a:rPr lang="en-US" altLang="en-US" dirty="0"/>
              <a:t>Become familiar with the string data type</a:t>
            </a:r>
          </a:p>
          <a:p>
            <a:pPr lvl="1"/>
            <a:r>
              <a:rPr lang="en-US" altLang="en-US" dirty="0"/>
              <a:t>Learn what an assignment statement is and what it does</a:t>
            </a:r>
          </a:p>
          <a:p>
            <a:endParaRPr lang="en-US" altLang="en-US" dirty="0"/>
          </a:p>
        </p:txBody>
      </p:sp>
      <p:sp>
        <p:nvSpPr>
          <p:cNvPr id="4100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E5B4280-F41E-4A73-B8C2-4E3A8256E21D}" type="slidenum">
              <a:rPr lang="en-US" altLang="en-US" smtClean="0">
                <a:solidFill>
                  <a:schemeClr val="bg1"/>
                </a:solidFill>
              </a:rPr>
              <a:pPr/>
              <a:t>2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Objectives (2 of 3)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Learn about variable declaration</a:t>
            </a:r>
          </a:p>
          <a:p>
            <a:pPr lvl="1"/>
            <a:r>
              <a:rPr lang="en-US" altLang="en-US" dirty="0"/>
              <a:t>Discover how to input data into memory using input statements</a:t>
            </a:r>
          </a:p>
          <a:p>
            <a:pPr lvl="1"/>
            <a:r>
              <a:rPr lang="en-US" altLang="en-US" dirty="0"/>
              <a:t>Become familiar with the use of increment and decrement operators</a:t>
            </a:r>
          </a:p>
          <a:p>
            <a:pPr lvl="1"/>
            <a:r>
              <a:rPr lang="en-US" altLang="en-US" dirty="0"/>
              <a:t>Examine ways to output results using output statements</a:t>
            </a:r>
          </a:p>
          <a:p>
            <a:pPr lvl="1"/>
            <a:r>
              <a:rPr lang="en-US" altLang="en-US" dirty="0"/>
              <a:t>Learn how to use preprocessor directives and why they are necessary</a:t>
            </a:r>
          </a:p>
          <a:p>
            <a:endParaRPr lang="en-US" altLang="en-US" dirty="0"/>
          </a:p>
        </p:txBody>
      </p:sp>
      <p:sp>
        <p:nvSpPr>
          <p:cNvPr id="512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E16C84C-426A-4ECD-A8EE-CA99869B4D50}" type="slidenum">
              <a:rPr lang="en-US" altLang="en-US" smtClean="0">
                <a:solidFill>
                  <a:schemeClr val="bg1"/>
                </a:solidFill>
              </a:rPr>
              <a:pPr/>
              <a:t>3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Objectives (3 of 3)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Learn how to debug syntax errors</a:t>
            </a:r>
          </a:p>
          <a:p>
            <a:pPr lvl="1"/>
            <a:r>
              <a:rPr lang="en-US" altLang="en-US" dirty="0"/>
              <a:t>Explore how to properly structure a program, including using comments to document a program</a:t>
            </a:r>
          </a:p>
          <a:p>
            <a:pPr lvl="1"/>
            <a:r>
              <a:rPr lang="en-US" altLang="en-US" dirty="0"/>
              <a:t>Become familiar with compound statements</a:t>
            </a:r>
          </a:p>
          <a:p>
            <a:pPr lvl="1"/>
            <a:r>
              <a:rPr lang="en-US" altLang="en-US" dirty="0"/>
              <a:t>Learn how to write a C++ program</a:t>
            </a:r>
          </a:p>
          <a:p>
            <a:endParaRPr lang="en-US" altLang="en-US" dirty="0"/>
          </a:p>
        </p:txBody>
      </p:sp>
      <p:sp>
        <p:nvSpPr>
          <p:cNvPr id="6149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8536E6A-1825-441A-BC8C-76058BB4B017}" type="slidenum">
              <a:rPr lang="en-US" altLang="en-US" smtClean="0">
                <a:solidFill>
                  <a:schemeClr val="bg1"/>
                </a:solidFill>
              </a:rPr>
              <a:pPr/>
              <a:t>4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Quick Look at a C++ Program (1 of 5)</a:t>
            </a:r>
          </a:p>
        </p:txBody>
      </p:sp>
      <p:sp>
        <p:nvSpPr>
          <p:cNvPr id="819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ACF82E2-B1EF-4D61-A73F-13072D382DAB}" type="slidenum">
              <a:rPr lang="en-US" altLang="en-US" smtClean="0">
                <a:solidFill>
                  <a:schemeClr val="bg1"/>
                </a:solidFill>
              </a:rPr>
              <a:pPr/>
              <a:t>5</a:t>
            </a:fld>
            <a:endParaRPr lang="en-US" altLang="en-US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57" y="1059942"/>
            <a:ext cx="6897914" cy="5296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Quick Look at a C++ Program (2 of 5)</a:t>
            </a:r>
          </a:p>
        </p:txBody>
      </p:sp>
      <p:sp>
        <p:nvSpPr>
          <p:cNvPr id="921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Sample Run:</a:t>
            </a:r>
          </a:p>
          <a:p>
            <a:endParaRPr lang="en-US" altLang="en-US" dirty="0"/>
          </a:p>
        </p:txBody>
      </p:sp>
      <p:pic>
        <p:nvPicPr>
          <p:cNvPr id="7" name="Picture 2" descr="The output of the program in Example 2-1:&#10;Program to cocmpute and output the perimeter and area of a rectangle.&#10;Length = 6&#10;Width = 4&#10;Perimeter = 20&#10;Area = 24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75819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50D77-4BDA-4107-95AF-F8834BF2C42F}" type="slidenum">
              <a:rPr lang="en-US" altLang="en-US" smtClean="0">
                <a:solidFill>
                  <a:schemeClr val="bg1"/>
                </a:solidFill>
              </a:rPr>
              <a:pPr/>
              <a:t>6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Quick Look at a C++ Program (3 of 5)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09600" y="5791200"/>
            <a:ext cx="6949440" cy="297004"/>
          </a:xfrm>
        </p:spPr>
        <p:txBody>
          <a:bodyPr/>
          <a:lstStyle/>
          <a:p>
            <a:r>
              <a:rPr lang="en-US" b="1" dirty="0"/>
              <a:t>FIGURE 2-1 </a:t>
            </a:r>
            <a:r>
              <a:rPr lang="en-US" dirty="0"/>
              <a:t>Various parts of a C++ program</a:t>
            </a:r>
          </a:p>
        </p:txBody>
      </p:sp>
      <p:pic>
        <p:nvPicPr>
          <p:cNvPr id="6" name="Picture 2" descr="This portion of a C++ program illustrates comments, variable declaration statements, and an assignment statement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255"/>
          <a:stretch/>
        </p:blipFill>
        <p:spPr bwMode="auto">
          <a:xfrm>
            <a:off x="600075" y="1143000"/>
            <a:ext cx="794385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945BE40-F7BA-4676-BBD8-EDEE17BA61FF}" type="slidenum">
              <a:rPr lang="en-US" altLang="en-US" smtClean="0">
                <a:solidFill>
                  <a:schemeClr val="bg1"/>
                </a:solidFill>
              </a:rPr>
              <a:pPr/>
              <a:t>7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342063" algn="l"/>
              </a:tabLst>
            </a:pPr>
            <a:r>
              <a:rPr lang="en-US" altLang="en-US" dirty="0"/>
              <a:t>A Quick Look at a C++ Program (4 of 5)</a:t>
            </a:r>
          </a:p>
        </p:txBody>
      </p:sp>
      <p:pic>
        <p:nvPicPr>
          <p:cNvPr id="6" name="Picture 2" descr="This portion of a C++ program illustrates an assignment statement with an expression (length * width) and output statements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142"/>
          <a:stretch/>
        </p:blipFill>
        <p:spPr bwMode="auto">
          <a:xfrm>
            <a:off x="600075" y="1295400"/>
            <a:ext cx="794385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00075" y="4600575"/>
            <a:ext cx="6949440" cy="297004"/>
          </a:xfrm>
        </p:spPr>
        <p:txBody>
          <a:bodyPr/>
          <a:lstStyle/>
          <a:p>
            <a:r>
              <a:rPr lang="en-US" b="1" dirty="0"/>
              <a:t>FIGURE 2-1 </a:t>
            </a:r>
            <a:r>
              <a:rPr lang="en-US" dirty="0"/>
              <a:t>Various parts of a C++ program (cont’d.)</a:t>
            </a:r>
          </a:p>
        </p:txBody>
      </p:sp>
      <p:sp>
        <p:nvSpPr>
          <p:cNvPr id="1126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6472CC6-06DB-4D7D-AF27-D488E9BF6CF2}" type="slidenum">
              <a:rPr lang="en-US" altLang="en-US" smtClean="0">
                <a:solidFill>
                  <a:schemeClr val="bg1"/>
                </a:solidFill>
              </a:rPr>
              <a:pPr/>
              <a:t>8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Quick Look at a C++ Program (5 of 5)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Variable: a memory location whose contents can be changed</a:t>
            </a:r>
          </a:p>
        </p:txBody>
      </p:sp>
      <p:pic>
        <p:nvPicPr>
          <p:cNvPr id="12" name="Picture 2" descr="Figure 2-3 shows memory allocation with locations named length, width, area, and perimeter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" r="3220"/>
          <a:stretch/>
        </p:blipFill>
        <p:spPr bwMode="auto">
          <a:xfrm>
            <a:off x="628651" y="2122346"/>
            <a:ext cx="78867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Placeholder 5"/>
          <p:cNvSpPr txBox="1">
            <a:spLocks/>
          </p:cNvSpPr>
          <p:nvPr/>
        </p:nvSpPr>
        <p:spPr>
          <a:xfrm>
            <a:off x="628651" y="3284396"/>
            <a:ext cx="6949440" cy="297004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400" b="1" dirty="0"/>
              <a:t>FIGURE 2-3</a:t>
            </a:r>
            <a:r>
              <a:rPr lang="en-US" sz="1400" dirty="0"/>
              <a:t> Memory allocation</a:t>
            </a:r>
          </a:p>
        </p:txBody>
      </p:sp>
      <p:pic>
        <p:nvPicPr>
          <p:cNvPr id="13" name="Picture 3" descr="Figure 2-4 shows the memory spaces after length is assigned to the memory location length.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1" r="3431"/>
          <a:stretch/>
        </p:blipFill>
        <p:spPr bwMode="auto">
          <a:xfrm>
            <a:off x="628650" y="4152900"/>
            <a:ext cx="7886702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Placeholder 5"/>
          <p:cNvSpPr txBox="1">
            <a:spLocks/>
          </p:cNvSpPr>
          <p:nvPr/>
        </p:nvSpPr>
        <p:spPr>
          <a:xfrm>
            <a:off x="628651" y="5335729"/>
            <a:ext cx="6949440" cy="297004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400" b="1" dirty="0"/>
              <a:t>FIGURE 2-4</a:t>
            </a:r>
            <a:r>
              <a:rPr lang="en-US" sz="1400" dirty="0"/>
              <a:t> Memory spaces after the statement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length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6.0;</a:t>
            </a:r>
            <a:r>
              <a:rPr lang="en-US" sz="1400" dirty="0"/>
              <a:t> executes</a:t>
            </a:r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2293" name="Slide Number Placeholder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39104D2-2B91-47BE-B04A-2C5B2F65007B}" type="slidenum">
              <a:rPr lang="en-US" altLang="en-US" smtClean="0">
                <a:solidFill>
                  <a:schemeClr val="bg1"/>
                </a:solidFill>
              </a:rPr>
              <a:pPr/>
              <a:t>9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Comments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388620"/>
          </a:xfrm>
        </p:spPr>
        <p:txBody>
          <a:bodyPr/>
          <a:lstStyle/>
          <a:p>
            <a:r>
              <a:rPr lang="en-US" altLang="en-US" dirty="0"/>
              <a:t>Comments are for the reader, not the compiler</a:t>
            </a:r>
          </a:p>
          <a:p>
            <a:r>
              <a:rPr lang="en-US" altLang="en-US" dirty="0"/>
              <a:t>Two types</a:t>
            </a:r>
          </a:p>
          <a:p>
            <a:pPr lvl="1"/>
            <a:r>
              <a:rPr lang="en-US" altLang="en-US" dirty="0"/>
              <a:t>Single line:  begins with </a:t>
            </a:r>
            <a:r>
              <a:rPr lang="en-US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endParaRPr lang="en-US" altLang="en-US" dirty="0"/>
          </a:p>
          <a:p>
            <a:pPr marL="400050" lvl="0" indent="0">
              <a:lnSpc>
                <a:spcPct val="100000"/>
              </a:lnSpc>
              <a:spcBef>
                <a:spcPts val="0"/>
              </a:spcBef>
              <a:buClr>
                <a:srgbClr val="055C91"/>
              </a:buClr>
              <a:buNone/>
            </a:pPr>
            <a:r>
              <a:rPr lang="en-US" sz="16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//**************************************************************</a:t>
            </a:r>
          </a:p>
          <a:p>
            <a:pPr marL="400050" lvl="0" indent="0">
              <a:lnSpc>
                <a:spcPct val="100000"/>
              </a:lnSpc>
              <a:spcBef>
                <a:spcPts val="0"/>
              </a:spcBef>
              <a:buClr>
                <a:srgbClr val="055C91"/>
              </a:buClr>
              <a:buNone/>
            </a:pPr>
            <a:r>
              <a:rPr lang="en-US" sz="16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Given the length and width of a rectangle, this C++ program</a:t>
            </a:r>
          </a:p>
          <a:p>
            <a:pPr marL="400050" lvl="0" indent="0">
              <a:lnSpc>
                <a:spcPct val="100000"/>
              </a:lnSpc>
              <a:spcBef>
                <a:spcPts val="0"/>
              </a:spcBef>
              <a:buClr>
                <a:srgbClr val="055C91"/>
              </a:buClr>
              <a:buNone/>
            </a:pPr>
            <a:r>
              <a:rPr lang="en-US" sz="16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computes and outputs the perimeter and area of the rectangle.</a:t>
            </a:r>
          </a:p>
          <a:p>
            <a:pPr marL="400050" lvl="0" indent="0">
              <a:lnSpc>
                <a:spcPct val="100000"/>
              </a:lnSpc>
              <a:spcBef>
                <a:spcPts val="0"/>
              </a:spcBef>
              <a:buClr>
                <a:srgbClr val="055C91"/>
              </a:buClr>
              <a:buNone/>
            </a:pPr>
            <a:r>
              <a:rPr lang="en-US" sz="16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//**************************************************************</a:t>
            </a:r>
            <a:endParaRPr lang="en-US" altLang="en-US" dirty="0">
              <a:solidFill>
                <a:srgbClr val="00A589"/>
              </a:solidFill>
            </a:endParaRPr>
          </a:p>
          <a:p>
            <a:pPr lvl="1"/>
            <a:r>
              <a:rPr lang="en-US" altLang="en-US" dirty="0"/>
              <a:t>Multiple line: enclosed between </a:t>
            </a:r>
            <a:r>
              <a:rPr lang="en-US" altLang="en-US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40005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  <a:p>
            <a:pPr marL="40005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can include comments that can</a:t>
            </a:r>
          </a:p>
          <a:p>
            <a:pPr marL="40005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occupy several lines.</a:t>
            </a:r>
          </a:p>
          <a:p>
            <a:pPr marL="40005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altLang="en-US" sz="1600" b="1" dirty="0">
              <a:solidFill>
                <a:srgbClr val="00A58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B1D4610-EEE8-4790-B25A-2CF9A4EAF01B}" type="slidenum">
              <a:rPr lang="en-US" altLang="en-US" smtClean="0">
                <a:solidFill>
                  <a:schemeClr val="bg1"/>
                </a:solidFill>
              </a:rPr>
              <a:pPr/>
              <a:t>10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Special Symbols</a:t>
            </a:r>
          </a:p>
        </p:txBody>
      </p:sp>
      <p:sp>
        <p:nvSpPr>
          <p:cNvPr id="15363" name="Content Placeholder 3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523768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u="sng" dirty="0"/>
              <a:t>token</a:t>
            </a:r>
            <a:r>
              <a:rPr lang="en-US" altLang="en-US" dirty="0"/>
              <a:t> is the smallest individual unit of a program written in any language</a:t>
            </a:r>
          </a:p>
          <a:p>
            <a:r>
              <a:rPr lang="en-US" altLang="en-US" dirty="0"/>
              <a:t>C++ tokens include special symbols, word symbols, and identifiers</a:t>
            </a:r>
          </a:p>
          <a:p>
            <a:r>
              <a:rPr lang="en-US" altLang="en-US" dirty="0"/>
              <a:t>Special symbols in C++ include:</a:t>
            </a:r>
          </a:p>
          <a:p>
            <a:pPr marL="457200" lvl="1" indent="0">
              <a:spcBef>
                <a:spcPts val="1200"/>
              </a:spcBef>
              <a:buClr>
                <a:srgbClr val="0D3857"/>
              </a:buClr>
              <a:buNone/>
              <a:tabLst>
                <a:tab pos="1371600" algn="l"/>
                <a:tab pos="2286000" algn="l"/>
                <a:tab pos="3200400" algn="l"/>
              </a:tabLst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	-	*	/</a:t>
            </a:r>
          </a:p>
          <a:p>
            <a:pPr marL="457200" lvl="1" indent="0">
              <a:spcBef>
                <a:spcPts val="1200"/>
              </a:spcBef>
              <a:buClr>
                <a:srgbClr val="0D3857"/>
              </a:buClr>
              <a:buNone/>
              <a:tabLst>
                <a:tab pos="1371600" algn="l"/>
                <a:tab pos="2286000" algn="l"/>
                <a:tab pos="3200400" algn="l"/>
              </a:tabLst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	;	?	,</a:t>
            </a:r>
          </a:p>
          <a:p>
            <a:pPr marL="457200" lvl="1" indent="0">
              <a:spcBef>
                <a:spcPts val="1200"/>
              </a:spcBef>
              <a:buClr>
                <a:srgbClr val="0D3857"/>
              </a:buClr>
              <a:buNone/>
              <a:tabLst>
                <a:tab pos="1371600" algn="l"/>
                <a:tab pos="2286000" algn="l"/>
                <a:tab pos="3200400" algn="l"/>
              </a:tabLst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	!=	==	&gt;=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536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DBC953D-5C8A-47A9-9455-08EF6D82576F}" type="slidenum">
              <a:rPr lang="en-US" altLang="en-US" smtClean="0">
                <a:solidFill>
                  <a:schemeClr val="bg1"/>
                </a:solidFill>
              </a:rPr>
              <a:pPr/>
              <a:t>11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Reserved Words (Keywords)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418850"/>
          </a:xfrm>
        </p:spPr>
        <p:txBody>
          <a:bodyPr/>
          <a:lstStyle/>
          <a:p>
            <a:r>
              <a:rPr lang="en-US" altLang="en-US" dirty="0"/>
              <a:t>Reserved word symbols (or </a:t>
            </a:r>
            <a:r>
              <a:rPr lang="en-US" altLang="en-US" u="sng" dirty="0"/>
              <a:t>keywords</a:t>
            </a:r>
            <a:r>
              <a:rPr lang="en-US" altLang="en-US" dirty="0"/>
              <a:t>):</a:t>
            </a:r>
          </a:p>
          <a:p>
            <a:pPr lvl="1"/>
            <a:r>
              <a:rPr lang="en-US" altLang="en-US" dirty="0"/>
              <a:t>Cannot be redefined within a program</a:t>
            </a:r>
          </a:p>
          <a:p>
            <a:pPr lvl="1"/>
            <a:r>
              <a:rPr lang="en-US" altLang="en-US" dirty="0"/>
              <a:t>Cannot be used for anything other than their intended use</a:t>
            </a:r>
          </a:p>
          <a:p>
            <a:r>
              <a:rPr lang="en-US" altLang="en-US" dirty="0"/>
              <a:t>Examples include</a:t>
            </a:r>
            <a:r>
              <a:rPr lang="en-US" altLang="en-US" dirty="0" smtClean="0"/>
              <a:t>:</a:t>
            </a:r>
            <a:endParaRPr lang="en-US" altLang="en-US" dirty="0"/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24A7315-D26C-4FDB-B34B-0324AE87146A}" type="slidenum">
              <a:rPr lang="en-US" altLang="en-US" smtClean="0">
                <a:solidFill>
                  <a:schemeClr val="bg1"/>
                </a:solidFill>
              </a:rPr>
              <a:pPr/>
              <a:t>12</a:t>
            </a:fld>
            <a:endParaRPr lang="en-US" alt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Image result for reserved word in c++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957667"/>
            <a:ext cx="5791200" cy="327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Identifiers / Variable </a:t>
            </a:r>
            <a:r>
              <a:rPr lang="en-US" altLang="en-US" dirty="0"/>
              <a:t>(1 of </a:t>
            </a:r>
            <a:r>
              <a:rPr lang="en-US" altLang="en-US" dirty="0"/>
              <a:t>4</a:t>
            </a:r>
            <a:r>
              <a:rPr lang="en-US" altLang="en-US" dirty="0" smtClean="0"/>
              <a:t>)</a:t>
            </a:r>
            <a:endParaRPr lang="en-US" altLang="en-US" dirty="0"/>
          </a:p>
        </p:txBody>
      </p:sp>
      <p:sp>
        <p:nvSpPr>
          <p:cNvPr id="17411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247043"/>
          </a:xfrm>
        </p:spPr>
        <p:txBody>
          <a:bodyPr/>
          <a:lstStyle/>
          <a:p>
            <a:pPr algn="just"/>
            <a:r>
              <a:rPr lang="en-US" altLang="en-US" dirty="0"/>
              <a:t>Firstly, we will look at the variables. Variables represent all the data used in the program to produce the required solution and also the result of the calculations. </a:t>
            </a:r>
          </a:p>
          <a:p>
            <a:pPr algn="just"/>
            <a:r>
              <a:rPr lang="en-US" altLang="en-US" dirty="0"/>
              <a:t>All the data needed to solve the problem is known as </a:t>
            </a:r>
            <a:r>
              <a:rPr lang="en-US" altLang="en-US" b="1" dirty="0"/>
              <a:t>input data</a:t>
            </a:r>
            <a:r>
              <a:rPr lang="en-US" altLang="en-US" dirty="0"/>
              <a:t>, while the resulting information produced is known as </a:t>
            </a:r>
            <a:r>
              <a:rPr lang="en-US" altLang="en-US" b="1" dirty="0"/>
              <a:t>output data</a:t>
            </a:r>
            <a:r>
              <a:rPr lang="en-US" altLang="en-US" dirty="0"/>
              <a:t>.</a:t>
            </a:r>
          </a:p>
          <a:p>
            <a:pPr algn="just"/>
            <a:r>
              <a:rPr lang="en-US" altLang="en-US" dirty="0"/>
              <a:t>Variables can be defined as a memory allocation that will hold data and the values will keep on changing during program execution.</a:t>
            </a:r>
          </a:p>
          <a:p>
            <a:pPr algn="just"/>
            <a:r>
              <a:rPr lang="en-US" altLang="en-US" dirty="0"/>
              <a:t>Input data is the data needed to solve a problem.</a:t>
            </a:r>
          </a:p>
          <a:p>
            <a:pPr algn="just"/>
            <a:r>
              <a:rPr lang="en-US" altLang="en-US" dirty="0"/>
              <a:t>Output data, or information, is the data that has been processed by a computer.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9596424-9117-450D-8100-3ED5FD3ECA6A}" type="slidenum">
              <a:rPr lang="en-US" altLang="en-US" smtClean="0">
                <a:solidFill>
                  <a:schemeClr val="bg1"/>
                </a:solidFill>
              </a:rPr>
              <a:pPr/>
              <a:t>13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662267"/>
          </a:xfrm>
        </p:spPr>
        <p:txBody>
          <a:bodyPr/>
          <a:lstStyle/>
          <a:p>
            <a:pPr algn="just"/>
            <a:r>
              <a:rPr lang="en-US" altLang="en-US" dirty="0"/>
              <a:t>There are normal variables, and variables that have fixed values that cannot be changed. </a:t>
            </a:r>
          </a:p>
          <a:p>
            <a:pPr algn="just">
              <a:buClr>
                <a:srgbClr val="0070C0"/>
              </a:buClr>
            </a:pPr>
            <a:r>
              <a:rPr lang="en-US" altLang="en-US" dirty="0"/>
              <a:t>Variables that has a fixed value are known as constant variables. For example, 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 (π) = 3.142</a:t>
            </a:r>
            <a:r>
              <a:rPr lang="en-US" altLang="en-US" dirty="0"/>
              <a:t>, whereby the value of PI is fixed for any situation.</a:t>
            </a:r>
          </a:p>
          <a:p>
            <a:pPr algn="just">
              <a:buClr>
                <a:srgbClr val="0070C0"/>
              </a:buClr>
            </a:pPr>
            <a:r>
              <a:rPr lang="en-US" altLang="en-US" dirty="0"/>
              <a:t>An</a:t>
            </a:r>
            <a:r>
              <a:rPr lang="en-US" altLang="en-US" b="1" dirty="0"/>
              <a:t> identifier</a:t>
            </a:r>
            <a:r>
              <a:rPr lang="en-US" altLang="en-US" dirty="0"/>
              <a:t> is a name given to a variable, constant variable, function or label.</a:t>
            </a:r>
          </a:p>
          <a:p>
            <a:pPr algn="just">
              <a:buClr>
                <a:srgbClr val="0070C0"/>
              </a:buClr>
              <a:buFont typeface="Wingdings" panose="05000000000000000000" pitchFamily="2" charset="2"/>
              <a:buNone/>
            </a:pPr>
            <a:endParaRPr lang="en-US" altLang="en-US" dirty="0"/>
          </a:p>
          <a:p>
            <a:endParaRPr lang="en-MY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Identifiers / Variable </a:t>
            </a:r>
            <a:r>
              <a:rPr lang="en-US" altLang="en-US" dirty="0" smtClean="0"/>
              <a:t>(2 </a:t>
            </a:r>
            <a:r>
              <a:rPr lang="en-US" altLang="en-US" dirty="0"/>
              <a:t>of </a:t>
            </a:r>
            <a:r>
              <a:rPr lang="en-US" altLang="en-US" dirty="0" smtClean="0"/>
              <a:t>4)</a:t>
            </a:r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187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MY" dirty="0" smtClean="0"/>
              <a:t>Rules to write identifier name:</a:t>
            </a:r>
            <a:endParaRPr lang="en-MY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Identifiers / Variable </a:t>
            </a:r>
            <a:r>
              <a:rPr lang="en-US" altLang="en-US" dirty="0" smtClean="0"/>
              <a:t>(3 </a:t>
            </a:r>
            <a:r>
              <a:rPr lang="en-US" altLang="en-US" dirty="0"/>
              <a:t>of </a:t>
            </a:r>
            <a:r>
              <a:rPr lang="en-US" altLang="en-US" dirty="0" smtClean="0"/>
              <a:t>4)</a:t>
            </a:r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3" t="38171" r="46780" b="8389"/>
          <a:stretch>
            <a:fillRect/>
          </a:stretch>
        </p:blipFill>
        <p:spPr>
          <a:xfrm>
            <a:off x="1067594" y="1831206"/>
            <a:ext cx="7010400" cy="44823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9808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Identifiers / Variable </a:t>
            </a:r>
            <a:r>
              <a:rPr lang="en-US" altLang="en-US" dirty="0" smtClean="0"/>
              <a:t>(4 </a:t>
            </a:r>
            <a:r>
              <a:rPr lang="en-US" altLang="en-US" dirty="0"/>
              <a:t>of </a:t>
            </a:r>
            <a:r>
              <a:rPr lang="en-US" altLang="en-US" dirty="0" smtClean="0"/>
              <a:t>4)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312667"/>
          </a:xfrm>
        </p:spPr>
        <p:txBody>
          <a:bodyPr/>
          <a:lstStyle/>
          <a:p>
            <a:r>
              <a:rPr lang="en-US" altLang="en-US" dirty="0"/>
              <a:t>Legal identifiers in C++</a:t>
            </a:r>
          </a:p>
          <a:p>
            <a:pPr lvl="1"/>
            <a:r>
              <a:rPr lang="en-US" altLang="en-US" dirty="0"/>
              <a:t>first</a:t>
            </a:r>
          </a:p>
          <a:p>
            <a:pPr lvl="1"/>
            <a:r>
              <a:rPr lang="en-US" altLang="en-US" dirty="0"/>
              <a:t>conversion</a:t>
            </a:r>
          </a:p>
          <a:p>
            <a:pPr lvl="1"/>
            <a:r>
              <a:rPr lang="en-US" altLang="en-US" dirty="0"/>
              <a:t>payRate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42924" y="3057525"/>
            <a:ext cx="3419476" cy="297004"/>
          </a:xfrm>
          <a:prstGeom prst="rect">
            <a:avLst/>
          </a:prstGeom>
        </p:spPr>
        <p:txBody>
          <a:bodyPr lIns="45720" rIns="45720"/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400" b="1" dirty="0"/>
              <a:t>TABLE 2-1 </a:t>
            </a:r>
            <a:r>
              <a:rPr lang="en-US" sz="1400" dirty="0"/>
              <a:t>Examples of Illegal Identifiers</a:t>
            </a:r>
          </a:p>
        </p:txBody>
      </p:sp>
      <p:graphicFrame>
        <p:nvGraphicFramePr>
          <p:cNvPr id="7" name="Table 6" descr="Table 1-1 summarizes the terms used to describe various numbers of bytes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834221"/>
              </p:ext>
            </p:extLst>
          </p:nvPr>
        </p:nvGraphicFramePr>
        <p:xfrm>
          <a:off x="542924" y="3364054"/>
          <a:ext cx="7686676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Illegal Identifier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Reason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 Correct Identifier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employee Salary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There can be no space between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employee and Salary.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employeeSalary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Hello!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exclamation mark cannot be used in an identifier.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Hello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one+two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symbol + cannot be used in an identifier.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onePlusTwo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2nd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 identifier cannot begin with a digit.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36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1843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F14EAFC-0C31-4286-8D84-59CE489AE64B}" type="slidenum">
              <a:rPr lang="en-US" altLang="en-US" smtClean="0">
                <a:solidFill>
                  <a:schemeClr val="bg1"/>
                </a:solidFill>
              </a:rPr>
              <a:pPr/>
              <a:t>16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Types</a:t>
            </a:r>
          </a:p>
        </p:txBody>
      </p:sp>
      <p:sp>
        <p:nvSpPr>
          <p:cNvPr id="2048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108543"/>
          </a:xfrm>
        </p:spPr>
        <p:txBody>
          <a:bodyPr/>
          <a:lstStyle/>
          <a:p>
            <a:pPr algn="just"/>
            <a:r>
              <a:rPr lang="en-US" altLang="en-US" dirty="0"/>
              <a:t>All the variables and constants have to be declared before they are used in the program.</a:t>
            </a:r>
          </a:p>
          <a:p>
            <a:pPr algn="just"/>
            <a:r>
              <a:rPr lang="en-US" altLang="en-US" dirty="0"/>
              <a:t>To declare the variables, we have to identify the categories of data and name each uniquely.</a:t>
            </a:r>
          </a:p>
          <a:p>
            <a:pPr algn="just"/>
            <a:r>
              <a:rPr lang="en-US" altLang="en-US" dirty="0"/>
              <a:t>It is because once we declare the variable, a memory space will be provided. </a:t>
            </a:r>
          </a:p>
          <a:p>
            <a:pPr algn="just"/>
            <a:r>
              <a:rPr lang="en-US" altLang="en-US" dirty="0"/>
              <a:t>So, to allocate the size, we have to base it on the variable categories.</a:t>
            </a:r>
          </a:p>
          <a:p>
            <a:pPr algn="just"/>
            <a:r>
              <a:rPr lang="en-US" altLang="en-US" dirty="0"/>
              <a:t>Data type represents the size and type of a variable.</a:t>
            </a:r>
          </a:p>
          <a:p>
            <a:pPr algn="just"/>
            <a:endParaRPr lang="en-US" altLang="en-US" dirty="0"/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6E2EAA1-978C-480F-9EBE-4996F01C0031}" type="slidenum">
              <a:rPr lang="en-US" altLang="en-US" smtClean="0">
                <a:solidFill>
                  <a:schemeClr val="bg1"/>
                </a:solidFill>
              </a:rPr>
              <a:pPr/>
              <a:t>17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Data </a:t>
            </a:r>
            <a:r>
              <a:rPr lang="en-US" altLang="en-US" dirty="0"/>
              <a:t>Types </a:t>
            </a: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ED45BCD-DBC7-4368-B591-F453D70DB44B}" type="slidenum">
              <a:rPr lang="en-US" altLang="en-US" smtClean="0">
                <a:solidFill>
                  <a:schemeClr val="bg1"/>
                </a:solidFill>
              </a:rPr>
              <a:pPr/>
              <a:t>18</a:t>
            </a:fld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MY" dirty="0" smtClean="0"/>
              <a:t>Categories of data type</a:t>
            </a:r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3321"/>
            <a:ext cx="7553325" cy="34455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04142"/>
            <a:ext cx="8026400" cy="300467"/>
          </a:xfrm>
        </p:spPr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/>
              <a:t> Data Type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331681"/>
          </a:xfrm>
        </p:spPr>
        <p:txBody>
          <a:bodyPr/>
          <a:lstStyle/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-6728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+763</a:t>
            </a:r>
          </a:p>
          <a:p>
            <a:r>
              <a:rPr lang="en-US" altLang="en-US" dirty="0"/>
              <a:t>Positive integers do not require a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/>
              <a:t> sign</a:t>
            </a:r>
          </a:p>
          <a:p>
            <a:r>
              <a:rPr lang="en-US" altLang="en-US" dirty="0"/>
              <a:t>A comma cannot be used within an integer</a:t>
            </a:r>
          </a:p>
          <a:p>
            <a:pPr lvl="1"/>
            <a:r>
              <a:rPr lang="en-US" altLang="en-US" dirty="0"/>
              <a:t>Commas are only used for separating items in a list</a:t>
            </a:r>
          </a:p>
          <a:p>
            <a:endParaRPr lang="en-US" altLang="en-US" dirty="0"/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44852D0-6114-4B0C-97C3-005BC012C0E5}" type="slidenum">
              <a:rPr lang="en-US" altLang="en-US" smtClean="0">
                <a:solidFill>
                  <a:schemeClr val="bg1"/>
                </a:solidFill>
              </a:rPr>
              <a:pPr/>
              <a:t>19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en-US" dirty="0"/>
              <a:t> Data Type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45312"/>
          </a:xfrm>
        </p:spPr>
        <p:txBody>
          <a:bodyPr/>
          <a:lstStyle/>
          <a:p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en-US" dirty="0"/>
              <a:t> type </a:t>
            </a:r>
          </a:p>
          <a:p>
            <a:pPr lvl="1"/>
            <a:r>
              <a:rPr lang="en-US" altLang="en-US" dirty="0"/>
              <a:t>Two values: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lvl="1"/>
            <a:r>
              <a:rPr lang="en-US" altLang="en-US" dirty="0"/>
              <a:t>Purpose: to manipulate logical (Boolean) expressions</a:t>
            </a:r>
          </a:p>
          <a:p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Logical values</a:t>
            </a:r>
          </a:p>
          <a:p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Reserved words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5148E85-6DB2-42C6-AB71-826173231216}" type="slidenum">
              <a:rPr lang="en-US" altLang="en-US" smtClean="0">
                <a:solidFill>
                  <a:schemeClr val="bg1"/>
                </a:solidFill>
              </a:rPr>
              <a:pPr/>
              <a:t>20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dirty="0"/>
              <a:t> Data Type (1 of 2)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14864"/>
          </a:xfrm>
        </p:spPr>
        <p:txBody>
          <a:bodyPr/>
          <a:lstStyle/>
          <a:p>
            <a:r>
              <a:rPr lang="en-US" altLang="en-US" dirty="0"/>
              <a:t>Data type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dirty="0"/>
              <a:t> is the smallest integral data type</a:t>
            </a:r>
          </a:p>
          <a:p>
            <a:r>
              <a:rPr lang="en-US" altLang="en-US" dirty="0"/>
              <a:t>It is used for single characters: letters, digits, and special symbols</a:t>
            </a:r>
          </a:p>
          <a:p>
            <a:r>
              <a:rPr lang="en-US" altLang="en-US" dirty="0"/>
              <a:t>Each character is enclosed in single quotes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'0'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'*'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'+'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'$'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'&amp;'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dirty="0"/>
              <a:t>A blank space is a character</a:t>
            </a:r>
          </a:p>
          <a:p>
            <a:pPr lvl="1"/>
            <a:r>
              <a:rPr lang="en-US" altLang="en-US" dirty="0"/>
              <a:t>Written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altLang="en-US" dirty="0"/>
              <a:t>, with a space left between the single quotes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E7BF410-1B9B-4674-B466-2850D17B6D07}" type="slidenum">
              <a:rPr lang="en-US" altLang="en-US" smtClean="0">
                <a:solidFill>
                  <a:schemeClr val="bg1"/>
                </a:solidFill>
              </a:rPr>
              <a:pPr/>
              <a:t>21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Floating-Point Data Types (1 of 3)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C++ uses scientific notation to represent real numbers (floating-point notation)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542924" y="2209800"/>
            <a:ext cx="7686676" cy="297004"/>
          </a:xfrm>
          <a:prstGeom prst="rect">
            <a:avLst/>
          </a:prstGeom>
        </p:spPr>
        <p:txBody>
          <a:bodyPr lIns="45720" rIns="45720"/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400" b="1" dirty="0"/>
              <a:t>TABLE 2-3 </a:t>
            </a:r>
            <a:r>
              <a:rPr lang="en-US" sz="1400" dirty="0"/>
              <a:t>Examples of Decimal Numbers in Scientific and C11 Floating-Point Notations</a:t>
            </a:r>
          </a:p>
        </p:txBody>
      </p:sp>
      <p:graphicFrame>
        <p:nvGraphicFramePr>
          <p:cNvPr id="8" name="Table 7" descr="Table 1-1 summarizes the terms used to describe various numbers of bytes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30821"/>
              </p:ext>
            </p:extLst>
          </p:nvPr>
        </p:nvGraphicFramePr>
        <p:xfrm>
          <a:off x="542924" y="2544904"/>
          <a:ext cx="768667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Decimal Number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Scientific Notation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C++</a:t>
                      </a: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Floating-Point Notation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75.924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7.5924 * 10</a:t>
                      </a:r>
                      <a:r>
                        <a:rPr lang="en-US" sz="1600" b="1" kern="120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7.592400E1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0.18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1.8 * 10</a:t>
                      </a:r>
                      <a:r>
                        <a:rPr lang="en-US" sz="1600" b="1" kern="120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-1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1.800000E-1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0.0000453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4.53 * 10</a:t>
                      </a:r>
                      <a:r>
                        <a:rPr lang="en-US" sz="1600" b="1" kern="120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-5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4.530000E-5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–1.482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-1.482 * 10</a:t>
                      </a:r>
                      <a:r>
                        <a:rPr lang="en-US" sz="1600" b="1" kern="120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-1.482000E0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7800.0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7.8 * 10</a:t>
                      </a:r>
                      <a:r>
                        <a:rPr lang="en-US" sz="1600" b="1" kern="120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7.800000E3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65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2765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725B89E-DDD0-4E41-BD89-4F4171B42542}" type="slidenum">
              <a:rPr lang="en-US" altLang="en-US" smtClean="0">
                <a:solidFill>
                  <a:schemeClr val="bg1"/>
                </a:solidFill>
              </a:rPr>
              <a:pPr/>
              <a:t>22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Floating-Point Data Types (2 of 3)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865126"/>
          </a:xfrm>
        </p:spPr>
        <p:txBody>
          <a:bodyPr/>
          <a:lstStyle/>
          <a:p>
            <a:pPr lvl="0">
              <a:buClr>
                <a:srgbClr val="055C91"/>
              </a:buClr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: represents any real number</a:t>
            </a:r>
          </a:p>
          <a:p>
            <a:pPr lvl="1">
              <a:buClr>
                <a:srgbClr val="0D3857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Range: </a:t>
            </a:r>
            <a:r>
              <a:rPr 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-3.4 * 10</a:t>
            </a:r>
            <a:r>
              <a:rPr lang="en-US" b="1" baseline="30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to </a:t>
            </a:r>
            <a:r>
              <a:rPr 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3.4 * 10</a:t>
            </a:r>
            <a:r>
              <a:rPr lang="en-US" b="1" baseline="30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(four bytes)</a:t>
            </a:r>
          </a:p>
          <a:p>
            <a:pPr lvl="0">
              <a:buClr>
                <a:srgbClr val="055C91"/>
              </a:buClr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: represents any real number</a:t>
            </a:r>
          </a:p>
          <a:p>
            <a:pPr lvl="1">
              <a:buClr>
                <a:srgbClr val="0D3857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Range: </a:t>
            </a:r>
            <a:r>
              <a:rPr 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1.7 * 10</a:t>
            </a:r>
            <a:r>
              <a:rPr lang="en-US" altLang="en-US" b="1" baseline="30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308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to 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1.7 * 10</a:t>
            </a:r>
            <a:r>
              <a:rPr lang="en-US" altLang="en-US" b="1" baseline="30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308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(eight bytes)</a:t>
            </a:r>
          </a:p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Minimum and maximum values of data types are system dependent</a:t>
            </a: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A6F812A-E4F4-4464-B04D-F2346BD6AE14}" type="slidenum">
              <a:rPr lang="en-US" altLang="en-US" smtClean="0">
                <a:solidFill>
                  <a:schemeClr val="bg1"/>
                </a:solidFill>
              </a:rPr>
              <a:pPr/>
              <a:t>23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Floating-Point Data Types (3 of 3)</a:t>
            </a:r>
          </a:p>
        </p:txBody>
      </p:sp>
      <p:sp>
        <p:nvSpPr>
          <p:cNvPr id="29699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868588"/>
          </a:xfrm>
        </p:spPr>
        <p:txBody>
          <a:bodyPr/>
          <a:lstStyle/>
          <a:p>
            <a:r>
              <a:rPr lang="en-US" altLang="en-US" dirty="0"/>
              <a:t>Maximum number of significant digits (decimal places) for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dirty="0"/>
              <a:t> values: 6 or 7 </a:t>
            </a:r>
          </a:p>
          <a:p>
            <a:r>
              <a:rPr lang="en-US" altLang="en-US" dirty="0"/>
              <a:t>Maximum number of significant digits for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en-US" dirty="0"/>
              <a:t>: 15</a:t>
            </a:r>
          </a:p>
          <a:p>
            <a:r>
              <a:rPr lang="en-US" altLang="en-US" u="sng" dirty="0"/>
              <a:t>Precision</a:t>
            </a:r>
            <a:r>
              <a:rPr lang="en-US" altLang="en-US" dirty="0"/>
              <a:t>: maximum number of significant digits</a:t>
            </a:r>
          </a:p>
          <a:p>
            <a:pPr lvl="1"/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values are called </a:t>
            </a:r>
            <a:r>
              <a:rPr lang="en-US" altLang="en-US" u="sng" dirty="0"/>
              <a:t>single precision</a:t>
            </a:r>
          </a:p>
          <a:p>
            <a:pPr lvl="1"/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en-US" dirty="0"/>
              <a:t> values are called </a:t>
            </a:r>
            <a:r>
              <a:rPr lang="en-US" altLang="en-US" u="sng" dirty="0"/>
              <a:t>double precision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BCA5EC4-DA3A-42E7-A704-46758B178BC6}" type="slidenum">
              <a:rPr lang="en-US" altLang="en-US" smtClean="0">
                <a:solidFill>
                  <a:schemeClr val="bg1"/>
                </a:solidFill>
              </a:rPr>
              <a:pPr/>
              <a:t>24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Types, Variables, and Assignment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219343"/>
          </a:xfrm>
        </p:spPr>
        <p:txBody>
          <a:bodyPr/>
          <a:lstStyle/>
          <a:p>
            <a:r>
              <a:rPr lang="en-US" dirty="0"/>
              <a:t>To declare a variable, must specify its data type</a:t>
            </a:r>
          </a:p>
          <a:p>
            <a:r>
              <a:rPr lang="en-US" dirty="0"/>
              <a:t>Syntax rule to declare a variable is: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dataType identifier;</a:t>
            </a:r>
          </a:p>
          <a:p>
            <a:r>
              <a:rPr lang="en-US" dirty="0"/>
              <a:t>Examples include:</a:t>
            </a:r>
          </a:p>
          <a:p>
            <a:pPr marL="40005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counter;</a:t>
            </a:r>
          </a:p>
          <a:p>
            <a:pPr marL="40005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interestRate;</a:t>
            </a:r>
          </a:p>
          <a:p>
            <a:pPr marL="40005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grade;</a:t>
            </a:r>
          </a:p>
          <a:p>
            <a:r>
              <a:rPr lang="en-US" u="sng" dirty="0"/>
              <a:t>Assignment statement</a:t>
            </a:r>
            <a:r>
              <a:rPr lang="en-US" dirty="0"/>
              <a:t> has the form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 = expression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Example: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interestRate = 0.05;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624024C-313A-421E-AE81-482E053A3D1C}" type="slidenum">
              <a:rPr lang="en-US" altLang="en-US" smtClean="0">
                <a:solidFill>
                  <a:schemeClr val="bg1"/>
                </a:solidFill>
              </a:rPr>
              <a:pPr/>
              <a:t>25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and Style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39129"/>
          </a:xfrm>
        </p:spPr>
        <p:txBody>
          <a:bodyPr/>
          <a:lstStyle/>
          <a:p>
            <a:r>
              <a:rPr lang="en-US" altLang="en-US" dirty="0"/>
              <a:t>Consider two ways of declaring variables:</a:t>
            </a:r>
          </a:p>
          <a:p>
            <a:pPr lvl="1"/>
            <a:r>
              <a:rPr lang="en-US" altLang="en-US" dirty="0"/>
              <a:t>Method 1</a:t>
            </a:r>
          </a:p>
          <a:p>
            <a:pPr lvl="1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feet, inches;</a:t>
            </a:r>
          </a:p>
          <a:p>
            <a:pPr lvl="1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x, y;</a:t>
            </a:r>
          </a:p>
          <a:p>
            <a:pPr lvl="1"/>
            <a:r>
              <a:rPr lang="en-US" altLang="en-US" dirty="0"/>
              <a:t>Method 2</a:t>
            </a:r>
          </a:p>
          <a:p>
            <a:pPr lvl="1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feet,inches;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x,y;</a:t>
            </a:r>
          </a:p>
          <a:p>
            <a:r>
              <a:rPr lang="en-US" altLang="en-US" dirty="0"/>
              <a:t>Both are correct; however, the second is harder to read</a:t>
            </a:r>
          </a:p>
        </p:txBody>
      </p:sp>
      <p:sp>
        <p:nvSpPr>
          <p:cNvPr id="72708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270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3478E70-9330-4833-BF3E-F58C57BF88DB}" type="slidenum">
              <a:rPr lang="en-US" altLang="en-US" smtClean="0">
                <a:solidFill>
                  <a:schemeClr val="bg1"/>
                </a:solidFill>
              </a:rPr>
              <a:pPr/>
              <a:t>26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126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Arithmetic Operators, Operator Precedence, and Expressions (1 of 2)</a:t>
            </a:r>
          </a:p>
        </p:txBody>
      </p:sp>
      <p:sp>
        <p:nvSpPr>
          <p:cNvPr id="31747" name="Rectangle 6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889252"/>
          </a:xfrm>
        </p:spPr>
        <p:txBody>
          <a:bodyPr/>
          <a:lstStyle/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C++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arithmetic operators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include:</a:t>
            </a:r>
          </a:p>
          <a:p>
            <a:pPr lvl="1" indent="0">
              <a:buClr>
                <a:srgbClr val="0D3857"/>
              </a:buClr>
              <a:buNone/>
            </a:pP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addition</a:t>
            </a:r>
          </a:p>
          <a:p>
            <a:pPr lvl="1" indent="0">
              <a:buClr>
                <a:srgbClr val="0D3857"/>
              </a:buClr>
              <a:buNone/>
            </a:pPr>
            <a:r>
              <a:rPr 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subtraction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(or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negation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en-US" u="sng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 indent="0">
              <a:buClr>
                <a:srgbClr val="0D3857"/>
              </a:buClr>
              <a:buNone/>
            </a:pP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multiplication</a:t>
            </a:r>
          </a:p>
          <a:p>
            <a:pPr lvl="1" indent="0">
              <a:buClr>
                <a:srgbClr val="0D3857"/>
              </a:buClr>
              <a:buNone/>
            </a:pP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division</a:t>
            </a:r>
          </a:p>
          <a:p>
            <a:pPr lvl="1" indent="0">
              <a:buClr>
                <a:srgbClr val="0D3857"/>
              </a:buClr>
              <a:buNone/>
            </a:pP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mod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(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modulus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or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remainder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</a:p>
          <a:p>
            <a:pPr lvl="0">
              <a:buClr>
                <a:srgbClr val="055C91"/>
              </a:buClr>
            </a:pP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and 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can be used with integral and floating-point data types</a:t>
            </a:r>
          </a:p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Modulus (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) can only be used with integral data types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8381FA8-DFE9-4B04-88F9-A3F6D546562B}" type="slidenum">
              <a:rPr lang="en-US" altLang="en-US" smtClean="0">
                <a:solidFill>
                  <a:schemeClr val="bg1"/>
                </a:solidFill>
              </a:rPr>
              <a:pPr/>
              <a:t>27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Arithmetic Operators, Operator Precedence, and Expressions (2 of 2)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23604"/>
          </a:xfrm>
        </p:spPr>
        <p:txBody>
          <a:bodyPr/>
          <a:lstStyle/>
          <a:p>
            <a:r>
              <a:rPr lang="en-US" altLang="en-US" dirty="0"/>
              <a:t>When you use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dirty="0"/>
              <a:t> with integral data types, the integral result is truncated (no rounding)</a:t>
            </a:r>
          </a:p>
          <a:p>
            <a:r>
              <a:rPr lang="en-US" altLang="en-US" u="sng" dirty="0"/>
              <a:t>Arithmetic expressions</a:t>
            </a:r>
            <a:r>
              <a:rPr lang="en-US" altLang="en-US" dirty="0"/>
              <a:t> contain values and arithmetic operators</a:t>
            </a:r>
          </a:p>
          <a:p>
            <a:r>
              <a:rPr lang="en-US" altLang="en-US" u="sng" dirty="0"/>
              <a:t>Operands</a:t>
            </a:r>
            <a:r>
              <a:rPr lang="en-US" altLang="en-US" dirty="0"/>
              <a:t> are the numbers appearing in the expressions</a:t>
            </a:r>
          </a:p>
          <a:p>
            <a:r>
              <a:rPr lang="en-US" altLang="en-US" u="sng" dirty="0"/>
              <a:t>Operators</a:t>
            </a:r>
            <a:r>
              <a:rPr lang="en-US" altLang="en-US" dirty="0"/>
              <a:t> can be </a:t>
            </a:r>
            <a:r>
              <a:rPr lang="en-US" altLang="en-US" u="sng" dirty="0"/>
              <a:t>unary</a:t>
            </a:r>
            <a:r>
              <a:rPr lang="en-US" altLang="en-US" dirty="0"/>
              <a:t> (one operand) or </a:t>
            </a:r>
            <a:r>
              <a:rPr lang="en-US" altLang="en-US" u="sng" dirty="0"/>
              <a:t>binary</a:t>
            </a:r>
            <a:r>
              <a:rPr lang="en-US" altLang="en-US" dirty="0"/>
              <a:t> (two operands)</a:t>
            </a: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BC7C6D9-F1BA-41B2-A40C-DCA7918C2C9F}" type="slidenum">
              <a:rPr lang="en-US" altLang="en-US" smtClean="0">
                <a:solidFill>
                  <a:schemeClr val="bg1"/>
                </a:solidFill>
              </a:rPr>
              <a:pPr/>
              <a:t>28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Order of Precedence</a:t>
            </a:r>
          </a:p>
        </p:txBody>
      </p:sp>
      <p:sp>
        <p:nvSpPr>
          <p:cNvPr id="3686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757678"/>
          </a:xfrm>
        </p:spPr>
        <p:txBody>
          <a:bodyPr/>
          <a:lstStyle/>
          <a:p>
            <a:r>
              <a:rPr lang="en-US" dirty="0"/>
              <a:t>All operations inside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are evaluated first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/>
              <a:t> are at the same level of precedence and are evaluated next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 have the same level of precedence and are evaluated last</a:t>
            </a:r>
          </a:p>
          <a:p>
            <a:r>
              <a:rPr lang="en-US" dirty="0"/>
              <a:t>When operators are on the same level</a:t>
            </a:r>
          </a:p>
          <a:p>
            <a:pPr lvl="1"/>
            <a:r>
              <a:rPr lang="en-US" dirty="0"/>
              <a:t>Operations are performed from left to right (associativity)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 * 7 - 6 + 2 * 5 / 4 + 6 </a:t>
            </a:r>
            <a:r>
              <a:rPr lang="en-US" dirty="0"/>
              <a:t>means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(((3 * 7) – 6) + ((2 * 5) / 4 )) + 6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8AF8EF9-AEB2-42FE-8B6F-DA7C53AB8955}" type="slidenum">
              <a:rPr lang="en-US" altLang="en-US" smtClean="0">
                <a:solidFill>
                  <a:schemeClr val="bg1"/>
                </a:solidFill>
              </a:rPr>
              <a:pPr/>
              <a:t>29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Expressions</a:t>
            </a:r>
          </a:p>
        </p:txBody>
      </p:sp>
      <p:sp>
        <p:nvSpPr>
          <p:cNvPr id="34819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99036"/>
          </a:xfrm>
        </p:spPr>
        <p:txBody>
          <a:bodyPr/>
          <a:lstStyle/>
          <a:p>
            <a:r>
              <a:rPr lang="en-US" altLang="en-US" u="sng" dirty="0"/>
              <a:t>Integral expression</a:t>
            </a:r>
            <a:r>
              <a:rPr lang="en-US" altLang="en-US" dirty="0"/>
              <a:t>: all operands are integers</a:t>
            </a:r>
          </a:p>
          <a:p>
            <a:pPr lvl="1"/>
            <a:r>
              <a:rPr lang="en-US" altLang="en-US" dirty="0"/>
              <a:t>Yields an integral result</a:t>
            </a:r>
          </a:p>
          <a:p>
            <a:pPr lvl="1"/>
            <a:r>
              <a:rPr lang="en-US" altLang="en-US" dirty="0"/>
              <a:t>Example: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 + 3 * 5</a:t>
            </a:r>
            <a:endParaRPr lang="en-US" altLang="en-US" dirty="0"/>
          </a:p>
          <a:p>
            <a:r>
              <a:rPr lang="en-US" altLang="en-US" u="sng" dirty="0"/>
              <a:t>Floating-point (decimal) expression</a:t>
            </a:r>
            <a:r>
              <a:rPr lang="en-US" altLang="en-US" dirty="0"/>
              <a:t>: all operands are floating-point</a:t>
            </a:r>
          </a:p>
          <a:p>
            <a:pPr lvl="1"/>
            <a:r>
              <a:rPr lang="en-US" altLang="en-US" dirty="0"/>
              <a:t>Yields a floating-point result</a:t>
            </a:r>
          </a:p>
          <a:p>
            <a:pPr lvl="1"/>
            <a:r>
              <a:rPr lang="en-US" altLang="en-US" dirty="0"/>
              <a:t>Example: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12.8 * 17.5 - 34.50</a:t>
            </a:r>
          </a:p>
        </p:txBody>
      </p:sp>
      <p:sp>
        <p:nvSpPr>
          <p:cNvPr id="34820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E43BF38-6CFB-432E-9682-4290D5A5FC52}" type="slidenum">
              <a:rPr lang="en-US" altLang="en-US" smtClean="0">
                <a:solidFill>
                  <a:schemeClr val="bg1"/>
                </a:solidFill>
              </a:rPr>
              <a:pPr/>
              <a:t>30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Mixed Expressions (1 of 2)</a:t>
            </a:r>
          </a:p>
        </p:txBody>
      </p:sp>
      <p:sp>
        <p:nvSpPr>
          <p:cNvPr id="3584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856167"/>
          </a:xfrm>
        </p:spPr>
        <p:txBody>
          <a:bodyPr/>
          <a:lstStyle/>
          <a:p>
            <a:r>
              <a:rPr lang="en-US" altLang="en-US" u="sng" dirty="0"/>
              <a:t>Mixed expression</a:t>
            </a:r>
            <a:endParaRPr lang="en-US" altLang="en-US" dirty="0"/>
          </a:p>
          <a:p>
            <a:pPr lvl="1"/>
            <a:r>
              <a:rPr lang="en-US" altLang="en-US" dirty="0"/>
              <a:t>Has operands of different data types</a:t>
            </a:r>
          </a:p>
          <a:p>
            <a:pPr lvl="1"/>
            <a:r>
              <a:rPr lang="en-US" altLang="en-US" dirty="0"/>
              <a:t>Contains integers and floating-point</a:t>
            </a:r>
          </a:p>
          <a:p>
            <a:r>
              <a:rPr lang="en-US" altLang="en-US" dirty="0"/>
              <a:t>Examples of mixed expressions</a:t>
            </a:r>
          </a:p>
          <a:p>
            <a:pPr marL="344488" lvl="1" indent="0"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+ 3.5</a:t>
            </a:r>
          </a:p>
          <a:p>
            <a:pPr marL="344488" lvl="1" indent="0"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6  /  4 + 3.9</a:t>
            </a:r>
          </a:p>
          <a:p>
            <a:pPr marL="344488" lvl="1" indent="0"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5.4  *  2 – 13.6 + 18  /  2</a:t>
            </a:r>
          </a:p>
          <a:p>
            <a:endParaRPr lang="en-US" altLang="en-US" dirty="0"/>
          </a:p>
        </p:txBody>
      </p:sp>
      <p:sp>
        <p:nvSpPr>
          <p:cNvPr id="3584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988F9F5-2781-4815-85D0-23736730AAE8}" type="slidenum">
              <a:rPr lang="en-US" altLang="en-US" smtClean="0">
                <a:solidFill>
                  <a:schemeClr val="bg1"/>
                </a:solidFill>
              </a:rPr>
              <a:pPr/>
              <a:t>31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Mixed Expressions (2 of 2)</a:t>
            </a:r>
          </a:p>
        </p:txBody>
      </p:sp>
      <p:sp>
        <p:nvSpPr>
          <p:cNvPr id="3686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45285"/>
          </a:xfrm>
        </p:spPr>
        <p:txBody>
          <a:bodyPr/>
          <a:lstStyle/>
          <a:p>
            <a:r>
              <a:rPr lang="en-US" altLang="en-US" dirty="0"/>
              <a:t>Evaluation rules</a:t>
            </a:r>
          </a:p>
          <a:p>
            <a:pPr lvl="1"/>
            <a:r>
              <a:rPr lang="en-US" altLang="en-US" dirty="0"/>
              <a:t>If operator has same types of operands</a:t>
            </a:r>
          </a:p>
          <a:p>
            <a:pPr lvl="2"/>
            <a:r>
              <a:rPr lang="en-US" altLang="en-US" dirty="0"/>
              <a:t>The operator is evaluated according to the type of the operands </a:t>
            </a:r>
          </a:p>
          <a:p>
            <a:pPr lvl="1"/>
            <a:r>
              <a:rPr lang="en-US" altLang="en-US" dirty="0"/>
              <a:t>If operator has both types of operands</a:t>
            </a:r>
          </a:p>
          <a:p>
            <a:pPr lvl="2"/>
            <a:r>
              <a:rPr lang="en-US" altLang="en-US" dirty="0"/>
              <a:t>Integer is changed to floating-point </a:t>
            </a:r>
          </a:p>
          <a:p>
            <a:pPr lvl="2"/>
            <a:r>
              <a:rPr lang="en-US" altLang="en-US" dirty="0"/>
              <a:t>Operator is evaluated </a:t>
            </a:r>
          </a:p>
          <a:p>
            <a:pPr lvl="2"/>
            <a:r>
              <a:rPr lang="en-US" altLang="en-US" dirty="0"/>
              <a:t>Result is floating-point</a:t>
            </a:r>
          </a:p>
          <a:p>
            <a:pPr lvl="1"/>
            <a:r>
              <a:rPr lang="en-US" altLang="en-US" dirty="0"/>
              <a:t>Entire expression is evaluated according to precedence rules</a:t>
            </a:r>
          </a:p>
        </p:txBody>
      </p:sp>
      <p:sp>
        <p:nvSpPr>
          <p:cNvPr id="36868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511F2BF-7592-4082-9AC9-906D63E56682}" type="slidenum">
              <a:rPr lang="en-US" altLang="en-US" smtClean="0">
                <a:solidFill>
                  <a:schemeClr val="bg1"/>
                </a:solidFill>
              </a:rPr>
              <a:pPr/>
              <a:t>32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667158"/>
          </a:xfrm>
        </p:spPr>
        <p:txBody>
          <a:bodyPr/>
          <a:lstStyle/>
          <a:p>
            <a:pPr marL="0" indent="-457200">
              <a:defRPr/>
            </a:pPr>
            <a:r>
              <a:rPr lang="en-US" altLang="en-US" sz="2400" dirty="0">
                <a:ea typeface="ＭＳ Ｐゴシック" pitchFamily="50" charset="-128"/>
              </a:rPr>
              <a:t>Given: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ea typeface="ＭＳ Ｐゴシック" pitchFamily="50" charset="-128"/>
              </a:rPr>
              <a:t>	</a:t>
            </a:r>
            <a:r>
              <a:rPr lang="en-US" altLang="en-US" sz="2400" dirty="0" err="1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int</a:t>
            </a:r>
            <a:r>
              <a:rPr lang="en-US" altLang="en-US" sz="2400" dirty="0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 X; 	double Y;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	Y = 3.4; X = 12;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    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	</a:t>
            </a:r>
            <a:r>
              <a:rPr lang="en-US" altLang="en-US" sz="2400" dirty="0" err="1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int</a:t>
            </a:r>
            <a:r>
              <a:rPr lang="en-US" altLang="en-US" sz="2400" dirty="0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 (Y) + X = Y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400" i="1" dirty="0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	So, answer is Y = 15</a:t>
            </a:r>
          </a:p>
          <a:p>
            <a:pPr marL="698500" lvl="2" indent="0">
              <a:buFontTx/>
              <a:buNone/>
              <a:defRPr/>
            </a:pPr>
            <a:r>
              <a:rPr lang="en-US" altLang="en-US" dirty="0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	X + Y = Y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	</a:t>
            </a:r>
            <a:r>
              <a:rPr lang="en-US" altLang="en-US" sz="2400" i="1" dirty="0">
                <a:latin typeface="Courier New" pitchFamily="49" charset="0"/>
                <a:ea typeface="ＭＳ Ｐゴシック" pitchFamily="50" charset="-128"/>
                <a:cs typeface="Courier New" pitchFamily="49" charset="0"/>
              </a:rPr>
              <a:t>So, answer is Y = 15.4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Mixed Expressions (2 of </a:t>
            </a:r>
            <a:r>
              <a:rPr lang="en-US" altLang="en-US" dirty="0" smtClean="0"/>
              <a:t>3)</a:t>
            </a:r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921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Assignment Statement (1 of 4)</a:t>
            </a:r>
          </a:p>
        </p:txBody>
      </p:sp>
      <p:sp>
        <p:nvSpPr>
          <p:cNvPr id="45060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US" altLang="en-US" dirty="0"/>
              <a:t>The assignment statement takes the form:</a:t>
            </a:r>
          </a:p>
        </p:txBody>
      </p:sp>
      <p:pic>
        <p:nvPicPr>
          <p:cNvPr id="11" name="Picture 2" descr="variable = expression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30765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1"/>
          </p:nvPr>
        </p:nvSpPr>
        <p:spPr>
          <a:xfrm>
            <a:off x="365125" y="2621213"/>
            <a:ext cx="8415338" cy="1188787"/>
          </a:xfrm>
        </p:spPr>
        <p:txBody>
          <a:bodyPr/>
          <a:lstStyle/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Expression is evaluated and its value is assigned to the variable on the left side</a:t>
            </a:r>
          </a:p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A variable is said to be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initialized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the first time a value is placed into it</a:t>
            </a:r>
          </a:p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In C++, 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is called the </a:t>
            </a:r>
            <a:r>
              <a:rPr lang="en-US" altLang="en-US" u="sng" dirty="0">
                <a:solidFill>
                  <a:srgbClr val="000000">
                    <a:lumMod val="75000"/>
                    <a:lumOff val="25000"/>
                  </a:srgbClr>
                </a:solidFill>
              </a:rPr>
              <a:t>assignment operator</a:t>
            </a:r>
          </a:p>
        </p:txBody>
      </p:sp>
      <p:sp>
        <p:nvSpPr>
          <p:cNvPr id="45061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4506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4BB0AD5-53A1-42C1-9C38-871267D1B684}" type="slidenum">
              <a:rPr lang="en-US" altLang="en-US" smtClean="0">
                <a:solidFill>
                  <a:schemeClr val="bg1"/>
                </a:solidFill>
              </a:rPr>
              <a:pPr/>
              <a:t>34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Constants / Assignment Statement </a:t>
            </a:r>
            <a:r>
              <a:rPr lang="en-US" dirty="0"/>
              <a:t>(1 of2)</a:t>
            </a:r>
          </a:p>
        </p:txBody>
      </p:sp>
      <p:sp>
        <p:nvSpPr>
          <p:cNvPr id="41988" name="Rectangle 7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031051"/>
          </a:xfrm>
        </p:spPr>
        <p:txBody>
          <a:bodyPr/>
          <a:lstStyle/>
          <a:p>
            <a:r>
              <a:rPr lang="en-US" altLang="en-US" u="sng" dirty="0"/>
              <a:t>Named constant</a:t>
            </a:r>
            <a:r>
              <a:rPr lang="en-US" altLang="en-US" dirty="0"/>
              <a:t>: memory location whose content cannot change during execution</a:t>
            </a:r>
          </a:p>
          <a:p>
            <a:r>
              <a:rPr lang="en-US" altLang="en-US" dirty="0"/>
              <a:t>Syntax to declare a named constant</a:t>
            </a:r>
          </a:p>
        </p:txBody>
      </p:sp>
      <p:pic>
        <p:nvPicPr>
          <p:cNvPr id="13" name="Picture 3" descr="const dataType identifier = value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24150"/>
            <a:ext cx="4581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1"/>
          </p:nvPr>
        </p:nvSpPr>
        <p:spPr>
          <a:xfrm>
            <a:off x="365125" y="3376136"/>
            <a:ext cx="8415338" cy="738664"/>
          </a:xfrm>
        </p:spPr>
        <p:txBody>
          <a:bodyPr/>
          <a:lstStyle/>
          <a:p>
            <a:r>
              <a:rPr lang="en-US" altLang="en-US" dirty="0"/>
              <a:t>In C++,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is a reserved word</a:t>
            </a:r>
          </a:p>
          <a:p>
            <a:endParaRPr lang="en-US" dirty="0"/>
          </a:p>
        </p:txBody>
      </p:sp>
      <p:pic>
        <p:nvPicPr>
          <p:cNvPr id="11" name="Picture 2" descr="Example 2-11 shows three examples of C++ statements declaring named constants:&#10;&#10;const double CONVERSION = 2.54;&#10;const int NO_OF_STUDENTS = 20;&#10;const char BLANK = ' ';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067175"/>
            <a:ext cx="436245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41991" name="Slide Number Placeholder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E0EE08C-B48B-415E-B26C-C55652B25FBA}" type="slidenum">
              <a:rPr lang="en-US" altLang="en-US" smtClean="0">
                <a:solidFill>
                  <a:schemeClr val="bg1"/>
                </a:solidFill>
              </a:rPr>
              <a:pPr/>
              <a:t>35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 / Assignment Statement </a:t>
            </a:r>
            <a:r>
              <a:rPr lang="en-US" dirty="0" smtClean="0"/>
              <a:t>(2 </a:t>
            </a:r>
            <a:r>
              <a:rPr lang="en-US" dirty="0"/>
              <a:t>of2)</a:t>
            </a:r>
            <a:endParaRPr lang="en-US" dirty="0"/>
          </a:p>
        </p:txBody>
      </p:sp>
      <p:sp>
        <p:nvSpPr>
          <p:cNvPr id="43011" name="Rectangle 16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184940"/>
          </a:xfrm>
        </p:spPr>
        <p:txBody>
          <a:bodyPr/>
          <a:lstStyle/>
          <a:p>
            <a:r>
              <a:rPr lang="en-US" altLang="en-US" u="sng" dirty="0"/>
              <a:t>Variable</a:t>
            </a:r>
            <a:r>
              <a:rPr lang="en-US" altLang="en-US" dirty="0"/>
              <a:t>: memory location whose content may change during execution</a:t>
            </a:r>
          </a:p>
          <a:p>
            <a:r>
              <a:rPr lang="en-US" altLang="en-US" dirty="0"/>
              <a:t>Syntax to declare one or multiple variables</a:t>
            </a:r>
          </a:p>
          <a:p>
            <a:endParaRPr lang="en-US" altLang="en-US" dirty="0"/>
          </a:p>
        </p:txBody>
      </p:sp>
      <p:pic>
        <p:nvPicPr>
          <p:cNvPr id="13" name="Picture 4" descr="dataType identifier, identifier, ...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400300"/>
            <a:ext cx="52006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Example 2-12 provides five examples of declaring variables:&#10;&#10;double amountDue;&#10;int counter;&#10;char ch;&#10;int x, y;&#10;string name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378142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4301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DFD34C6-0638-4C95-9491-2CDBA4889092}" type="slidenum">
              <a:rPr lang="en-US" altLang="en-US" smtClean="0">
                <a:solidFill>
                  <a:schemeClr val="bg1"/>
                </a:solidFill>
              </a:rPr>
              <a:pPr/>
              <a:t>36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Assignment Statement (2 of 4)</a:t>
            </a:r>
          </a:p>
        </p:txBody>
      </p:sp>
      <p:pic>
        <p:nvPicPr>
          <p:cNvPr id="8" name="Picture 2" descr="Example 2-13 illustrates variable declarations and assignment statements:&#10;&#10;int num1, num2;&#10;double sale;&#10;char first;&#10;string str;&#10;&#10;num1 = 4;&#10;num2 = 4 * 5 - 11;&#10;sale = 0.02 * 1000;&#10;first = 'D';&#10;str = &quot;It is a sunny day.&quot;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1457325"/>
            <a:ext cx="5695950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4608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0FE9BDC-F223-4B38-B1BA-4749D4FC6374}" type="slidenum">
              <a:rPr lang="en-US" altLang="en-US" smtClean="0">
                <a:solidFill>
                  <a:schemeClr val="bg1"/>
                </a:solidFill>
              </a:rPr>
              <a:pPr/>
              <a:t>37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Input (Read) Statement (1 of 3)</a:t>
            </a:r>
          </a:p>
        </p:txBody>
      </p:sp>
      <p:sp>
        <p:nvSpPr>
          <p:cNvPr id="49155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6235"/>
          </a:xfrm>
        </p:spPr>
        <p:txBody>
          <a:bodyPr/>
          <a:lstStyle/>
          <a:p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dirty="0"/>
              <a:t> is used with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altLang="en-US" dirty="0"/>
              <a:t> to gather one or more inputs</a:t>
            </a:r>
          </a:p>
        </p:txBody>
      </p:sp>
      <p:pic>
        <p:nvPicPr>
          <p:cNvPr id="2050" name="Picture 2" descr="cin &gt;&gt; variable &gt;&gt;  variable...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4343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1"/>
          </p:nvPr>
        </p:nvSpPr>
        <p:spPr>
          <a:xfrm>
            <a:off x="365125" y="2667000"/>
            <a:ext cx="8415338" cy="2526846"/>
          </a:xfrm>
        </p:spPr>
        <p:txBody>
          <a:bodyPr/>
          <a:lstStyle/>
          <a:p>
            <a:r>
              <a:rPr lang="en-US" altLang="en-US" dirty="0"/>
              <a:t>This is called an </a:t>
            </a:r>
            <a:r>
              <a:rPr lang="en-US" altLang="en-US" u="sng" dirty="0"/>
              <a:t>input</a:t>
            </a:r>
            <a:r>
              <a:rPr lang="en-US" altLang="en-US" dirty="0"/>
              <a:t> (</a:t>
            </a:r>
            <a:r>
              <a:rPr lang="en-US" altLang="en-US" u="sng" dirty="0"/>
              <a:t>read</a:t>
            </a:r>
            <a:r>
              <a:rPr lang="en-US" altLang="en-US" dirty="0"/>
              <a:t>) statement</a:t>
            </a:r>
          </a:p>
          <a:p>
            <a:r>
              <a:rPr lang="en-US" altLang="en-US" dirty="0"/>
              <a:t>The </a:t>
            </a:r>
            <a:r>
              <a:rPr lang="en-US" altLang="en-US" u="sng" dirty="0"/>
              <a:t>stream extraction operator</a:t>
            </a:r>
            <a:r>
              <a:rPr lang="en-US" altLang="en-US" dirty="0"/>
              <a:t> is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endParaRPr lang="en-US" altLang="en-US" dirty="0"/>
          </a:p>
          <a:p>
            <a:r>
              <a:rPr lang="en-US" altLang="en-US" dirty="0"/>
              <a:t>For example, if miles is a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en-US" dirty="0"/>
              <a:t> variable:</a:t>
            </a:r>
            <a:br>
              <a:rPr lang="en-US" altLang="en-US" dirty="0"/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cin &gt;&gt; miles;</a:t>
            </a:r>
          </a:p>
          <a:p>
            <a:pPr lvl="1"/>
            <a:r>
              <a:rPr lang="en-US" altLang="en-US" dirty="0"/>
              <a:t>Causes the computer to get a value of type double and places it in the variable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miles</a:t>
            </a:r>
          </a:p>
          <a:p>
            <a:endParaRPr lang="en-US" dirty="0"/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4915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FDD931C-6D6A-4BB0-AC01-7EA7AFBA21D5}" type="slidenum">
              <a:rPr lang="en-US" altLang="en-US" smtClean="0">
                <a:solidFill>
                  <a:schemeClr val="bg1"/>
                </a:solidFill>
              </a:rPr>
              <a:pPr/>
              <a:t>38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Output (1 of 4)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738664"/>
          </a:xfrm>
        </p:spPr>
        <p:txBody>
          <a:bodyPr/>
          <a:lstStyle/>
          <a:p>
            <a:r>
              <a:rPr lang="en-US" altLang="en-US" dirty="0"/>
              <a:t>The syntax of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en-US" dirty="0"/>
              <a:t> is:</a:t>
            </a:r>
          </a:p>
          <a:p>
            <a:endParaRPr lang="en-US" altLang="en-US" dirty="0"/>
          </a:p>
        </p:txBody>
      </p:sp>
      <p:pic>
        <p:nvPicPr>
          <p:cNvPr id="8" name="Picture 2" descr="cout &lt;&lt; expression or manipulator &lt;&lt; expression or manipulator...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981200"/>
            <a:ext cx="842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1"/>
          </p:nvPr>
        </p:nvSpPr>
        <p:spPr>
          <a:xfrm>
            <a:off x="365125" y="2743200"/>
            <a:ext cx="8415338" cy="1448089"/>
          </a:xfrm>
        </p:spPr>
        <p:txBody>
          <a:bodyPr/>
          <a:lstStyle/>
          <a:p>
            <a:pPr lvl="1"/>
            <a:r>
              <a:rPr lang="en-US" altLang="en-US" dirty="0"/>
              <a:t>Called an </a:t>
            </a:r>
            <a:r>
              <a:rPr lang="en-US" altLang="en-US" u="sng" dirty="0"/>
              <a:t>output statement</a:t>
            </a:r>
          </a:p>
          <a:p>
            <a:r>
              <a:rPr lang="en-US" altLang="en-US" dirty="0"/>
              <a:t>The </a:t>
            </a:r>
            <a:r>
              <a:rPr lang="en-US" altLang="en-US" u="sng" dirty="0"/>
              <a:t>stream insertion operator</a:t>
            </a:r>
            <a:r>
              <a:rPr lang="en-US" altLang="en-US" dirty="0"/>
              <a:t> is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</a:p>
          <a:p>
            <a:r>
              <a:rPr lang="en-US" altLang="en-US" dirty="0"/>
              <a:t>Expression evaluated and its value is printed at the current cursor position on the screen</a:t>
            </a:r>
          </a:p>
        </p:txBody>
      </p:sp>
      <p:sp>
        <p:nvSpPr>
          <p:cNvPr id="5325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5325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B30EF74-0269-4D75-A6DC-B0A3A2564BA9}" type="slidenum">
              <a:rPr lang="en-US" altLang="en-US" smtClean="0">
                <a:solidFill>
                  <a:schemeClr val="bg1"/>
                </a:solidFill>
              </a:rPr>
              <a:pPr/>
              <a:t>39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Output (2 of 4)</a:t>
            </a:r>
          </a:p>
        </p:txBody>
      </p:sp>
      <p:sp>
        <p:nvSpPr>
          <p:cNvPr id="54276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632481"/>
          </a:xfrm>
        </p:spPr>
        <p:txBody>
          <a:bodyPr/>
          <a:lstStyle/>
          <a:p>
            <a:r>
              <a:rPr lang="en-US" altLang="en-US" dirty="0"/>
              <a:t>A manipulator is used to format the output</a:t>
            </a:r>
          </a:p>
          <a:p>
            <a:pPr lvl="1"/>
            <a:r>
              <a:rPr lang="en-US" altLang="en-US" dirty="0"/>
              <a:t>Example: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en-US" dirty="0"/>
              <a:t> causes the insertion point to move to beginning of next line</a:t>
            </a:r>
          </a:p>
        </p:txBody>
      </p:sp>
      <p:pic>
        <p:nvPicPr>
          <p:cNvPr id="10" name="Picture 2" descr="Example 2-21 illustrates how an output statement work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2355445"/>
            <a:ext cx="7762875" cy="3664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54278" name="Slide Number Placeholder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77FF070-CA28-40FC-841E-7938B122E789}" type="slidenum">
              <a:rPr lang="en-US" altLang="en-US" smtClean="0">
                <a:solidFill>
                  <a:schemeClr val="bg1"/>
                </a:solidFill>
              </a:rPr>
              <a:pPr/>
              <a:t>40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Output (3 of 4)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7772400" cy="4399666"/>
          </a:xfrm>
        </p:spPr>
        <p:txBody>
          <a:bodyPr/>
          <a:lstStyle/>
          <a:p>
            <a:r>
              <a:rPr lang="en-US" dirty="0"/>
              <a:t>The new line character (new line escape sequence)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May appear anywhere in the string</a:t>
            </a:r>
          </a:p>
          <a:p>
            <a:r>
              <a:rPr lang="en-US" dirty="0"/>
              <a:t>Examples</a:t>
            </a:r>
          </a:p>
          <a:p>
            <a:pPr marL="228600" lvl="1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"Hello there.";</a:t>
            </a:r>
          </a:p>
          <a:p>
            <a:pPr marL="228600" lvl="1" indent="0">
              <a:spcAft>
                <a:spcPts val="60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"My name is James.";</a:t>
            </a:r>
          </a:p>
          <a:p>
            <a:pPr marL="457200" lvl="1" indent="0">
              <a:buNone/>
            </a:pPr>
            <a:r>
              <a:rPr lang="en-US" dirty="0"/>
              <a:t>Output:</a:t>
            </a:r>
          </a:p>
          <a:p>
            <a:pPr marL="457200" lvl="1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Hello there.My name is James.</a:t>
            </a:r>
          </a:p>
          <a:p>
            <a:pPr marL="228600" lvl="1" indent="0"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"Hello there.\n";</a:t>
            </a:r>
          </a:p>
          <a:p>
            <a:pPr marL="228600" lvl="1" indent="0">
              <a:spcAft>
                <a:spcPts val="60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"My name is James.";</a:t>
            </a:r>
          </a:p>
          <a:p>
            <a:pPr marL="457200" lvl="1" indent="0">
              <a:buNone/>
            </a:pPr>
            <a:r>
              <a:rPr lang="en-US" dirty="0"/>
              <a:t>Output :</a:t>
            </a:r>
          </a:p>
          <a:p>
            <a:pPr marL="457200" lvl="1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Hello there.</a:t>
            </a:r>
          </a:p>
          <a:p>
            <a:pPr marL="457200" lvl="1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 name is James.</a:t>
            </a:r>
          </a:p>
        </p:txBody>
      </p:sp>
      <p:sp>
        <p:nvSpPr>
          <p:cNvPr id="55300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</a:rPr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55303" name="Slide Number Placeholder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FBC868F-192E-47BE-8E81-CD6C82417013}" type="slidenum">
              <a:rPr lang="en-US" altLang="en-US" smtClean="0">
                <a:solidFill>
                  <a:schemeClr val="bg1"/>
                </a:solidFill>
              </a:rPr>
              <a:pPr/>
              <a:t>41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Prompt Lines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45312"/>
          </a:xfrm>
        </p:spPr>
        <p:txBody>
          <a:bodyPr/>
          <a:lstStyle/>
          <a:p>
            <a:r>
              <a:rPr lang="en-US" altLang="en-US" u="sng" dirty="0"/>
              <a:t>Prompt lines</a:t>
            </a:r>
            <a:r>
              <a:rPr lang="en-US" altLang="en-US" dirty="0"/>
              <a:t>: executable statements that inform the user what to do</a:t>
            </a:r>
          </a:p>
          <a:p>
            <a:pPr lvl="1"/>
            <a:endParaRPr lang="en-US" altLang="en-US" dirty="0"/>
          </a:p>
          <a:p>
            <a:pPr marL="228600" lvl="1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"Please enter a number between 1 and 10 and "</a:t>
            </a:r>
          </a:p>
          <a:p>
            <a:pPr marL="228600" lvl="1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&lt;&lt; "press the return key" &lt;&lt; endl;</a:t>
            </a:r>
          </a:p>
          <a:p>
            <a:pPr marL="228600" lvl="1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cin &gt;&gt; num;</a:t>
            </a:r>
          </a:p>
          <a:p>
            <a:endParaRPr lang="en-US" altLang="en-US" dirty="0"/>
          </a:p>
          <a:p>
            <a:r>
              <a:rPr lang="en-US" altLang="en-US" dirty="0"/>
              <a:t>Always include prompt lines when input is needed from users</a:t>
            </a:r>
          </a:p>
        </p:txBody>
      </p:sp>
      <p:sp>
        <p:nvSpPr>
          <p:cNvPr id="70660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066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5159295-73B8-4607-8AC9-E943AEC3315A}" type="slidenum">
              <a:rPr lang="en-US" altLang="en-US" smtClean="0">
                <a:solidFill>
                  <a:schemeClr val="bg1"/>
                </a:solidFill>
              </a:rPr>
              <a:pPr/>
              <a:t>42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524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Preprocessor Directives (1 of 2)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816156"/>
          </a:xfrm>
        </p:spPr>
        <p:txBody>
          <a:bodyPr/>
          <a:lstStyle/>
          <a:p>
            <a:r>
              <a:rPr lang="en-US" altLang="en-US" dirty="0"/>
              <a:t>C++ has a small number of operations</a:t>
            </a:r>
          </a:p>
          <a:p>
            <a:r>
              <a:rPr lang="en-US" altLang="en-US" dirty="0"/>
              <a:t>Many functions and symbols needed to run a C++ program are provided as collection of libraries</a:t>
            </a:r>
          </a:p>
          <a:p>
            <a:r>
              <a:rPr lang="en-US" altLang="en-US" dirty="0"/>
              <a:t>Every library has a name and is referred to by a header file</a:t>
            </a:r>
          </a:p>
          <a:p>
            <a:r>
              <a:rPr lang="en-US" altLang="en-US" dirty="0"/>
              <a:t>Preprocessor directives are processed by the </a:t>
            </a:r>
            <a:r>
              <a:rPr lang="en-US" altLang="en-US" u="sng" dirty="0"/>
              <a:t>preprocessor</a:t>
            </a:r>
            <a:r>
              <a:rPr lang="en-US" altLang="en-US" dirty="0"/>
              <a:t> program</a:t>
            </a:r>
          </a:p>
          <a:p>
            <a:r>
              <a:rPr lang="en-US" altLang="en-US" dirty="0"/>
              <a:t>All preprocessor commands begin with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altLang="en-US" dirty="0"/>
              <a:t>No semicolon is placed at the end of these commands</a:t>
            </a:r>
          </a:p>
        </p:txBody>
      </p:sp>
      <p:sp>
        <p:nvSpPr>
          <p:cNvPr id="57348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</a:rPr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475B1B0-65C2-4888-B21B-16106A5694B2}" type="slidenum">
              <a:rPr lang="en-US" altLang="en-US" smtClean="0">
                <a:solidFill>
                  <a:schemeClr val="bg1"/>
                </a:solidFill>
              </a:rPr>
              <a:pPr/>
              <a:t>43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Preprocessor Directives (2 of 2)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184940"/>
          </a:xfrm>
        </p:spPr>
        <p:txBody>
          <a:bodyPr/>
          <a:lstStyle/>
          <a:p>
            <a:r>
              <a:rPr lang="en-US" dirty="0"/>
              <a:t>Syntax to include a header file</a:t>
            </a:r>
          </a:p>
          <a:p>
            <a:endParaRPr lang="en-US" dirty="0"/>
          </a:p>
          <a:p>
            <a:pPr marL="0" indent="0">
              <a:buNone/>
              <a:defRPr/>
            </a:pPr>
            <a:endParaRPr lang="en-US" dirty="0"/>
          </a:p>
        </p:txBody>
      </p:sp>
      <p:pic>
        <p:nvPicPr>
          <p:cNvPr id="8" name="Picture 2" descr="#include &lt;headerFileName&g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34575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1"/>
          </p:nvPr>
        </p:nvSpPr>
        <p:spPr>
          <a:xfrm>
            <a:off x="365125" y="2590801"/>
            <a:ext cx="8415338" cy="1905000"/>
          </a:xfrm>
        </p:spPr>
        <p:txBody>
          <a:bodyPr/>
          <a:lstStyle/>
          <a:p>
            <a:r>
              <a:rPr lang="en-US" dirty="0"/>
              <a:t>For example:</a:t>
            </a:r>
          </a:p>
          <a:p>
            <a:pPr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lvl="1"/>
            <a:r>
              <a:rPr lang="en-US" dirty="0"/>
              <a:t>Causes the preprocessor to include the header file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/>
              <a:t> in the program</a:t>
            </a:r>
          </a:p>
          <a:p>
            <a:r>
              <a:rPr lang="en-US" dirty="0"/>
              <a:t>Preprocessor commands are processed before the program goes through the compiler</a:t>
            </a:r>
          </a:p>
        </p:txBody>
      </p:sp>
      <p:sp>
        <p:nvSpPr>
          <p:cNvPr id="58372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</a:rPr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5837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E7A9F40-45A9-44C2-B4A5-240D02EE9A21}" type="slidenum">
              <a:rPr lang="en-US" altLang="en-US" smtClean="0">
                <a:solidFill>
                  <a:schemeClr val="bg1"/>
                </a:solidFill>
              </a:rPr>
              <a:pPr/>
              <a:t>44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dirty="0"/>
              <a:t> and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/>
              <a:t> in a Program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27451"/>
          </a:xfrm>
        </p:spPr>
        <p:txBody>
          <a:bodyPr/>
          <a:lstStyle/>
          <a:p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dirty="0"/>
              <a:t> are declared in the header file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en-US" dirty="0"/>
              <a:t>, but within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</a:p>
          <a:p>
            <a:r>
              <a:rPr lang="en-US" altLang="en-US" dirty="0"/>
              <a:t>To use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dirty="0"/>
              <a:t> in a program, use the following two statements:</a:t>
            </a:r>
          </a:p>
          <a:p>
            <a:pPr marL="40005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&lt;iostream&gt;</a:t>
            </a:r>
          </a:p>
          <a:p>
            <a:pPr marL="40005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std;</a:t>
            </a:r>
          </a:p>
        </p:txBody>
      </p:sp>
      <p:sp>
        <p:nvSpPr>
          <p:cNvPr id="59396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5939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D075625-4F71-41FB-8DA4-A6110DD3DAB7}" type="slidenum">
              <a:rPr lang="en-US" altLang="en-US" smtClean="0">
                <a:solidFill>
                  <a:schemeClr val="bg1"/>
                </a:solidFill>
              </a:rPr>
              <a:pPr/>
              <a:t>45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a C++ Program (1 of 3)</a:t>
            </a:r>
          </a:p>
        </p:txBody>
      </p:sp>
      <p:sp>
        <p:nvSpPr>
          <p:cNvPr id="61443" name="Rectangle 6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416320"/>
          </a:xfrm>
        </p:spPr>
        <p:txBody>
          <a:bodyPr/>
          <a:lstStyle/>
          <a:p>
            <a:r>
              <a:rPr lang="en-US" altLang="en-US" dirty="0"/>
              <a:t>A C++ program is a collection of functions, one of which is the function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  <a:p>
            <a:r>
              <a:rPr lang="en-US" altLang="en-US" dirty="0"/>
              <a:t>The syntax of the function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altLang="en-US" dirty="0"/>
              <a:t> used in this book has this form:</a:t>
            </a:r>
          </a:p>
          <a:p>
            <a:endParaRPr lang="en-US" altLang="en-US" u="sng" dirty="0"/>
          </a:p>
          <a:p>
            <a:endParaRPr lang="en-US" altLang="en-US" u="sng" dirty="0"/>
          </a:p>
          <a:p>
            <a:endParaRPr lang="en-US" altLang="en-US" u="sng" dirty="0"/>
          </a:p>
          <a:p>
            <a:endParaRPr lang="en-US" altLang="en-US" u="sng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6" name="Picture 2" descr="An illustration showing the basic syntax of the function main:&#10;&#10;int main()&#10;{&#10;    statement_1&#10;         .&#10;         .&#10;         .&#10;    statement_n;&#10;    return 0;&#10;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590800"/>
            <a:ext cx="1981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15D6481-EBB7-4EFC-BEB9-A099817ED88B}" type="slidenum">
              <a:rPr lang="en-US" altLang="en-US" smtClean="0">
                <a:solidFill>
                  <a:schemeClr val="bg1"/>
                </a:solidFill>
              </a:rPr>
              <a:pPr/>
              <a:t>46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9192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a C++ Program (2 of 3)</a:t>
            </a:r>
          </a:p>
        </p:txBody>
      </p:sp>
      <p:sp>
        <p:nvSpPr>
          <p:cNvPr id="61443" name="Rectangle 6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4524315"/>
          </a:xfrm>
        </p:spPr>
        <p:txBody>
          <a:bodyPr/>
          <a:lstStyle/>
          <a:p>
            <a:r>
              <a:rPr lang="en-US" altLang="en-US" u="sng" dirty="0"/>
              <a:t>Source code</a:t>
            </a:r>
            <a:r>
              <a:rPr lang="en-US" altLang="en-US" dirty="0"/>
              <a:t> is comprised of preprocessor directives and program statements</a:t>
            </a:r>
          </a:p>
          <a:p>
            <a:r>
              <a:rPr lang="en-US" altLang="en-US" dirty="0"/>
              <a:t>The </a:t>
            </a:r>
            <a:r>
              <a:rPr lang="en-US" altLang="en-US" u="sng" dirty="0"/>
              <a:t>source code file</a:t>
            </a:r>
            <a:r>
              <a:rPr lang="en-US" altLang="en-US" dirty="0"/>
              <a:t> (</a:t>
            </a:r>
            <a:r>
              <a:rPr lang="en-US" altLang="en-US" u="sng" dirty="0"/>
              <a:t>source file</a:t>
            </a:r>
            <a:r>
              <a:rPr lang="en-US" altLang="en-US" dirty="0"/>
              <a:t>) contains the source code</a:t>
            </a:r>
          </a:p>
          <a:p>
            <a:r>
              <a:rPr lang="en-US" altLang="en-US" dirty="0"/>
              <a:t>The compiler generates the object code (file extension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.obj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Executable code (file extension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.exe</a:t>
            </a:r>
            <a:r>
              <a:rPr lang="en-US" altLang="en-US" dirty="0"/>
              <a:t>) results when object code is linked with the system resources</a:t>
            </a:r>
          </a:p>
          <a:p>
            <a:r>
              <a:rPr lang="en-US" altLang="en-US" dirty="0"/>
              <a:t>The first line of the function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altLang="en-US" dirty="0"/>
              <a:t> is called the </a:t>
            </a:r>
            <a:r>
              <a:rPr lang="en-US" altLang="en-US" u="sng" dirty="0"/>
              <a:t>heading</a:t>
            </a:r>
            <a:r>
              <a:rPr lang="en-US" altLang="en-US" dirty="0"/>
              <a:t> of the function:</a:t>
            </a:r>
          </a:p>
          <a:p>
            <a:pPr lvl="1" indent="0"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  <a:endParaRPr lang="en-US" altLang="en-US" dirty="0"/>
          </a:p>
          <a:p>
            <a:endParaRPr lang="en-US" altLang="en-US" u="sng" dirty="0"/>
          </a:p>
          <a:p>
            <a:endParaRPr lang="en-US" altLang="en-US" u="sng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6144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15D6481-EBB7-4EFC-BEB9-A099817ED88B}" type="slidenum">
              <a:rPr lang="en-US" altLang="en-US" smtClean="0">
                <a:solidFill>
                  <a:schemeClr val="bg1"/>
                </a:solidFill>
              </a:rPr>
              <a:pPr/>
              <a:t>47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0871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a C++ Program (3 of 3)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974387"/>
          </a:xfrm>
        </p:spPr>
        <p:txBody>
          <a:bodyPr/>
          <a:lstStyle/>
          <a:p>
            <a:r>
              <a:rPr lang="en-US" altLang="en-US" dirty="0"/>
              <a:t>The statements enclosed between the curly braces (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dirty="0"/>
              <a:t>) form the body of the function</a:t>
            </a:r>
          </a:p>
          <a:p>
            <a:r>
              <a:rPr lang="en-US" altLang="en-US" dirty="0"/>
              <a:t>A C++ program contains two types of statements:</a:t>
            </a:r>
          </a:p>
          <a:p>
            <a:pPr lvl="1"/>
            <a:r>
              <a:rPr lang="en-US" altLang="en-US" u="sng" dirty="0"/>
              <a:t>Declaration statements</a:t>
            </a:r>
            <a:r>
              <a:rPr lang="en-US" altLang="en-US" dirty="0"/>
              <a:t> declare things, such as variables</a:t>
            </a:r>
          </a:p>
          <a:p>
            <a:pPr lvl="1"/>
            <a:r>
              <a:rPr lang="en-US" altLang="en-US" u="sng" dirty="0"/>
              <a:t>Executable statements</a:t>
            </a:r>
            <a:r>
              <a:rPr lang="en-US" altLang="en-US" dirty="0"/>
              <a:t> perform calculations, manipulate data, create output, accept input, etc. </a:t>
            </a:r>
          </a:p>
        </p:txBody>
      </p:sp>
      <p:sp>
        <p:nvSpPr>
          <p:cNvPr id="6246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6246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E19D1DF-7E5C-4CF0-A63E-4208A5C09F47}" type="slidenum">
              <a:rPr lang="en-US" altLang="en-US" smtClean="0">
                <a:solidFill>
                  <a:schemeClr val="bg1"/>
                </a:solidFill>
              </a:rPr>
              <a:pPr/>
              <a:t>48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on Assignment Statements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207801"/>
          </a:xfrm>
        </p:spPr>
        <p:txBody>
          <a:bodyPr/>
          <a:lstStyle/>
          <a:p>
            <a:r>
              <a:rPr lang="en-US" altLang="en-US" dirty="0"/>
              <a:t>Two forms of assignment</a:t>
            </a:r>
          </a:p>
          <a:p>
            <a:pPr lvl="1"/>
            <a:r>
              <a:rPr lang="en-US" altLang="en-US" dirty="0"/>
              <a:t>Simple and compound</a:t>
            </a:r>
          </a:p>
          <a:p>
            <a:pPr lvl="1"/>
            <a:r>
              <a:rPr lang="en-US" altLang="en-US" dirty="0"/>
              <a:t>Compound operators provide more concise notation</a:t>
            </a:r>
          </a:p>
          <a:p>
            <a:r>
              <a:rPr lang="en-US" altLang="en-US" dirty="0"/>
              <a:t>Compound operators: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%=</a:t>
            </a:r>
          </a:p>
          <a:p>
            <a:r>
              <a:rPr lang="en-US" altLang="en-US" u="sng" dirty="0"/>
              <a:t>Simple assignment statement</a:t>
            </a:r>
            <a:r>
              <a:rPr lang="en-US" altLang="en-US" dirty="0"/>
              <a:t> example</a:t>
            </a:r>
          </a:p>
          <a:p>
            <a:pPr marL="40005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x * y;</a:t>
            </a:r>
          </a:p>
          <a:p>
            <a:r>
              <a:rPr lang="en-US" altLang="en-US" u="sng" dirty="0"/>
              <a:t>Compound assignment statement</a:t>
            </a:r>
            <a:r>
              <a:rPr lang="en-US" altLang="en-US" dirty="0"/>
              <a:t> example</a:t>
            </a:r>
          </a:p>
          <a:p>
            <a:pPr marL="40005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 *= y;</a:t>
            </a:r>
          </a:p>
        </p:txBody>
      </p:sp>
      <p:sp>
        <p:nvSpPr>
          <p:cNvPr id="7373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373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A8F99BD-DC0A-45BE-8A15-419C31AFE5C5}" type="slidenum">
              <a:rPr lang="en-US" altLang="en-US" smtClean="0">
                <a:solidFill>
                  <a:schemeClr val="bg1"/>
                </a:solidFill>
              </a:rPr>
              <a:pPr/>
              <a:t>49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1828800" y="0"/>
            <a:ext cx="7315200" cy="1417638"/>
          </a:xfrm>
        </p:spPr>
        <p:txBody>
          <a:bodyPr/>
          <a:lstStyle/>
          <a:p>
            <a:pPr algn="ctr"/>
            <a:r>
              <a:rPr lang="en-US" altLang="en-US" smtClean="0"/>
              <a:t>C++ Compound Assignments</a:t>
            </a:r>
          </a:p>
        </p:txBody>
      </p:sp>
      <p:pic>
        <p:nvPicPr>
          <p:cNvPr id="3993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9" t="28310" r="17273" b="15706"/>
          <a:stretch>
            <a:fillRect/>
          </a:stretch>
        </p:blipFill>
        <p:spPr>
          <a:xfrm>
            <a:off x="114300" y="1524000"/>
            <a:ext cx="8877300" cy="4648200"/>
          </a:xfrm>
          <a:noFill/>
        </p:spPr>
      </p:pic>
    </p:spTree>
    <p:extLst>
      <p:ext uri="{BB962C8B-B14F-4D97-AF65-F5344CB8AC3E}">
        <p14:creationId xmlns:p14="http://schemas.microsoft.com/office/powerpoint/2010/main" val="309382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228600" y="-115207"/>
            <a:ext cx="7315200" cy="1417638"/>
          </a:xfrm>
        </p:spPr>
        <p:txBody>
          <a:bodyPr/>
          <a:lstStyle/>
          <a:p>
            <a:pPr algn="ctr"/>
            <a:r>
              <a:rPr lang="en-US" altLang="en-US" dirty="0" smtClean="0"/>
              <a:t>Increment and Decrement Operators (Postfix &amp; Prefix)</a:t>
            </a:r>
          </a:p>
        </p:txBody>
      </p:sp>
      <p:pic>
        <p:nvPicPr>
          <p:cNvPr id="4301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4" t="15585" r="16557" b="62148"/>
          <a:stretch>
            <a:fillRect/>
          </a:stretch>
        </p:blipFill>
        <p:spPr>
          <a:xfrm>
            <a:off x="403225" y="4152900"/>
            <a:ext cx="8435975" cy="2095500"/>
          </a:xfrm>
          <a:noFill/>
        </p:spPr>
      </p:pic>
      <p:sp>
        <p:nvSpPr>
          <p:cNvPr id="43012" name="Rectangle 3"/>
          <p:cNvSpPr>
            <a:spLocks noChangeArrowheads="1"/>
          </p:cNvSpPr>
          <p:nvPr/>
        </p:nvSpPr>
        <p:spPr bwMode="auto">
          <a:xfrm>
            <a:off x="385082" y="1388609"/>
            <a:ext cx="82296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SzTx/>
            </a:pPr>
            <a:r>
              <a:rPr lang="en-US" altLang="en-US" sz="2400" dirty="0">
                <a:solidFill>
                  <a:schemeClr val="tx1"/>
                </a:solidFill>
              </a:rPr>
              <a:t>Postfix is a process of performing the expression after the evaluation.</a:t>
            </a:r>
          </a:p>
          <a:p>
            <a:pPr algn="just" eaLnBrk="1" hangingPunct="1">
              <a:spcBef>
                <a:spcPct val="0"/>
              </a:spcBef>
              <a:buSzTx/>
            </a:pPr>
            <a:r>
              <a:rPr lang="en-US" altLang="en-US" sz="2400" dirty="0">
                <a:solidFill>
                  <a:schemeClr val="tx1"/>
                </a:solidFill>
              </a:rPr>
              <a:t>Prefix is a process of performing the evaluation immediately.</a:t>
            </a:r>
          </a:p>
          <a:p>
            <a:pPr algn="just" eaLnBrk="1" hangingPunct="1">
              <a:spcBef>
                <a:spcPct val="0"/>
              </a:spcBef>
              <a:buSzTx/>
            </a:pPr>
            <a:r>
              <a:rPr lang="en-US" altLang="en-US" sz="2400" dirty="0">
                <a:solidFill>
                  <a:schemeClr val="tx1"/>
                </a:solidFill>
              </a:rPr>
              <a:t>Increment is the process of adding value to a variable.</a:t>
            </a:r>
          </a:p>
          <a:p>
            <a:pPr algn="just" eaLnBrk="1" hangingPunct="1">
              <a:spcBef>
                <a:spcPct val="0"/>
              </a:spcBef>
              <a:buSzTx/>
            </a:pPr>
            <a:r>
              <a:rPr lang="en-US" altLang="en-US" sz="2400" dirty="0">
                <a:solidFill>
                  <a:schemeClr val="tx1"/>
                </a:solidFill>
              </a:rPr>
              <a:t>Decrement is the process of subtracting the value in a statement.</a:t>
            </a:r>
          </a:p>
        </p:txBody>
      </p:sp>
    </p:spTree>
    <p:extLst>
      <p:ext uri="{BB962C8B-B14F-4D97-AF65-F5344CB8AC3E}">
        <p14:creationId xmlns:p14="http://schemas.microsoft.com/office/powerpoint/2010/main" val="379631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1" t="17813" r="32652" b="5528"/>
          <a:stretch>
            <a:fillRect/>
          </a:stretch>
        </p:blipFill>
        <p:spPr>
          <a:xfrm>
            <a:off x="762000" y="1395867"/>
            <a:ext cx="6824662" cy="4622800"/>
          </a:xfrm>
          <a:noFill/>
        </p:spPr>
      </p:pic>
      <p:sp>
        <p:nvSpPr>
          <p:cNvPr id="44035" name="Title 1"/>
          <p:cNvSpPr>
            <a:spLocks noGrp="1"/>
          </p:cNvSpPr>
          <p:nvPr>
            <p:ph type="title"/>
          </p:nvPr>
        </p:nvSpPr>
        <p:spPr>
          <a:xfrm>
            <a:off x="685800" y="-21771"/>
            <a:ext cx="7315200" cy="1417638"/>
          </a:xfrm>
        </p:spPr>
        <p:txBody>
          <a:bodyPr/>
          <a:lstStyle/>
          <a:p>
            <a:pPr algn="ctr"/>
            <a:r>
              <a:rPr lang="en-US" altLang="en-US" dirty="0" smtClean="0"/>
              <a:t>Increment and Decrement Operators (Postfix &amp; Prefix) (cont.)</a:t>
            </a:r>
          </a:p>
        </p:txBody>
      </p:sp>
    </p:spTree>
    <p:extLst>
      <p:ext uri="{BB962C8B-B14F-4D97-AF65-F5344CB8AC3E}">
        <p14:creationId xmlns:p14="http://schemas.microsoft.com/office/powerpoint/2010/main" val="107440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0" y="-137319"/>
            <a:ext cx="3429000" cy="1417638"/>
          </a:xfrm>
        </p:spPr>
        <p:txBody>
          <a:bodyPr/>
          <a:lstStyle/>
          <a:p>
            <a:pPr algn="ctr"/>
            <a:r>
              <a:rPr lang="en-US" altLang="en-US" dirty="0" smtClean="0"/>
              <a:t>Types of Errors</a:t>
            </a:r>
          </a:p>
        </p:txBody>
      </p:sp>
      <p:pic>
        <p:nvPicPr>
          <p:cNvPr id="471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1" t="18132" r="12308" b="30655"/>
          <a:stretch>
            <a:fillRect/>
          </a:stretch>
        </p:blipFill>
        <p:spPr>
          <a:xfrm>
            <a:off x="838200" y="1600200"/>
            <a:ext cx="7780338" cy="4495800"/>
          </a:xfrm>
          <a:noFill/>
        </p:spPr>
      </p:pic>
      <p:sp>
        <p:nvSpPr>
          <p:cNvPr id="5" name="Cloud Callout 4"/>
          <p:cNvSpPr/>
          <p:nvPr/>
        </p:nvSpPr>
        <p:spPr>
          <a:xfrm>
            <a:off x="609600" y="3314700"/>
            <a:ext cx="2159000" cy="1752600"/>
          </a:xfrm>
          <a:prstGeom prst="cloudCallout">
            <a:avLst>
              <a:gd name="adj1" fmla="val 63167"/>
              <a:gd name="adj2" fmla="val 18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Syntax errors will occur once we break the rules of writing programs.</a:t>
            </a:r>
          </a:p>
        </p:txBody>
      </p:sp>
      <p:sp>
        <p:nvSpPr>
          <p:cNvPr id="8" name="Cloud Callout 7"/>
          <p:cNvSpPr/>
          <p:nvPr/>
        </p:nvSpPr>
        <p:spPr>
          <a:xfrm>
            <a:off x="2362200" y="4318000"/>
            <a:ext cx="2895600" cy="1854200"/>
          </a:xfrm>
          <a:prstGeom prst="cloudCallout">
            <a:avLst>
              <a:gd name="adj1" fmla="val 58771"/>
              <a:gd name="adj2" fmla="val -3470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dirty="0">
                <a:solidFill>
                  <a:schemeClr val="accent1">
                    <a:lumMod val="10000"/>
                  </a:schemeClr>
                </a:solidFill>
              </a:rPr>
              <a:t>Logical errors will occur once we get wrong or unexpected  results. This type of</a:t>
            </a:r>
          </a:p>
          <a:p>
            <a:pPr algn="ctr" eaLnBrk="1" hangingPunct="1">
              <a:defRPr/>
            </a:pPr>
            <a:r>
              <a:rPr lang="en-US" sz="1200" dirty="0">
                <a:solidFill>
                  <a:schemeClr val="accent1">
                    <a:lumMod val="10000"/>
                  </a:schemeClr>
                </a:solidFill>
              </a:rPr>
              <a:t>error may happen if we use a wrong formula.</a:t>
            </a:r>
          </a:p>
        </p:txBody>
      </p:sp>
      <p:sp>
        <p:nvSpPr>
          <p:cNvPr id="9" name="Cloud Callout 8"/>
          <p:cNvSpPr/>
          <p:nvPr/>
        </p:nvSpPr>
        <p:spPr>
          <a:xfrm>
            <a:off x="5715000" y="1600200"/>
            <a:ext cx="3048000" cy="1714500"/>
          </a:xfrm>
          <a:prstGeom prst="cloudCallout">
            <a:avLst>
              <a:gd name="adj1" fmla="val 9870"/>
              <a:gd name="adj2" fmla="val 6704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dirty="0">
                <a:solidFill>
                  <a:schemeClr val="accent1">
                    <a:lumMod val="10000"/>
                  </a:schemeClr>
                </a:solidFill>
              </a:rPr>
              <a:t>The runtime errors will also be detected once we want to preview the</a:t>
            </a:r>
          </a:p>
          <a:p>
            <a:pPr algn="ctr" eaLnBrk="1" hangingPunct="1">
              <a:defRPr/>
            </a:pPr>
            <a:r>
              <a:rPr lang="en-US" sz="1200" dirty="0">
                <a:solidFill>
                  <a:schemeClr val="accent1">
                    <a:lumMod val="10000"/>
                  </a:schemeClr>
                </a:solidFill>
              </a:rPr>
              <a:t>result. This can lead to the result not being displayed. The program will not stop running.</a:t>
            </a:r>
          </a:p>
        </p:txBody>
      </p:sp>
    </p:spTree>
    <p:extLst>
      <p:ext uri="{BB962C8B-B14F-4D97-AF65-F5344CB8AC3E}">
        <p14:creationId xmlns:p14="http://schemas.microsoft.com/office/powerpoint/2010/main" val="2358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 Review </a:t>
            </a:r>
            <a:r>
              <a:rPr lang="en-US" altLang="en-US" dirty="0"/>
              <a:t>(1 of 3)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215991"/>
          </a:xfrm>
        </p:spPr>
        <p:txBody>
          <a:bodyPr/>
          <a:lstStyle/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A C++ program is a collection of functions, one of which is always called 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Identifiers consist of letters, digits, and underscores, and begin with a letter or an underscore</a:t>
            </a:r>
          </a:p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The arithmetic operators in C++ are addition (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), subtraction (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), multiplication (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), division (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), and modulus (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</a:p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Arithmetic expressions are evaluated using the precedence associativity rules</a:t>
            </a:r>
          </a:p>
        </p:txBody>
      </p:sp>
      <p:sp>
        <p:nvSpPr>
          <p:cNvPr id="74756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</a:rPr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475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1FF34EE-0193-4A34-A332-436E356C7B17}" type="slidenum">
              <a:rPr lang="en-US" altLang="en-US" smtClean="0">
                <a:solidFill>
                  <a:schemeClr val="bg1"/>
                </a:solidFill>
              </a:rPr>
              <a:pPr/>
              <a:t>54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(2 of 3)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23768"/>
          </a:xfrm>
        </p:spPr>
        <p:txBody>
          <a:bodyPr/>
          <a:lstStyle/>
          <a:p>
            <a:r>
              <a:rPr lang="en-US" altLang="en-US" dirty="0"/>
              <a:t>All operands in an integral expression are integers</a:t>
            </a:r>
          </a:p>
          <a:p>
            <a:r>
              <a:rPr lang="en-US" altLang="en-US" dirty="0"/>
              <a:t>All operands in a floating-point expression are decimal numbers</a:t>
            </a:r>
          </a:p>
          <a:p>
            <a:r>
              <a:rPr lang="en-US" altLang="en-US" dirty="0"/>
              <a:t>A mixed expression contains both integers and decimal numbers</a:t>
            </a:r>
          </a:p>
          <a:p>
            <a:r>
              <a:rPr lang="en-US" altLang="en-US" dirty="0"/>
              <a:t>Use the cast operator to explicitly convert values from one data type to another</a:t>
            </a:r>
          </a:p>
          <a:p>
            <a:r>
              <a:rPr lang="en-US" altLang="en-US" dirty="0"/>
              <a:t>A named constant is initialized when declared</a:t>
            </a:r>
          </a:p>
          <a:p>
            <a:r>
              <a:rPr lang="en-US" altLang="en-US" dirty="0"/>
              <a:t>All variables must be declared before used</a:t>
            </a:r>
          </a:p>
        </p:txBody>
      </p:sp>
      <p:sp>
        <p:nvSpPr>
          <p:cNvPr id="75780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578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480BA44-0BF2-48D6-801E-780923344F7C}" type="slidenum">
              <a:rPr lang="en-US" altLang="en-US" smtClean="0">
                <a:solidFill>
                  <a:schemeClr val="bg1"/>
                </a:solidFill>
              </a:rPr>
              <a:pPr/>
              <a:t>55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(3 of 3)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08379"/>
          </a:xfrm>
        </p:spPr>
        <p:txBody>
          <a:bodyPr/>
          <a:lstStyle/>
          <a:p>
            <a:r>
              <a:rPr lang="en-US" altLang="en-US" dirty="0"/>
              <a:t>Use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dirty="0"/>
              <a:t> and the stream extraction operator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altLang="en-US" dirty="0"/>
              <a:t> to input from the standard input device</a:t>
            </a:r>
          </a:p>
          <a:p>
            <a:r>
              <a:rPr lang="en-US" altLang="en-US" dirty="0"/>
              <a:t>Use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dirty="0"/>
              <a:t> and the stream insertion operator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en-US" dirty="0"/>
              <a:t> to output to the standard output device</a:t>
            </a:r>
          </a:p>
          <a:p>
            <a:r>
              <a:rPr lang="en-US" altLang="en-US" dirty="0"/>
              <a:t>Preprocessor commands are processed before the program goes through the compiler</a:t>
            </a:r>
          </a:p>
          <a:p>
            <a:r>
              <a:rPr lang="en-US" altLang="en-US" dirty="0"/>
              <a:t>A file containing a C++ program usually ends with the extension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.cpp</a:t>
            </a:r>
          </a:p>
        </p:txBody>
      </p:sp>
      <p:sp>
        <p:nvSpPr>
          <p:cNvPr id="7680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680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7FBAA57-CAE2-46E0-B0AC-C806EF3752AE}" type="slidenum">
              <a:rPr lang="en-US" altLang="en-US" smtClean="0">
                <a:solidFill>
                  <a:schemeClr val="bg1"/>
                </a:solidFill>
              </a:rPr>
              <a:pPr/>
              <a:t>56</a:t>
            </a:fld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lik_cpp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Malik_cpp</Template>
  <TotalTime>14416</TotalTime>
  <Words>5190</Words>
  <Application>Microsoft Office PowerPoint</Application>
  <PresentationFormat>On-screen Show (4:3)</PresentationFormat>
  <Paragraphs>501</Paragraphs>
  <Slides>56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ＭＳ Ｐゴシック</vt:lpstr>
      <vt:lpstr>Arial</vt:lpstr>
      <vt:lpstr>Calibri</vt:lpstr>
      <vt:lpstr>Calibri Light</vt:lpstr>
      <vt:lpstr>Courier New</vt:lpstr>
      <vt:lpstr>Wingdings</vt:lpstr>
      <vt:lpstr>Malik_cpp</vt:lpstr>
      <vt:lpstr>Chapter 2</vt:lpstr>
      <vt:lpstr>Objectives (1 of 3)</vt:lpstr>
      <vt:lpstr>Objectives (2 of 3)</vt:lpstr>
      <vt:lpstr>Objectives (3 of 3)</vt:lpstr>
      <vt:lpstr>A Quick Look at a C++ Program (1 of 5)</vt:lpstr>
      <vt:lpstr>A Quick Look at a C++ Program (2 of 5)</vt:lpstr>
      <vt:lpstr>A Quick Look at a C++ Program (3 of 5)</vt:lpstr>
      <vt:lpstr>A Quick Look at a C++ Program (4 of 5)</vt:lpstr>
      <vt:lpstr>A Quick Look at a C++ Program (5 of 5)</vt:lpstr>
      <vt:lpstr>Comments</vt:lpstr>
      <vt:lpstr>Special Symbols</vt:lpstr>
      <vt:lpstr>Reserved Words (Keywords)</vt:lpstr>
      <vt:lpstr>Identifiers / Variable (1 of 4)</vt:lpstr>
      <vt:lpstr>Identifiers / Variable (2 of 4)</vt:lpstr>
      <vt:lpstr>Identifiers / Variable (3 of 4)</vt:lpstr>
      <vt:lpstr>Identifiers / Variable (4 of 4)</vt:lpstr>
      <vt:lpstr>Data Types</vt:lpstr>
      <vt:lpstr>Data Types </vt:lpstr>
      <vt:lpstr>int Data Type</vt:lpstr>
      <vt:lpstr>bool Data Type</vt:lpstr>
      <vt:lpstr>char Data Type (1 of 2)</vt:lpstr>
      <vt:lpstr>Floating-Point Data Types (1 of 3)</vt:lpstr>
      <vt:lpstr>Floating-Point Data Types (2 of 3)</vt:lpstr>
      <vt:lpstr>Floating-Point Data Types (3 of 3)</vt:lpstr>
      <vt:lpstr>Data Types, Variables, and Assignment Statements</vt:lpstr>
      <vt:lpstr>Form and Style</vt:lpstr>
      <vt:lpstr>Arithmetic Operators, Operator Precedence, and Expressions (1 of 2)</vt:lpstr>
      <vt:lpstr>Arithmetic Operators, Operator Precedence, and Expressions (2 of 2)</vt:lpstr>
      <vt:lpstr>Order of Precedence</vt:lpstr>
      <vt:lpstr>Expressions</vt:lpstr>
      <vt:lpstr>Mixed Expressions (1 of 2)</vt:lpstr>
      <vt:lpstr>Mixed Expressions (2 of 2)</vt:lpstr>
      <vt:lpstr>Mixed Expressions (2 of 3)</vt:lpstr>
      <vt:lpstr>Assignment Statement (1 of 4)</vt:lpstr>
      <vt:lpstr>Constants / Assignment Statement (1 of2)</vt:lpstr>
      <vt:lpstr>Constants / Assignment Statement (2 of2)</vt:lpstr>
      <vt:lpstr>Assignment Statement (2 of 4)</vt:lpstr>
      <vt:lpstr>Input (Read) Statement (1 of 3)</vt:lpstr>
      <vt:lpstr>Output (1 of 4)</vt:lpstr>
      <vt:lpstr>Output (2 of 4)</vt:lpstr>
      <vt:lpstr>Output (3 of 4)</vt:lpstr>
      <vt:lpstr>Prompt Lines</vt:lpstr>
      <vt:lpstr>Preprocessor Directives (1 of 2)</vt:lpstr>
      <vt:lpstr>Preprocessor Directives (2 of 2)</vt:lpstr>
      <vt:lpstr>namespace and Using cin and cout in a Program</vt:lpstr>
      <vt:lpstr>Creating a C++ Program (1 of 3)</vt:lpstr>
      <vt:lpstr>Creating a C++ Program (2 of 3)</vt:lpstr>
      <vt:lpstr>Creating a C++ Program (3 of 3)</vt:lpstr>
      <vt:lpstr>More on Assignment Statements</vt:lpstr>
      <vt:lpstr>C++ Compound Assignments</vt:lpstr>
      <vt:lpstr>Increment and Decrement Operators (Postfix &amp; Prefix)</vt:lpstr>
      <vt:lpstr>Increment and Decrement Operators (Postfix &amp; Prefix) (cont.)</vt:lpstr>
      <vt:lpstr>Types of Errors</vt:lpstr>
      <vt:lpstr>Quick Review (1 of 3)</vt:lpstr>
      <vt:lpstr>Quick Review (2 of 3)</vt:lpstr>
      <vt:lpstr>Quick Review (3 of 3)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Programming:   Program Design Including  Data Structures, Fifth Edition</dc:title>
  <dc:creator>Ang</dc:creator>
  <cp:lastModifiedBy>Windows User</cp:lastModifiedBy>
  <cp:revision>324</cp:revision>
  <cp:lastPrinted>2009-04-22T19:24:48Z</cp:lastPrinted>
  <dcterms:created xsi:type="dcterms:W3CDTF">2002-07-27T03:19:07Z</dcterms:created>
  <dcterms:modified xsi:type="dcterms:W3CDTF">2020-01-06T05:51:07Z</dcterms:modified>
</cp:coreProperties>
</file>