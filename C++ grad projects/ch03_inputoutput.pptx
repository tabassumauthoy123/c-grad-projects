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003" r:id="rId1"/>
  </p:sldMasterIdLst>
  <p:notesMasterIdLst>
    <p:notesMasterId r:id="rId45"/>
  </p:notesMasterIdLst>
  <p:sldIdLst>
    <p:sldId id="370" r:id="rId2"/>
    <p:sldId id="261" r:id="rId3"/>
    <p:sldId id="262" r:id="rId4"/>
    <p:sldId id="265" r:id="rId5"/>
    <p:sldId id="264" r:id="rId6"/>
    <p:sldId id="390" r:id="rId7"/>
    <p:sldId id="263" r:id="rId8"/>
    <p:sldId id="348" r:id="rId9"/>
    <p:sldId id="308" r:id="rId10"/>
    <p:sldId id="276" r:id="rId11"/>
    <p:sldId id="378" r:id="rId12"/>
    <p:sldId id="379" r:id="rId13"/>
    <p:sldId id="380" r:id="rId14"/>
    <p:sldId id="381" r:id="rId15"/>
    <p:sldId id="382" r:id="rId16"/>
    <p:sldId id="383" r:id="rId17"/>
    <p:sldId id="384" r:id="rId18"/>
    <p:sldId id="385" r:id="rId19"/>
    <p:sldId id="391" r:id="rId20"/>
    <p:sldId id="386" r:id="rId21"/>
    <p:sldId id="387" r:id="rId22"/>
    <p:sldId id="388" r:id="rId23"/>
    <p:sldId id="389" r:id="rId24"/>
    <p:sldId id="338" r:id="rId25"/>
    <p:sldId id="267" r:id="rId26"/>
    <p:sldId id="268" r:id="rId27"/>
    <p:sldId id="392" r:id="rId28"/>
    <p:sldId id="393" r:id="rId29"/>
    <p:sldId id="394" r:id="rId30"/>
    <p:sldId id="279" r:id="rId31"/>
    <p:sldId id="280" r:id="rId32"/>
    <p:sldId id="281" r:id="rId33"/>
    <p:sldId id="332" r:id="rId34"/>
    <p:sldId id="333" r:id="rId35"/>
    <p:sldId id="397" r:id="rId36"/>
    <p:sldId id="282" r:id="rId37"/>
    <p:sldId id="395" r:id="rId38"/>
    <p:sldId id="283" r:id="rId39"/>
    <p:sldId id="396" r:id="rId40"/>
    <p:sldId id="369" r:id="rId41"/>
    <p:sldId id="301" r:id="rId42"/>
    <p:sldId id="302" r:id="rId43"/>
    <p:sldId id="303" r:id="rId4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12">
          <p15:clr>
            <a:srgbClr val="A4A3A4"/>
          </p15:clr>
        </p15:guide>
        <p15:guide id="2" pos="76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8DAD"/>
    <a:srgbClr val="3333FF"/>
    <a:srgbClr val="333399"/>
    <a:srgbClr val="B2B2B2"/>
    <a:srgbClr val="800000"/>
    <a:srgbClr val="996600"/>
    <a:srgbClr val="FF9999"/>
    <a:srgbClr val="33CC33"/>
    <a:srgbClr val="336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94" autoAdjust="0"/>
    <p:restoredTop sz="94775" autoAdjust="0"/>
  </p:normalViewPr>
  <p:slideViewPr>
    <p:cSldViewPr>
      <p:cViewPr varScale="1">
        <p:scale>
          <a:sx n="66" d="100"/>
          <a:sy n="66" d="100"/>
        </p:scale>
        <p:origin x="1470" y="60"/>
      </p:cViewPr>
      <p:guideLst>
        <p:guide orient="horz" pos="912"/>
        <p:guide pos="7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50" d="100"/>
        <a:sy n="150" d="100"/>
      </p:scale>
      <p:origin x="0" y="184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764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475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4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764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764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659CA03D-014C-469A-BD23-D6E29E34367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44777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577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7578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4ACF4E6F-3F10-4579-8D42-AF5DAE85CBE0}" type="slidenum">
              <a:rPr lang="en-US" altLang="en-US" smtClean="0"/>
              <a:pPr eaLnBrk="1" hangingPunct="1"/>
              <a:t>1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680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768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66B0B7AA-409E-4D54-87CC-F61949BE64E3}" type="slidenum">
              <a:rPr lang="en-US" altLang="en-US" smtClean="0"/>
              <a:pPr eaLnBrk="1" hangingPunct="1"/>
              <a:t>2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987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7987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F7F32FBA-54FD-458E-A6CA-46B8A8ADA615}" type="slidenum">
              <a:rPr lang="en-US" altLang="en-US" smtClean="0"/>
              <a:pPr eaLnBrk="1" hangingPunct="1"/>
              <a:t>3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089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8090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AD23D7F3-B071-4152-8406-D12EC1554BD7}" type="slidenum">
              <a:rPr lang="en-US" altLang="en-US" smtClean="0"/>
              <a:pPr eaLnBrk="1" hangingPunct="1"/>
              <a:t>4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294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8294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DE0CD93F-6240-4E9E-8FAC-2D462515F296}" type="slidenum">
              <a:rPr lang="en-US" altLang="en-US" smtClean="0"/>
              <a:pPr eaLnBrk="1" hangingPunct="1"/>
              <a:t>5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397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8397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4D01D205-FA06-4AD2-97CB-C42553C1CFBE}" type="slidenum">
              <a:rPr lang="en-US" altLang="en-US" smtClean="0"/>
              <a:pPr eaLnBrk="1" hangingPunct="1"/>
              <a:t>7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601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8602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2ACCFBC4-D0F3-40B5-B5EB-9B56DF6FCF85}" type="slidenum">
              <a:rPr lang="en-US" altLang="en-US" smtClean="0"/>
              <a:pPr eaLnBrk="1" hangingPunct="1"/>
              <a:t>8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704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8704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1FC8AE40-CC40-4949-A5AA-5047C13CF68A}" type="slidenum">
              <a:rPr lang="en-US" altLang="en-US" smtClean="0"/>
              <a:pPr eaLnBrk="1" hangingPunct="1"/>
              <a:t>9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806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8806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77A03DB6-97D9-4339-9BC1-1BCDB8022701}" type="slidenum">
              <a:rPr lang="en-US" altLang="en-US" smtClean="0"/>
              <a:pPr eaLnBrk="1" hangingPunct="1"/>
              <a:t>10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909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8909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249EAC11-F2F0-4DDE-A451-5E6DC781D68A}" type="slidenum">
              <a:rPr lang="en-US" altLang="en-US" smtClean="0"/>
              <a:pPr eaLnBrk="1" hangingPunct="1"/>
              <a:t>11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011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9011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8DE7D9BE-3D5B-453D-A48A-4AC7FF65A133}" type="slidenum">
              <a:rPr lang="en-US" altLang="en-US" smtClean="0"/>
              <a:pPr eaLnBrk="1" hangingPunct="1"/>
              <a:t>12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113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911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46183265-043E-4192-BAB6-D13DB7F2316D}" type="slidenum">
              <a:rPr lang="en-US" altLang="en-US" smtClean="0"/>
              <a:pPr eaLnBrk="1" hangingPunct="1"/>
              <a:t>13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216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9216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29D2FBF4-25E9-467B-8EA8-8F3D12C7E03C}" type="slidenum">
              <a:rPr lang="en-US" altLang="en-US" smtClean="0"/>
              <a:pPr eaLnBrk="1" hangingPunct="1"/>
              <a:t>14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318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9318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88B96ECD-8EEA-45DE-823E-C8EAEC43F65D}" type="slidenum">
              <a:rPr lang="en-US" altLang="en-US" smtClean="0"/>
              <a:pPr eaLnBrk="1" hangingPunct="1"/>
              <a:t>15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421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9421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5EF50D3E-7AA7-475F-85B8-CA6F4E87C94B}" type="slidenum">
              <a:rPr lang="en-US" altLang="en-US" smtClean="0"/>
              <a:pPr eaLnBrk="1" hangingPunct="1"/>
              <a:t>16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523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9523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62FD417D-4955-4DE3-9F92-CBC19C799F52}" type="slidenum">
              <a:rPr lang="en-US" altLang="en-US" smtClean="0"/>
              <a:pPr eaLnBrk="1" hangingPunct="1"/>
              <a:t>17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625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9626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64C3EE76-DAE8-412C-B625-03678B4904AB}" type="slidenum">
              <a:rPr lang="en-US" altLang="en-US" smtClean="0"/>
              <a:pPr eaLnBrk="1" hangingPunct="1"/>
              <a:t>18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728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9728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3B320B91-A586-4A50-9E1C-32A0D9D6D9C4}" type="slidenum">
              <a:rPr lang="en-US" altLang="en-US" smtClean="0"/>
              <a:pPr eaLnBrk="1" hangingPunct="1"/>
              <a:t>20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830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9830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B6267825-5324-4FC1-9AD2-2632E0133E05}" type="slidenum">
              <a:rPr lang="en-US" altLang="en-US" smtClean="0"/>
              <a:pPr eaLnBrk="1" hangingPunct="1"/>
              <a:t>21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933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9933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E6AE348B-B785-4B13-853C-852DEEB4D840}" type="slidenum">
              <a:rPr lang="en-US" altLang="en-US" smtClean="0"/>
              <a:pPr eaLnBrk="1" hangingPunct="1"/>
              <a:t>22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035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10035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589D1420-3536-49D7-A6D3-8AE5FDC4CE3E}" type="slidenum">
              <a:rPr lang="en-US" altLang="en-US" smtClean="0"/>
              <a:pPr eaLnBrk="1" hangingPunct="1"/>
              <a:t>23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137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10138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DFA06E47-99B4-4D62-B1F5-B1205971E3F6}" type="slidenum">
              <a:rPr lang="en-US" altLang="en-US" smtClean="0"/>
              <a:pPr eaLnBrk="1" hangingPunct="1"/>
              <a:t>24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240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1024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9767A1B2-FA4D-48DB-A63C-1BDE873BEE1D}" type="slidenum">
              <a:rPr lang="en-US" altLang="en-US" smtClean="0"/>
              <a:pPr eaLnBrk="1" hangingPunct="1"/>
              <a:t>25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342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10342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01620967-0D51-489D-BC3C-68D1E86DD140}" type="slidenum">
              <a:rPr lang="en-US" altLang="en-US" smtClean="0"/>
              <a:pPr eaLnBrk="1" hangingPunct="1"/>
              <a:t>26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752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10752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235BDF27-FBEA-4819-AD5E-85DF2449A5CE}" type="slidenum">
              <a:rPr lang="en-US" altLang="en-US" smtClean="0"/>
              <a:pPr eaLnBrk="1" hangingPunct="1"/>
              <a:t>30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854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10854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75E6D163-9F7A-4FCD-B622-BC7CEED16B5C}" type="slidenum">
              <a:rPr lang="en-US" altLang="en-US" smtClean="0"/>
              <a:pPr eaLnBrk="1" hangingPunct="1"/>
              <a:t>31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957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10957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91751453-C574-402B-801F-00FB825877D1}" type="slidenum">
              <a:rPr lang="en-US" altLang="en-US" smtClean="0"/>
              <a:pPr eaLnBrk="1" hangingPunct="1"/>
              <a:t>32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059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11059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2C12A1F9-86CC-49DD-B060-36360CDAA5B3}" type="slidenum">
              <a:rPr lang="en-US" altLang="en-US" smtClean="0"/>
              <a:pPr eaLnBrk="1" hangingPunct="1"/>
              <a:t>33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161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11162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2FF0241E-F7A8-4AF6-9B5F-9D1C26B343A1}" type="slidenum">
              <a:rPr lang="en-US" altLang="en-US" smtClean="0"/>
              <a:pPr eaLnBrk="1" hangingPunct="1"/>
              <a:t>34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390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12390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C5FCC264-D30B-4478-8128-93723256D61C}" type="slidenum">
              <a:rPr lang="en-US" altLang="en-US" smtClean="0"/>
              <a:pPr eaLnBrk="1" hangingPunct="1"/>
              <a:t>36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390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12390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C5FCC264-D30B-4478-8128-93723256D61C}" type="slidenum">
              <a:rPr lang="en-US" altLang="en-US" smtClean="0"/>
              <a:pPr eaLnBrk="1" hangingPunct="1"/>
              <a:t>37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595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12595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E74BE8CE-1989-4BA9-BCDC-3D1B4239FE15}" type="slidenum">
              <a:rPr lang="en-US" altLang="en-US" smtClean="0"/>
              <a:pPr eaLnBrk="1" hangingPunct="1"/>
              <a:t>38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697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12698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2DE909D0-D092-4B5F-BFC7-5F0BE745D62A}" type="slidenum">
              <a:rPr lang="en-US" altLang="en-US" smtClean="0"/>
              <a:pPr eaLnBrk="1" hangingPunct="1"/>
              <a:t>40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209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13210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359EECF9-5E02-4B6E-9DB8-78EC853E8AB7}" type="slidenum">
              <a:rPr lang="en-US" altLang="en-US" smtClean="0"/>
              <a:pPr eaLnBrk="1" hangingPunct="1"/>
              <a:t>41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312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13312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09BF5B04-F0F8-43DD-AEAD-187325F84E8D}" type="slidenum">
              <a:rPr lang="en-US" altLang="en-US" smtClean="0"/>
              <a:pPr eaLnBrk="1" hangingPunct="1"/>
              <a:t>42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414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13414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1B1F73AE-3D95-4F86-B56A-3E28DEE144B0}" type="slidenum">
              <a:rPr lang="en-US" altLang="en-US" smtClean="0"/>
              <a:pPr eaLnBrk="1" hangingPunct="1"/>
              <a:t>43</a:t>
            </a:fld>
            <a:endParaRPr lang="en-US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.png"/><Relationship Id="rId7" Type="http://schemas.openxmlformats.org/officeDocument/2006/relationships/image" Target="../media/image13.jpe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jpe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8500" y="3090672"/>
            <a:ext cx="7747000" cy="377026"/>
          </a:xfrm>
        </p:spPr>
        <p:txBody>
          <a:bodyPr anchor="b"/>
          <a:lstStyle>
            <a:lvl1pPr algn="ctr">
              <a:defRPr sz="28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8500" y="3730752"/>
            <a:ext cx="7747000" cy="235962"/>
          </a:xfrm>
        </p:spPr>
        <p:txBody>
          <a:bodyPr/>
          <a:lstStyle>
            <a:lvl1pPr marL="0" indent="0" algn="ctr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11" name="Picture 10" descr="Title_Slide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134" y="254000"/>
            <a:ext cx="8713465" cy="652675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482340" y="223520"/>
            <a:ext cx="2125980" cy="9855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 descr="Rules_Single_A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627124" y="481304"/>
            <a:ext cx="10034016" cy="99113"/>
          </a:xfrm>
          <a:prstGeom prst="rect">
            <a:avLst/>
          </a:prstGeom>
        </p:spPr>
      </p:pic>
      <p:pic>
        <p:nvPicPr>
          <p:cNvPr id="8" name="Picture 7" descr="CL_Logo_DRAWN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80" y="6257889"/>
            <a:ext cx="634845" cy="26242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812283" y="4885106"/>
            <a:ext cx="2080291" cy="1926127"/>
          </a:xfrm>
          <a:custGeom>
            <a:avLst/>
            <a:gdLst>
              <a:gd name="connsiteX0" fmla="*/ 0 w 1973580"/>
              <a:gd name="connsiteY0" fmla="*/ 0 h 1389864"/>
              <a:gd name="connsiteX1" fmla="*/ 1973580 w 1973580"/>
              <a:gd name="connsiteY1" fmla="*/ 0 h 1389864"/>
              <a:gd name="connsiteX2" fmla="*/ 1973580 w 1973580"/>
              <a:gd name="connsiteY2" fmla="*/ 1389864 h 1389864"/>
              <a:gd name="connsiteX3" fmla="*/ 0 w 1973580"/>
              <a:gd name="connsiteY3" fmla="*/ 1389864 h 1389864"/>
              <a:gd name="connsiteX4" fmla="*/ 0 w 1973580"/>
              <a:gd name="connsiteY4" fmla="*/ 0 h 1389864"/>
              <a:gd name="connsiteX0" fmla="*/ 0 w 1973580"/>
              <a:gd name="connsiteY0" fmla="*/ 0 h 1389864"/>
              <a:gd name="connsiteX1" fmla="*/ 1935480 w 1973580"/>
              <a:gd name="connsiteY1" fmla="*/ 60960 h 1389864"/>
              <a:gd name="connsiteX2" fmla="*/ 1973580 w 1973580"/>
              <a:gd name="connsiteY2" fmla="*/ 1389864 h 1389864"/>
              <a:gd name="connsiteX3" fmla="*/ 0 w 1973580"/>
              <a:gd name="connsiteY3" fmla="*/ 1389864 h 1389864"/>
              <a:gd name="connsiteX4" fmla="*/ 0 w 1973580"/>
              <a:gd name="connsiteY4" fmla="*/ 0 h 1389864"/>
              <a:gd name="connsiteX0" fmla="*/ 0 w 1973580"/>
              <a:gd name="connsiteY0" fmla="*/ 54731 h 1444595"/>
              <a:gd name="connsiteX1" fmla="*/ 1577340 w 1973580"/>
              <a:gd name="connsiteY1" fmla="*/ 1391 h 1444595"/>
              <a:gd name="connsiteX2" fmla="*/ 1935480 w 1973580"/>
              <a:gd name="connsiteY2" fmla="*/ 115691 h 1444595"/>
              <a:gd name="connsiteX3" fmla="*/ 1973580 w 1973580"/>
              <a:gd name="connsiteY3" fmla="*/ 1444595 h 1444595"/>
              <a:gd name="connsiteX4" fmla="*/ 0 w 1973580"/>
              <a:gd name="connsiteY4" fmla="*/ 1444595 h 1444595"/>
              <a:gd name="connsiteX5" fmla="*/ 0 w 1973580"/>
              <a:gd name="connsiteY5" fmla="*/ 54731 h 1444595"/>
              <a:gd name="connsiteX0" fmla="*/ 0 w 2080291"/>
              <a:gd name="connsiteY0" fmla="*/ 54731 h 1444595"/>
              <a:gd name="connsiteX1" fmla="*/ 1577340 w 2080291"/>
              <a:gd name="connsiteY1" fmla="*/ 1391 h 1444595"/>
              <a:gd name="connsiteX2" fmla="*/ 1935480 w 2080291"/>
              <a:gd name="connsiteY2" fmla="*/ 115691 h 1444595"/>
              <a:gd name="connsiteX3" fmla="*/ 2080260 w 2080291"/>
              <a:gd name="connsiteY3" fmla="*/ 428112 h 1444595"/>
              <a:gd name="connsiteX4" fmla="*/ 1973580 w 2080291"/>
              <a:gd name="connsiteY4" fmla="*/ 1444595 h 1444595"/>
              <a:gd name="connsiteX5" fmla="*/ 0 w 2080291"/>
              <a:gd name="connsiteY5" fmla="*/ 1444595 h 1444595"/>
              <a:gd name="connsiteX6" fmla="*/ 0 w 2080291"/>
              <a:gd name="connsiteY6" fmla="*/ 54731 h 1444595"/>
              <a:gd name="connsiteX0" fmla="*/ 0 w 2080291"/>
              <a:gd name="connsiteY0" fmla="*/ 54731 h 1444595"/>
              <a:gd name="connsiteX1" fmla="*/ 1577340 w 2080291"/>
              <a:gd name="connsiteY1" fmla="*/ 1391 h 1444595"/>
              <a:gd name="connsiteX2" fmla="*/ 1935480 w 2080291"/>
              <a:gd name="connsiteY2" fmla="*/ 115691 h 1444595"/>
              <a:gd name="connsiteX3" fmla="*/ 2080260 w 2080291"/>
              <a:gd name="connsiteY3" fmla="*/ 428112 h 1444595"/>
              <a:gd name="connsiteX4" fmla="*/ 1973580 w 2080291"/>
              <a:gd name="connsiteY4" fmla="*/ 1444595 h 1444595"/>
              <a:gd name="connsiteX5" fmla="*/ 0 w 2080291"/>
              <a:gd name="connsiteY5" fmla="*/ 1444595 h 1444595"/>
              <a:gd name="connsiteX6" fmla="*/ 60960 w 2080291"/>
              <a:gd name="connsiteY6" fmla="*/ 1030092 h 1444595"/>
              <a:gd name="connsiteX7" fmla="*/ 0 w 2080291"/>
              <a:gd name="connsiteY7" fmla="*/ 54731 h 1444595"/>
              <a:gd name="connsiteX0" fmla="*/ 0 w 2080291"/>
              <a:gd name="connsiteY0" fmla="*/ 54731 h 1444595"/>
              <a:gd name="connsiteX1" fmla="*/ 1577340 w 2080291"/>
              <a:gd name="connsiteY1" fmla="*/ 1391 h 1444595"/>
              <a:gd name="connsiteX2" fmla="*/ 1935480 w 2080291"/>
              <a:gd name="connsiteY2" fmla="*/ 115691 h 1444595"/>
              <a:gd name="connsiteX3" fmla="*/ 2080260 w 2080291"/>
              <a:gd name="connsiteY3" fmla="*/ 428112 h 1444595"/>
              <a:gd name="connsiteX4" fmla="*/ 1973580 w 2080291"/>
              <a:gd name="connsiteY4" fmla="*/ 1444595 h 1444595"/>
              <a:gd name="connsiteX5" fmla="*/ 0 w 2080291"/>
              <a:gd name="connsiteY5" fmla="*/ 1444595 h 1444595"/>
              <a:gd name="connsiteX6" fmla="*/ 144780 w 2080291"/>
              <a:gd name="connsiteY6" fmla="*/ 999612 h 1444595"/>
              <a:gd name="connsiteX7" fmla="*/ 0 w 2080291"/>
              <a:gd name="connsiteY7" fmla="*/ 54731 h 1444595"/>
              <a:gd name="connsiteX0" fmla="*/ 0 w 2080291"/>
              <a:gd name="connsiteY0" fmla="*/ 54731 h 1444595"/>
              <a:gd name="connsiteX1" fmla="*/ 1577340 w 2080291"/>
              <a:gd name="connsiteY1" fmla="*/ 1391 h 1444595"/>
              <a:gd name="connsiteX2" fmla="*/ 1935480 w 2080291"/>
              <a:gd name="connsiteY2" fmla="*/ 115691 h 1444595"/>
              <a:gd name="connsiteX3" fmla="*/ 2080260 w 2080291"/>
              <a:gd name="connsiteY3" fmla="*/ 428112 h 1444595"/>
              <a:gd name="connsiteX4" fmla="*/ 1973580 w 2080291"/>
              <a:gd name="connsiteY4" fmla="*/ 1444595 h 1444595"/>
              <a:gd name="connsiteX5" fmla="*/ 0 w 2080291"/>
              <a:gd name="connsiteY5" fmla="*/ 1444595 h 1444595"/>
              <a:gd name="connsiteX6" fmla="*/ 144780 w 2080291"/>
              <a:gd name="connsiteY6" fmla="*/ 999612 h 1444595"/>
              <a:gd name="connsiteX7" fmla="*/ 0 w 2080291"/>
              <a:gd name="connsiteY7" fmla="*/ 54731 h 1444595"/>
              <a:gd name="connsiteX0" fmla="*/ 0 w 2080291"/>
              <a:gd name="connsiteY0" fmla="*/ 54731 h 1444595"/>
              <a:gd name="connsiteX1" fmla="*/ 1577340 w 2080291"/>
              <a:gd name="connsiteY1" fmla="*/ 1391 h 1444595"/>
              <a:gd name="connsiteX2" fmla="*/ 1935480 w 2080291"/>
              <a:gd name="connsiteY2" fmla="*/ 115691 h 1444595"/>
              <a:gd name="connsiteX3" fmla="*/ 2080260 w 2080291"/>
              <a:gd name="connsiteY3" fmla="*/ 428112 h 1444595"/>
              <a:gd name="connsiteX4" fmla="*/ 1973580 w 2080291"/>
              <a:gd name="connsiteY4" fmla="*/ 1444595 h 1444595"/>
              <a:gd name="connsiteX5" fmla="*/ 0 w 2080291"/>
              <a:gd name="connsiteY5" fmla="*/ 1444595 h 1444595"/>
              <a:gd name="connsiteX6" fmla="*/ 99060 w 2080291"/>
              <a:gd name="connsiteY6" fmla="*/ 991992 h 1444595"/>
              <a:gd name="connsiteX7" fmla="*/ 0 w 2080291"/>
              <a:gd name="connsiteY7" fmla="*/ 54731 h 1444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80291" h="1444595">
                <a:moveTo>
                  <a:pt x="0" y="54731"/>
                </a:moveTo>
                <a:cubicBezTo>
                  <a:pt x="520700" y="67431"/>
                  <a:pt x="1056640" y="-11309"/>
                  <a:pt x="1577340" y="1391"/>
                </a:cubicBezTo>
                <a:lnTo>
                  <a:pt x="1935480" y="115691"/>
                </a:lnTo>
                <a:cubicBezTo>
                  <a:pt x="1932940" y="209671"/>
                  <a:pt x="2082800" y="334132"/>
                  <a:pt x="2080260" y="428112"/>
                </a:cubicBezTo>
                <a:lnTo>
                  <a:pt x="1973580" y="1444595"/>
                </a:lnTo>
                <a:lnTo>
                  <a:pt x="0" y="1444595"/>
                </a:lnTo>
                <a:cubicBezTo>
                  <a:pt x="0" y="1319127"/>
                  <a:pt x="99060" y="1117460"/>
                  <a:pt x="99060" y="991992"/>
                </a:cubicBezTo>
                <a:lnTo>
                  <a:pt x="0" y="5473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 descr="Audio.png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5369" y="5389519"/>
            <a:ext cx="987056" cy="1040948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76" r="23794"/>
          <a:stretch/>
        </p:blipFill>
        <p:spPr>
          <a:xfrm>
            <a:off x="8674488" y="5121741"/>
            <a:ext cx="275507" cy="710099"/>
          </a:xfrm>
          <a:prstGeom prst="rect">
            <a:avLst/>
          </a:prstGeom>
        </p:spPr>
      </p:pic>
      <p:pic>
        <p:nvPicPr>
          <p:cNvPr id="13" name="Picture 12" descr="Swirl_3.png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688654">
            <a:off x="7441068" y="6393019"/>
            <a:ext cx="386047" cy="285072"/>
          </a:xfrm>
          <a:prstGeom prst="rect">
            <a:avLst/>
          </a:prstGeom>
        </p:spPr>
      </p:pic>
      <p:pic>
        <p:nvPicPr>
          <p:cNvPr id="14" name="Picture 13" descr="Swirl_3.png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073124">
            <a:off x="7908376" y="5449329"/>
            <a:ext cx="591497" cy="245691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39373" y="5831840"/>
            <a:ext cx="672857" cy="745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15924" y="6222910"/>
            <a:ext cx="64008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solidFill>
                  <a:schemeClr val="accent2"/>
                </a:solidFill>
              </a:rPr>
              <a:t>C++ Programming: From Problem Analysis to Program Design, Eighth</a:t>
            </a:r>
            <a:r>
              <a:rPr lang="en-US" sz="900" baseline="0" dirty="0">
                <a:solidFill>
                  <a:schemeClr val="accent2"/>
                </a:solidFill>
              </a:rPr>
              <a:t> </a:t>
            </a:r>
            <a:r>
              <a:rPr lang="en-US" sz="900" dirty="0">
                <a:solidFill>
                  <a:schemeClr val="accent2"/>
                </a:solidFill>
              </a:rPr>
              <a:t>Edition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>
          <a:xfrm>
            <a:off x="1015922" y="6456817"/>
            <a:ext cx="6399830" cy="366183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  <p:extLst>
      <p:ext uri="{BB962C8B-B14F-4D97-AF65-F5344CB8AC3E}">
        <p14:creationId xmlns:p14="http://schemas.microsoft.com/office/powerpoint/2010/main" val="25940843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41600" y="2228188"/>
            <a:ext cx="6172200" cy="377026"/>
          </a:xfrm>
        </p:spPr>
        <p:txBody>
          <a:bodyPr anchor="ctr"/>
          <a:lstStyle>
            <a:lvl1pPr algn="l">
              <a:defRPr sz="2800" b="0" cap="none" baseline="0">
                <a:solidFill>
                  <a:srgbClr val="055C9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41600" y="2942670"/>
            <a:ext cx="6172200" cy="265457"/>
          </a:xfrm>
        </p:spPr>
        <p:txBody>
          <a:bodyPr anchor="t"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5" name="Picture 4" descr="CL_Logo_DRAWN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089" y="6236387"/>
            <a:ext cx="1215590" cy="502487"/>
          </a:xfrm>
          <a:prstGeom prst="rect">
            <a:avLst/>
          </a:prstGeom>
        </p:spPr>
      </p:pic>
      <p:pic>
        <p:nvPicPr>
          <p:cNvPr id="6" name="Picture 5" descr="Rules_Single_A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2" y="6487629"/>
            <a:ext cx="11423745" cy="90835"/>
          </a:xfrm>
          <a:prstGeom prst="rect">
            <a:avLst/>
          </a:prstGeom>
        </p:spPr>
      </p:pic>
      <p:pic>
        <p:nvPicPr>
          <p:cNvPr id="4" name="Picture 3" descr="Audio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707" y="361953"/>
            <a:ext cx="1840495" cy="1940983"/>
          </a:xfrm>
          <a:prstGeom prst="rect">
            <a:avLst/>
          </a:prstGeom>
        </p:spPr>
      </p:pic>
      <p:pic>
        <p:nvPicPr>
          <p:cNvPr id="11" name="Picture 10" descr="Swirl_3.png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569126">
            <a:off x="1431691" y="1916271"/>
            <a:ext cx="908570" cy="670924"/>
          </a:xfrm>
          <a:prstGeom prst="rect">
            <a:avLst/>
          </a:prstGeom>
        </p:spPr>
      </p:pic>
      <p:pic>
        <p:nvPicPr>
          <p:cNvPr id="12" name="Picture 11" descr="Swirl_2.png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873741" flipH="1">
            <a:off x="218018" y="3551101"/>
            <a:ext cx="795867" cy="833254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879649" y="2604920"/>
            <a:ext cx="1101550" cy="1221097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704" y="4534755"/>
            <a:ext cx="596838" cy="795784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76" r="23794"/>
          <a:stretch/>
        </p:blipFill>
        <p:spPr>
          <a:xfrm>
            <a:off x="737542" y="4804753"/>
            <a:ext cx="252342" cy="650393"/>
          </a:xfrm>
          <a:prstGeom prst="rect">
            <a:avLst/>
          </a:prstGeom>
        </p:spPr>
      </p:pic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>
          <a:xfrm>
            <a:off x="1597682" y="6578465"/>
            <a:ext cx="6781693" cy="244535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  <p:extLst>
      <p:ext uri="{BB962C8B-B14F-4D97-AF65-F5344CB8AC3E}">
        <p14:creationId xmlns:p14="http://schemas.microsoft.com/office/powerpoint/2010/main" val="2706735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6258"/>
            <a:ext cx="8026400" cy="29623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3"/>
            <a:ext cx="628992" cy="697255"/>
          </a:xfrm>
          <a:prstGeom prst="rect">
            <a:avLst/>
          </a:prstGeom>
        </p:spPr>
      </p:pic>
      <p:pic>
        <p:nvPicPr>
          <p:cNvPr id="17" name="Picture 16" descr="CL_Logo_DRAWN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089" y="6236387"/>
            <a:ext cx="1215590" cy="502487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2" y="6487629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2" y="6578465"/>
            <a:ext cx="6781693" cy="244535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  <p:extLst>
      <p:ext uri="{BB962C8B-B14F-4D97-AF65-F5344CB8AC3E}">
        <p14:creationId xmlns:p14="http://schemas.microsoft.com/office/powerpoint/2010/main" val="40246106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Split Content with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6258"/>
            <a:ext cx="8026400" cy="29623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125" y="1538818"/>
            <a:ext cx="8415338" cy="1412951"/>
          </a:xfrm>
        </p:spPr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3"/>
            <a:ext cx="628992" cy="697255"/>
          </a:xfrm>
          <a:prstGeom prst="rect">
            <a:avLst/>
          </a:prstGeom>
        </p:spPr>
      </p:pic>
      <p:pic>
        <p:nvPicPr>
          <p:cNvPr id="17" name="Picture 16" descr="CL_Logo_DRAWN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089" y="6236387"/>
            <a:ext cx="1215590" cy="502487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2" y="6487629"/>
            <a:ext cx="11423745" cy="90835"/>
          </a:xfrm>
          <a:prstGeom prst="rect">
            <a:avLst/>
          </a:prstGeom>
        </p:spPr>
      </p:pic>
      <p:sp>
        <p:nvSpPr>
          <p:cNvPr id="9" name="Content Placeholder 2"/>
          <p:cNvSpPr>
            <a:spLocks noGrp="1"/>
          </p:cNvSpPr>
          <p:nvPr>
            <p:ph idx="11"/>
          </p:nvPr>
        </p:nvSpPr>
        <p:spPr>
          <a:xfrm>
            <a:off x="365125" y="3997249"/>
            <a:ext cx="8415338" cy="1412951"/>
          </a:xfrm>
        </p:spPr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2" y="6578465"/>
            <a:ext cx="6781693" cy="244535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  <p:extLst>
      <p:ext uri="{BB962C8B-B14F-4D97-AF65-F5344CB8AC3E}">
        <p14:creationId xmlns:p14="http://schemas.microsoft.com/office/powerpoint/2010/main" val="5330531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Tab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06258"/>
            <a:ext cx="8026400" cy="29623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8" name="Picture 7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3"/>
            <a:ext cx="628992" cy="697255"/>
          </a:xfrm>
          <a:prstGeom prst="rect">
            <a:avLst/>
          </a:prstGeom>
        </p:spPr>
      </p:pic>
      <p:pic>
        <p:nvPicPr>
          <p:cNvPr id="21" name="Picture 20" descr="CL_Logo_DRAWN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089" y="6236387"/>
            <a:ext cx="1215590" cy="502487"/>
          </a:xfrm>
          <a:prstGeom prst="rect">
            <a:avLst/>
          </a:prstGeom>
        </p:spPr>
      </p:pic>
      <p:pic>
        <p:nvPicPr>
          <p:cNvPr id="22" name="Picture 21" descr="Rules_Single_A.pn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2" y="6487629"/>
            <a:ext cx="11423745" cy="90835"/>
          </a:xfrm>
          <a:prstGeom prst="rect">
            <a:avLst/>
          </a:prstGeom>
        </p:spPr>
      </p:pic>
      <p:sp>
        <p:nvSpPr>
          <p:cNvPr id="10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990600" y="1340048"/>
            <a:ext cx="6949440" cy="297004"/>
          </a:xfrm>
        </p:spPr>
        <p:txBody>
          <a:bodyPr lIns="45720" tIns="45720" rIns="45720" bIns="45720"/>
          <a:lstStyle>
            <a:lvl1pPr marL="0" indent="0">
              <a:buNone/>
              <a:defRPr sz="1400" b="0" baseline="0">
                <a:solidFill>
                  <a:srgbClr val="6A6466"/>
                </a:solidFill>
              </a:defRPr>
            </a:lvl1pPr>
          </a:lstStyle>
          <a:p>
            <a:pPr lvl="0"/>
            <a:r>
              <a:rPr lang="en-US" dirty="0"/>
              <a:t>&lt;TABLE #-# apply bold&gt; &lt;Table title normal&gt;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idx="12"/>
          </p:nvPr>
        </p:nvSpPr>
        <p:spPr>
          <a:xfrm>
            <a:off x="365125" y="3997249"/>
            <a:ext cx="8415338" cy="1412951"/>
          </a:xfrm>
        </p:spPr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1597682" y="6578465"/>
            <a:ext cx="6781693" cy="244535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  <p:extLst>
      <p:ext uri="{BB962C8B-B14F-4D97-AF65-F5344CB8AC3E}">
        <p14:creationId xmlns:p14="http://schemas.microsoft.com/office/powerpoint/2010/main" val="28490458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Fig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06258"/>
            <a:ext cx="8026400" cy="29623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8" name="Picture 7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3"/>
            <a:ext cx="628992" cy="697255"/>
          </a:xfrm>
          <a:prstGeom prst="rect">
            <a:avLst/>
          </a:prstGeom>
        </p:spPr>
      </p:pic>
      <p:pic>
        <p:nvPicPr>
          <p:cNvPr id="21" name="Picture 20" descr="CL_Logo_DRAWN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089" y="6236387"/>
            <a:ext cx="1215590" cy="502487"/>
          </a:xfrm>
          <a:prstGeom prst="rect">
            <a:avLst/>
          </a:prstGeom>
        </p:spPr>
      </p:pic>
      <p:pic>
        <p:nvPicPr>
          <p:cNvPr id="22" name="Picture 21" descr="Rules_Single_A.pn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2" y="6487629"/>
            <a:ext cx="11423745" cy="90835"/>
          </a:xfrm>
          <a:prstGeom prst="rect">
            <a:avLst/>
          </a:prstGeom>
        </p:spPr>
      </p:pic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1066800" y="5102423"/>
            <a:ext cx="6949440" cy="297004"/>
          </a:xfrm>
        </p:spPr>
        <p:txBody>
          <a:bodyPr lIns="45720" tIns="45720" rIns="45720" bIns="45720"/>
          <a:lstStyle>
            <a:lvl1pPr marL="0" indent="0">
              <a:buNone/>
              <a:defRPr sz="1400" b="0">
                <a:solidFill>
                  <a:srgbClr val="6A6466"/>
                </a:solidFill>
              </a:defRPr>
            </a:lvl1pPr>
          </a:lstStyle>
          <a:p>
            <a:pPr lvl="0"/>
            <a:r>
              <a:rPr lang="en-US" dirty="0"/>
              <a:t>&lt;FIGURE #-# apply bold&gt; &lt;Figure caption text normal&gt;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1597682" y="6578465"/>
            <a:ext cx="6781693" cy="244535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  <p:extLst>
      <p:ext uri="{BB962C8B-B14F-4D97-AF65-F5344CB8AC3E}">
        <p14:creationId xmlns:p14="http://schemas.microsoft.com/office/powerpoint/2010/main" val="4153932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06258"/>
            <a:ext cx="8026400" cy="29623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990600" y="1340048"/>
            <a:ext cx="6949440" cy="297004"/>
          </a:xfrm>
        </p:spPr>
        <p:txBody>
          <a:bodyPr lIns="45720" tIns="45720" rIns="45720" bIns="45720"/>
          <a:lstStyle>
            <a:lvl1pPr marL="0" indent="0">
              <a:buNone/>
              <a:defRPr sz="1400" b="0" baseline="0">
                <a:solidFill>
                  <a:srgbClr val="6A6466"/>
                </a:solidFill>
              </a:defRPr>
            </a:lvl1pPr>
          </a:lstStyle>
          <a:p>
            <a:pPr lvl="0"/>
            <a:r>
              <a:rPr lang="en-US" dirty="0"/>
              <a:t>&lt;TABLE #-# apply bold&gt; &lt;Table title normal&gt;</a:t>
            </a:r>
          </a:p>
        </p:txBody>
      </p:sp>
      <p:pic>
        <p:nvPicPr>
          <p:cNvPr id="8" name="Picture 7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3"/>
            <a:ext cx="628992" cy="697255"/>
          </a:xfrm>
          <a:prstGeom prst="rect">
            <a:avLst/>
          </a:prstGeom>
        </p:spPr>
      </p:pic>
      <p:pic>
        <p:nvPicPr>
          <p:cNvPr id="21" name="Picture 20" descr="CL_Logo_DRAWN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089" y="6236387"/>
            <a:ext cx="1215590" cy="502487"/>
          </a:xfrm>
          <a:prstGeom prst="rect">
            <a:avLst/>
          </a:prstGeom>
        </p:spPr>
      </p:pic>
      <p:pic>
        <p:nvPicPr>
          <p:cNvPr id="22" name="Picture 21" descr="Rules_Single_A.pn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2" y="6487629"/>
            <a:ext cx="11423745" cy="90835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1597682" y="6578465"/>
            <a:ext cx="6781693" cy="244535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  <p:extLst>
      <p:ext uri="{BB962C8B-B14F-4D97-AF65-F5344CB8AC3E}">
        <p14:creationId xmlns:p14="http://schemas.microsoft.com/office/powerpoint/2010/main" val="22879058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Content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6258"/>
            <a:ext cx="8026400" cy="29623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125" y="1538818"/>
            <a:ext cx="3673475" cy="1412951"/>
          </a:xfrm>
        </p:spPr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3"/>
            <a:ext cx="628992" cy="697255"/>
          </a:xfrm>
          <a:prstGeom prst="rect">
            <a:avLst/>
          </a:prstGeom>
        </p:spPr>
      </p:pic>
      <p:pic>
        <p:nvPicPr>
          <p:cNvPr id="17" name="Picture 16" descr="CL_Logo_DRAWN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089" y="6236387"/>
            <a:ext cx="1215590" cy="502487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2" y="6487629"/>
            <a:ext cx="11423745" cy="90835"/>
          </a:xfrm>
          <a:prstGeom prst="rect">
            <a:avLst/>
          </a:prstGeom>
        </p:spPr>
      </p:pic>
      <p:sp>
        <p:nvSpPr>
          <p:cNvPr id="11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4572000" y="5722796"/>
            <a:ext cx="4114800" cy="297004"/>
          </a:xfrm>
        </p:spPr>
        <p:txBody>
          <a:bodyPr lIns="91440" tIns="45720" rIns="91440" bIns="45720"/>
          <a:lstStyle>
            <a:lvl1pPr marL="0" indent="0">
              <a:buNone/>
              <a:defRPr sz="1400" b="0">
                <a:solidFill>
                  <a:srgbClr val="6A6466"/>
                </a:solidFill>
              </a:defRPr>
            </a:lvl1pPr>
          </a:lstStyle>
          <a:p>
            <a:pPr lvl="0"/>
            <a:r>
              <a:rPr lang="en-US" dirty="0"/>
              <a:t>&lt;FIGURE #-# apply bold&gt; &lt;Figure caption text normal&gt;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2" y="6578465"/>
            <a:ext cx="6781693" cy="244535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  <p:extLst>
      <p:ext uri="{BB962C8B-B14F-4D97-AF65-F5344CB8AC3E}">
        <p14:creationId xmlns:p14="http://schemas.microsoft.com/office/powerpoint/2010/main" val="12391228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06258"/>
            <a:ext cx="8026400" cy="29623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8" name="Picture 7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3"/>
            <a:ext cx="628992" cy="697255"/>
          </a:xfrm>
          <a:prstGeom prst="rect">
            <a:avLst/>
          </a:prstGeom>
        </p:spPr>
      </p:pic>
      <p:pic>
        <p:nvPicPr>
          <p:cNvPr id="21" name="Picture 20" descr="CL_Logo_DRAWN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089" y="6236387"/>
            <a:ext cx="1215590" cy="502487"/>
          </a:xfrm>
          <a:prstGeom prst="rect">
            <a:avLst/>
          </a:prstGeom>
        </p:spPr>
      </p:pic>
      <p:pic>
        <p:nvPicPr>
          <p:cNvPr id="22" name="Picture 21" descr="Rules_Single_A.pn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2" y="6487629"/>
            <a:ext cx="11423745" cy="90835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1597682" y="6578465"/>
            <a:ext cx="6781693" cy="244535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  <p:extLst>
      <p:ext uri="{BB962C8B-B14F-4D97-AF65-F5344CB8AC3E}">
        <p14:creationId xmlns:p14="http://schemas.microsoft.com/office/powerpoint/2010/main" val="13363938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  <p:extLst>
      <p:ext uri="{BB962C8B-B14F-4D97-AF65-F5344CB8AC3E}">
        <p14:creationId xmlns:p14="http://schemas.microsoft.com/office/powerpoint/2010/main" val="36470330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65125" y="480785"/>
            <a:ext cx="8415338" cy="296235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5125" y="1538818"/>
            <a:ext cx="8415338" cy="14129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1014984" y="6455663"/>
            <a:ext cx="6400800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  <p:sp>
        <p:nvSpPr>
          <p:cNvPr id="7" name="Slide Number Placeholder 5"/>
          <p:cNvSpPr txBox="1">
            <a:spLocks/>
          </p:cNvSpPr>
          <p:nvPr/>
        </p:nvSpPr>
        <p:spPr>
          <a:xfrm>
            <a:off x="8376166" y="6513743"/>
            <a:ext cx="312906" cy="215444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B40067-BD2A-418A-98BB-08A98047DC47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92161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4" r:id="rId1"/>
    <p:sldLayoutId id="2147484005" r:id="rId2"/>
    <p:sldLayoutId id="2147484006" r:id="rId3"/>
    <p:sldLayoutId id="2147484007" r:id="rId4"/>
    <p:sldLayoutId id="2147484008" r:id="rId5"/>
    <p:sldLayoutId id="2147484009" r:id="rId6"/>
    <p:sldLayoutId id="2147484010" r:id="rId7"/>
    <p:sldLayoutId id="2147484011" r:id="rId8"/>
    <p:sldLayoutId id="2147484012" r:id="rId9"/>
    <p:sldLayoutId id="2147484013" r:id="rId10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2200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914400" rtl="0" eaLnBrk="1" latinLnBrk="0" hangingPunct="1">
        <a:lnSpc>
          <a:spcPct val="95000"/>
        </a:lnSpc>
        <a:spcBef>
          <a:spcPts val="12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00050" indent="-171450" algn="l" defTabSz="914400" rtl="0" eaLnBrk="1" latinLnBrk="0" hangingPunct="1">
        <a:lnSpc>
          <a:spcPct val="95000"/>
        </a:lnSpc>
        <a:spcBef>
          <a:spcPts val="600"/>
        </a:spcBef>
        <a:buClr>
          <a:schemeClr val="accent1"/>
        </a:buClr>
        <a:buFont typeface="Arial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71500" indent="-114300" algn="l" defTabSz="914400" rtl="0" eaLnBrk="1" latinLnBrk="0" hangingPunct="1">
        <a:lnSpc>
          <a:spcPct val="95000"/>
        </a:lnSpc>
        <a:spcBef>
          <a:spcPct val="20000"/>
        </a:spcBef>
        <a:buClr>
          <a:schemeClr val="tx1">
            <a:lumMod val="75000"/>
            <a:lumOff val="25000"/>
          </a:schemeClr>
        </a:buClr>
        <a:buFont typeface="Arial" pitchFamily="34" charset="0"/>
        <a:buChar char="-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2950" indent="-114300" algn="l" defTabSz="914400" rtl="0" eaLnBrk="1" latinLnBrk="0" hangingPunct="1">
        <a:lnSpc>
          <a:spcPct val="95000"/>
        </a:lnSpc>
        <a:spcBef>
          <a:spcPct val="20000"/>
        </a:spcBef>
        <a:buFont typeface="Arial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14400" indent="-114300" algn="l" defTabSz="914400" rtl="0" eaLnBrk="1" latinLnBrk="0" hangingPunct="1">
        <a:lnSpc>
          <a:spcPct val="95000"/>
        </a:lnSpc>
        <a:spcBef>
          <a:spcPct val="20000"/>
        </a:spcBef>
        <a:buFont typeface="Arial" pitchFamily="34" charset="0"/>
        <a:buChar char="-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9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ctrTitle"/>
          </p:nvPr>
        </p:nvSpPr>
        <p:spPr>
          <a:xfrm>
            <a:off x="698500" y="3101444"/>
            <a:ext cx="7747000" cy="366254"/>
          </a:xfrm>
        </p:spPr>
        <p:txBody>
          <a:bodyPr/>
          <a:lstStyle/>
          <a:p>
            <a:r>
              <a:rPr lang="en-US" altLang="en-US" dirty="0"/>
              <a:t>Chapter 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8500" y="3730752"/>
            <a:ext cx="7747000" cy="233910"/>
          </a:xfrm>
        </p:spPr>
        <p:txBody>
          <a:bodyPr/>
          <a:lstStyle/>
          <a:p>
            <a:r>
              <a:rPr lang="en-US" altLang="en-US" dirty="0"/>
              <a:t>Control Structures I (Selection)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Objectives (1 of </a:t>
            </a:r>
            <a:r>
              <a:rPr lang="en-US" altLang="en-US" dirty="0" smtClean="0"/>
              <a:t>1)</a:t>
            </a:r>
            <a:endParaRPr lang="en-US" altLang="en-US" dirty="0"/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2332946"/>
          </a:xfrm>
        </p:spPr>
        <p:txBody>
          <a:bodyPr/>
          <a:lstStyle/>
          <a:p>
            <a:pPr eaLnBrk="1" hangingPunct="1"/>
            <a:r>
              <a:rPr lang="en-US" altLang="en-US" dirty="0"/>
              <a:t>In this chapter, you will:</a:t>
            </a:r>
          </a:p>
          <a:p>
            <a:pPr lvl="1"/>
            <a:r>
              <a:rPr lang="en-US" altLang="en-US" dirty="0"/>
              <a:t>Learn about control structures</a:t>
            </a:r>
          </a:p>
          <a:p>
            <a:pPr lvl="1"/>
            <a:r>
              <a:rPr lang="en-US" altLang="en-US" dirty="0"/>
              <a:t>Examine relational operators</a:t>
            </a:r>
          </a:p>
          <a:p>
            <a:pPr lvl="1"/>
            <a:r>
              <a:rPr lang="en-US" altLang="en-US" dirty="0"/>
              <a:t>Discover how to use the selection control structures </a:t>
            </a:r>
            <a:r>
              <a:rPr lang="en-US" altLang="en-US" dirty="0">
                <a:latin typeface="Courier New" pitchFamily="49" charset="0"/>
                <a:cs typeface="Courier New" pitchFamily="49" charset="0"/>
              </a:rPr>
              <a:t>if</a:t>
            </a:r>
            <a:r>
              <a:rPr lang="en-US" altLang="en-US" dirty="0"/>
              <a:t>, </a:t>
            </a:r>
            <a:r>
              <a:rPr lang="en-US" altLang="en-US" dirty="0">
                <a:latin typeface="Courier New" pitchFamily="49" charset="0"/>
                <a:cs typeface="Courier New" pitchFamily="49" charset="0"/>
              </a:rPr>
              <a:t>if…else</a:t>
            </a:r>
          </a:p>
          <a:p>
            <a:pPr lvl="1"/>
            <a:r>
              <a:rPr lang="en-US" altLang="en-US" dirty="0"/>
              <a:t>Examine </a:t>
            </a:r>
            <a:r>
              <a:rPr lang="en-US" altLang="en-US" dirty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en-US" dirty="0"/>
              <a:t> and </a:t>
            </a:r>
            <a:r>
              <a:rPr lang="en-US" altLang="en-US" dirty="0">
                <a:latin typeface="Courier New" pitchFamily="49" charset="0"/>
                <a:cs typeface="Courier New" pitchFamily="49" charset="0"/>
              </a:rPr>
              <a:t>bool</a:t>
            </a:r>
            <a:r>
              <a:rPr lang="en-US" altLang="en-US" dirty="0"/>
              <a:t> data types and logical (Boolean) expressions</a:t>
            </a:r>
          </a:p>
          <a:p>
            <a:pPr lvl="1"/>
            <a:r>
              <a:rPr lang="en-US" altLang="en-US" dirty="0"/>
              <a:t>Examine logical operators</a:t>
            </a:r>
          </a:p>
          <a:p>
            <a:pPr lvl="1"/>
            <a:r>
              <a:rPr lang="en-US" dirty="0"/>
              <a:t>Explore how to form and evaluate logical (Boolean) expressions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  <a:endParaRPr lang="en-US" dirty="0">
              <a:solidFill>
                <a:schemeClr val="tx1">
                  <a:tint val="75000"/>
                </a:schemeClr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Control Structures (1 of 2)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2779222"/>
          </a:xfrm>
        </p:spPr>
        <p:txBody>
          <a:bodyPr/>
          <a:lstStyle/>
          <a:p>
            <a:pPr eaLnBrk="1" hangingPunct="1"/>
            <a:r>
              <a:rPr lang="en-US" altLang="en-US" dirty="0"/>
              <a:t>A computer can proceed:</a:t>
            </a:r>
          </a:p>
          <a:p>
            <a:pPr lvl="1" eaLnBrk="1" hangingPunct="1"/>
            <a:r>
              <a:rPr lang="en-US" altLang="en-US" dirty="0"/>
              <a:t>In sequence</a:t>
            </a:r>
          </a:p>
          <a:p>
            <a:pPr lvl="1" eaLnBrk="1" hangingPunct="1"/>
            <a:r>
              <a:rPr lang="en-US" altLang="en-US" dirty="0"/>
              <a:t>Selectively (branch): making a choice</a:t>
            </a:r>
          </a:p>
          <a:p>
            <a:pPr lvl="1" eaLnBrk="1" hangingPunct="1"/>
            <a:r>
              <a:rPr lang="en-US" altLang="en-US" dirty="0"/>
              <a:t>Repetitively: looping</a:t>
            </a:r>
          </a:p>
          <a:p>
            <a:pPr lvl="1" eaLnBrk="1" hangingPunct="1"/>
            <a:r>
              <a:rPr lang="en-US" altLang="en-US" dirty="0"/>
              <a:t>By calling a function</a:t>
            </a:r>
          </a:p>
          <a:p>
            <a:pPr eaLnBrk="1" hangingPunct="1"/>
            <a:r>
              <a:rPr lang="en-US" altLang="en-US" dirty="0"/>
              <a:t>The two most common control structures are:</a:t>
            </a:r>
          </a:p>
          <a:p>
            <a:pPr lvl="1" eaLnBrk="1" hangingPunct="1"/>
            <a:r>
              <a:rPr lang="en-US" altLang="en-US" dirty="0"/>
              <a:t>Selection</a:t>
            </a:r>
          </a:p>
          <a:p>
            <a:pPr lvl="1" eaLnBrk="1" hangingPunct="1"/>
            <a:r>
              <a:rPr lang="en-US" altLang="en-US" dirty="0"/>
              <a:t>Repetition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  <a:endParaRPr lang="en-US" dirty="0">
              <a:solidFill>
                <a:schemeClr val="tx1">
                  <a:tint val="75000"/>
                </a:schemeClr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Control Structures (2 of 2)</a:t>
            </a:r>
          </a:p>
        </p:txBody>
      </p:sp>
      <p:pic>
        <p:nvPicPr>
          <p:cNvPr id="20488" name="Picture 8" descr="Figure 4-1 illustrates three types of program flow: sequence, selection, and repetition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371600"/>
            <a:ext cx="7315200" cy="39856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685800" y="5378572"/>
            <a:ext cx="6949440" cy="297004"/>
          </a:xfrm>
        </p:spPr>
        <p:txBody>
          <a:bodyPr/>
          <a:lstStyle/>
          <a:p>
            <a:r>
              <a:rPr lang="en-US" b="1" dirty="0"/>
              <a:t>FIGURE 4-1 </a:t>
            </a:r>
            <a:r>
              <a:rPr lang="en-US" dirty="0"/>
              <a:t>Flow of execution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  <a:endParaRPr lang="en-US" dirty="0">
              <a:solidFill>
                <a:schemeClr val="tx1">
                  <a:tint val="75000"/>
                </a:schemeClr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Selection: </a:t>
            </a:r>
            <a:r>
              <a:rPr lang="en-US" altLang="en-US" dirty="0">
                <a:latin typeface="Courier New" pitchFamily="49" charset="0"/>
              </a:rPr>
              <a:t>if</a:t>
            </a:r>
            <a:r>
              <a:rPr lang="en-US" altLang="en-US" dirty="0"/>
              <a:t> and </a:t>
            </a:r>
            <a:r>
              <a:rPr lang="en-US" altLang="en-US" dirty="0">
                <a:latin typeface="Courier New" pitchFamily="49" charset="0"/>
              </a:rPr>
              <a:t>if...else</a:t>
            </a:r>
            <a:endParaRPr lang="en-US" alt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An expression that evaluates to </a:t>
            </a:r>
            <a:r>
              <a:rPr lang="en-US" altLang="en-US" b="1" dirty="0">
                <a:solidFill>
                  <a:srgbClr val="638DAD"/>
                </a:solidFill>
                <a:latin typeface="Courier New" pitchFamily="49" charset="0"/>
                <a:cs typeface="Courier New" pitchFamily="49" charset="0"/>
              </a:rPr>
              <a:t>true</a:t>
            </a:r>
            <a:r>
              <a:rPr lang="en-US" altLang="en-US" dirty="0"/>
              <a:t> or </a:t>
            </a:r>
            <a:r>
              <a:rPr lang="en-US" altLang="en-US" b="1" dirty="0">
                <a:solidFill>
                  <a:srgbClr val="638DAD"/>
                </a:solidFill>
                <a:latin typeface="Courier New" pitchFamily="49" charset="0"/>
                <a:cs typeface="Courier New" pitchFamily="49" charset="0"/>
              </a:rPr>
              <a:t>false</a:t>
            </a:r>
            <a:r>
              <a:rPr lang="en-US" altLang="en-US" dirty="0">
                <a:cs typeface="Courier New" pitchFamily="49" charset="0"/>
              </a:rPr>
              <a:t> is called a logical expression</a:t>
            </a:r>
          </a:p>
          <a:p>
            <a:pPr lvl="1"/>
            <a:r>
              <a:rPr lang="en-US" altLang="en-US" dirty="0">
                <a:cs typeface="Courier New" pitchFamily="49" charset="0"/>
              </a:rPr>
              <a:t>“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8 is greater than 3</a:t>
            </a:r>
            <a:r>
              <a:rPr lang="en-US" altLang="en-US" dirty="0">
                <a:cs typeface="Courier New" pitchFamily="49" charset="0"/>
              </a:rPr>
              <a:t>” is true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  <a:endParaRPr lang="en-US" dirty="0">
              <a:solidFill>
                <a:schemeClr val="tx1">
                  <a:tint val="75000"/>
                </a:schemeClr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Relational Operators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b="1" dirty="0"/>
              <a:t>TABLE 4-1 </a:t>
            </a:r>
            <a:r>
              <a:rPr lang="en-US" dirty="0"/>
              <a:t>Relational Operators in C++</a:t>
            </a:r>
          </a:p>
        </p:txBody>
      </p:sp>
      <p:graphicFrame>
        <p:nvGraphicFramePr>
          <p:cNvPr id="5" name="Table 4" descr="Table 4-1 lists C++ relational operators along wtih a description of each:&#10;Operator Description&#10;== equal to&#10;!= not equal to&#10;&lt; less than&#10;&lt;= less than or equal to&#10;&gt; greater than&#10;&gt;= greater than or equal to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1175249"/>
              </p:ext>
            </p:extLst>
          </p:nvPr>
        </p:nvGraphicFramePr>
        <p:xfrm>
          <a:off x="990600" y="1676400"/>
          <a:ext cx="5400676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40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76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1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Operator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D1A7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D1A7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1" i="0" u="none" strike="noStrike" kern="1200" baseline="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==</a:t>
                      </a:r>
                      <a:endParaRPr lang="en-US" sz="14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solidFill>
                      <a:srgbClr val="F2E7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equal to</a:t>
                      </a:r>
                    </a:p>
                  </a:txBody>
                  <a:tcPr anchor="ctr">
                    <a:solidFill>
                      <a:srgbClr val="F2E7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1" i="0" u="none" strike="noStrike" kern="1200" baseline="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!=</a:t>
                      </a:r>
                      <a:endParaRPr lang="en-US" sz="14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solidFill>
                      <a:srgbClr val="F2E7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not equal to</a:t>
                      </a:r>
                    </a:p>
                  </a:txBody>
                  <a:tcPr anchor="ctr">
                    <a:solidFill>
                      <a:srgbClr val="F2E7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1" i="0" u="none" strike="noStrike" kern="1200" baseline="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&lt;</a:t>
                      </a:r>
                      <a:endParaRPr lang="en-US" sz="14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solidFill>
                      <a:srgbClr val="F2E7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less than</a:t>
                      </a:r>
                    </a:p>
                  </a:txBody>
                  <a:tcPr anchor="ctr">
                    <a:solidFill>
                      <a:srgbClr val="F2E7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&lt;=</a:t>
                      </a:r>
                    </a:p>
                  </a:txBody>
                  <a:tcPr anchor="ctr">
                    <a:solidFill>
                      <a:srgbClr val="F2E7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less than or equal to</a:t>
                      </a:r>
                      <a:endParaRPr lang="en-US" sz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solidFill>
                      <a:srgbClr val="F2E7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&gt;</a:t>
                      </a:r>
                    </a:p>
                  </a:txBody>
                  <a:tcPr anchor="ctr">
                    <a:solidFill>
                      <a:srgbClr val="F2E7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greater than</a:t>
                      </a:r>
                    </a:p>
                  </a:txBody>
                  <a:tcPr anchor="ctr">
                    <a:solidFill>
                      <a:srgbClr val="F2E7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&gt;=</a:t>
                      </a:r>
                    </a:p>
                  </a:txBody>
                  <a:tcPr anchor="ctr">
                    <a:solidFill>
                      <a:srgbClr val="F2E7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greater than or equal to</a:t>
                      </a:r>
                    </a:p>
                  </a:txBody>
                  <a:tcPr anchor="ctr">
                    <a:solidFill>
                      <a:srgbClr val="F2E7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Content Placeholder 5"/>
          <p:cNvSpPr>
            <a:spLocks noGrp="1"/>
          </p:cNvSpPr>
          <p:nvPr>
            <p:ph idx="12"/>
          </p:nvPr>
        </p:nvSpPr>
        <p:spPr>
          <a:xfrm>
            <a:off x="365125" y="4671536"/>
            <a:ext cx="8415338" cy="738664"/>
          </a:xfrm>
        </p:spPr>
        <p:txBody>
          <a:bodyPr/>
          <a:lstStyle/>
          <a:p>
            <a:r>
              <a:rPr lang="en-US" dirty="0"/>
              <a:t>Each relational operator is a binary operator (requires two operands)</a:t>
            </a:r>
          </a:p>
          <a:p>
            <a:r>
              <a:rPr lang="en-US" dirty="0"/>
              <a:t>Expressions using these operators always evaluate to </a:t>
            </a:r>
            <a:r>
              <a:rPr 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en-US" dirty="0"/>
              <a:t> or </a:t>
            </a:r>
            <a:r>
              <a:rPr 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  <p:extLst>
      <p:ext uri="{BB962C8B-B14F-4D97-AF65-F5344CB8AC3E}">
        <p14:creationId xmlns:p14="http://schemas.microsoft.com/office/powerpoint/2010/main" val="33818318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Relational Operators and Simple Data Types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292388"/>
          </a:xfrm>
        </p:spPr>
        <p:txBody>
          <a:bodyPr/>
          <a:lstStyle/>
          <a:p>
            <a:r>
              <a:rPr lang="en-US" dirty="0"/>
              <a:t>You can use the relational operators with all three simple data types</a:t>
            </a:r>
          </a:p>
        </p:txBody>
      </p:sp>
      <p:pic>
        <p:nvPicPr>
          <p:cNvPr id="23558" name="Picture 6" descr="Example 4-1 shows expressions using both integers and real numbers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286000"/>
            <a:ext cx="6400800" cy="22721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  <a:endParaRPr lang="en-US" dirty="0">
              <a:solidFill>
                <a:schemeClr val="tx1">
                  <a:tint val="75000"/>
                </a:schemeClr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Comparing Characters</a:t>
            </a:r>
          </a:p>
        </p:txBody>
      </p:sp>
      <p:sp>
        <p:nvSpPr>
          <p:cNvPr id="25603" name="Content Placeholder 5"/>
          <p:cNvSpPr>
            <a:spLocks noGrp="1"/>
          </p:cNvSpPr>
          <p:nvPr>
            <p:ph idx="1"/>
          </p:nvPr>
        </p:nvSpPr>
        <p:spPr>
          <a:xfrm>
            <a:off x="365125" y="1538818"/>
            <a:ext cx="8415338" cy="2439129"/>
          </a:xfrm>
        </p:spPr>
        <p:txBody>
          <a:bodyPr/>
          <a:lstStyle/>
          <a:p>
            <a:pPr eaLnBrk="1" hangingPunct="1"/>
            <a:r>
              <a:rPr lang="en-US" altLang="en-US" dirty="0"/>
              <a:t>In an expression of 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char</a:t>
            </a:r>
            <a:r>
              <a:rPr lang="en-US" altLang="en-US" dirty="0"/>
              <a:t> values using relational operators:</a:t>
            </a:r>
          </a:p>
          <a:p>
            <a:pPr lvl="1" eaLnBrk="1" hangingPunct="1"/>
            <a:r>
              <a:rPr lang="en-US" altLang="en-US" dirty="0"/>
              <a:t>The result depends on the machine’s collating sequence</a:t>
            </a:r>
          </a:p>
          <a:p>
            <a:pPr lvl="2"/>
            <a:r>
              <a:rPr lang="en-US" altLang="en-US" dirty="0"/>
              <a:t>ASCII character set</a:t>
            </a:r>
          </a:p>
          <a:p>
            <a:pPr eaLnBrk="1" hangingPunct="1"/>
            <a:r>
              <a:rPr lang="en-US" altLang="en-US" dirty="0"/>
              <a:t>Logical (Boolean) expressions:</a:t>
            </a:r>
          </a:p>
          <a:p>
            <a:pPr lvl="1" eaLnBrk="1" hangingPunct="1"/>
            <a:r>
              <a:rPr lang="en-US" altLang="en-US" dirty="0"/>
              <a:t>Include expressions such as 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4 &lt; 6</a:t>
            </a:r>
            <a:r>
              <a:rPr lang="en-US" altLang="en-US" b="1" dirty="0"/>
              <a:t> </a:t>
            </a:r>
            <a:r>
              <a:rPr lang="en-US" altLang="en-US" dirty="0"/>
              <a:t>and 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'R' &gt; 'T’</a:t>
            </a:r>
          </a:p>
          <a:p>
            <a:pPr lvl="1" eaLnBrk="1" hangingPunct="1"/>
            <a:r>
              <a:rPr lang="en-US" altLang="en-US" dirty="0"/>
              <a:t>Return an integer value of 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1</a:t>
            </a:r>
            <a:r>
              <a:rPr lang="en-US" altLang="en-US" dirty="0"/>
              <a:t> if the logical expression evaluates to </a:t>
            </a:r>
            <a:r>
              <a:rPr lang="en-US" altLang="en-US" b="1" dirty="0">
                <a:solidFill>
                  <a:srgbClr val="638DAD"/>
                </a:solidFill>
                <a:latin typeface="Courier New" pitchFamily="49" charset="0"/>
                <a:cs typeface="Courier New" pitchFamily="49" charset="0"/>
              </a:rPr>
              <a:t>true</a:t>
            </a:r>
            <a:endParaRPr lang="en-US" altLang="en-US" b="1" dirty="0">
              <a:solidFill>
                <a:srgbClr val="638DAD"/>
              </a:solidFill>
            </a:endParaRPr>
          </a:p>
          <a:p>
            <a:pPr lvl="1" eaLnBrk="1" hangingPunct="1"/>
            <a:r>
              <a:rPr lang="en-US" altLang="en-US" dirty="0"/>
              <a:t>Return an integer value of 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0</a:t>
            </a:r>
            <a:r>
              <a:rPr lang="en-US" altLang="en-US" dirty="0"/>
              <a:t> otherwise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  <a:endParaRPr lang="en-US" dirty="0">
              <a:solidFill>
                <a:schemeClr val="tx1">
                  <a:tint val="75000"/>
                </a:schemeClr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One-Way Selection (1 of 2)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292388"/>
          </a:xfrm>
        </p:spPr>
        <p:txBody>
          <a:bodyPr/>
          <a:lstStyle/>
          <a:p>
            <a:pPr eaLnBrk="1" hangingPunct="1">
              <a:spcBef>
                <a:spcPts val="675"/>
              </a:spcBef>
            </a:pPr>
            <a:r>
              <a:rPr lang="en-US" altLang="en-US" dirty="0"/>
              <a:t>One-way selection syntax</a:t>
            </a:r>
          </a:p>
        </p:txBody>
      </p:sp>
      <p:pic>
        <p:nvPicPr>
          <p:cNvPr id="26631" name="Picture 7" descr="if (expression)&#10;    statemen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905000"/>
            <a:ext cx="3429000" cy="7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1"/>
          </p:nvPr>
        </p:nvSpPr>
        <p:spPr>
          <a:xfrm>
            <a:off x="365125" y="2819401"/>
            <a:ext cx="8415338" cy="2208810"/>
          </a:xfrm>
        </p:spPr>
        <p:txBody>
          <a:bodyPr/>
          <a:lstStyle/>
          <a:p>
            <a:pPr>
              <a:spcBef>
                <a:spcPts val="675"/>
              </a:spcBef>
            </a:pPr>
            <a:r>
              <a:rPr lang="en-US" altLang="en-US" dirty="0"/>
              <a:t>The statement is:</a:t>
            </a:r>
          </a:p>
          <a:p>
            <a:pPr lvl="1">
              <a:spcBef>
                <a:spcPts val="675"/>
              </a:spcBef>
            </a:pPr>
            <a:r>
              <a:rPr lang="en-US" altLang="en-US" dirty="0"/>
              <a:t>Executed if the value of the expression is </a:t>
            </a:r>
            <a:r>
              <a:rPr lang="en-US" altLang="en-US" b="1" dirty="0">
                <a:solidFill>
                  <a:srgbClr val="638DAD"/>
                </a:solidFill>
                <a:latin typeface="Courier New" pitchFamily="49" charset="0"/>
              </a:rPr>
              <a:t>true</a:t>
            </a:r>
          </a:p>
          <a:p>
            <a:pPr lvl="1">
              <a:spcBef>
                <a:spcPts val="675"/>
              </a:spcBef>
            </a:pPr>
            <a:r>
              <a:rPr lang="en-US" altLang="en-US" dirty="0"/>
              <a:t>Bypassed if the value is </a:t>
            </a:r>
            <a:r>
              <a:rPr lang="en-US" altLang="en-US" b="1" dirty="0">
                <a:solidFill>
                  <a:srgbClr val="638DAD"/>
                </a:solidFill>
                <a:latin typeface="Courier New" pitchFamily="49" charset="0"/>
              </a:rPr>
              <a:t>false</a:t>
            </a:r>
            <a:r>
              <a:rPr lang="en-US" altLang="en-US" dirty="0"/>
              <a:t>;  program goes to the next statement</a:t>
            </a:r>
          </a:p>
          <a:p>
            <a:pPr>
              <a:spcBef>
                <a:spcPts val="675"/>
              </a:spcBef>
            </a:pPr>
            <a:r>
              <a:rPr lang="en-US" altLang="en-US" dirty="0"/>
              <a:t>The </a:t>
            </a:r>
            <a:r>
              <a:rPr lang="en-US" altLang="en-US" b="1" dirty="0">
                <a:latin typeface="Courier New" pitchFamily="49" charset="0"/>
              </a:rPr>
              <a:t>expression</a:t>
            </a:r>
            <a:r>
              <a:rPr lang="en-US" altLang="en-US" dirty="0">
                <a:latin typeface="Courier New" pitchFamily="49" charset="0"/>
              </a:rPr>
              <a:t> </a:t>
            </a:r>
            <a:r>
              <a:rPr lang="en-US" altLang="en-US" dirty="0"/>
              <a:t>is also called a </a:t>
            </a:r>
            <a:r>
              <a:rPr lang="en-US" altLang="en-US" u="sng" dirty="0"/>
              <a:t>decision maker</a:t>
            </a:r>
          </a:p>
          <a:p>
            <a:pPr>
              <a:spcBef>
                <a:spcPts val="675"/>
              </a:spcBef>
            </a:pPr>
            <a:r>
              <a:rPr lang="en-US" altLang="en-US" dirty="0"/>
              <a:t>The statement following the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expression</a:t>
            </a:r>
            <a:r>
              <a:rPr lang="en-US" altLang="en-US" dirty="0"/>
              <a:t> is also called the </a:t>
            </a:r>
            <a:r>
              <a:rPr lang="en-US" altLang="en-US" u="sng" dirty="0"/>
              <a:t>action statement</a:t>
            </a:r>
          </a:p>
          <a:p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  <a:endParaRPr lang="en-US" dirty="0">
              <a:solidFill>
                <a:schemeClr val="tx1">
                  <a:tint val="75000"/>
                </a:schemeClr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One-Way Selection (2 of 2)</a:t>
            </a:r>
          </a:p>
        </p:txBody>
      </p:sp>
      <p:pic>
        <p:nvPicPr>
          <p:cNvPr id="27655" name="Picture 7" descr="Figure 4-2 shows the flow of execution of the if statement (one-way selection)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775461"/>
            <a:ext cx="6400800" cy="24823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990600" y="4288326"/>
            <a:ext cx="6949440" cy="297004"/>
          </a:xfrm>
        </p:spPr>
        <p:txBody>
          <a:bodyPr/>
          <a:lstStyle/>
          <a:p>
            <a:r>
              <a:rPr lang="en-US" b="1" dirty="0"/>
              <a:t>FIGURE 4-2 </a:t>
            </a:r>
            <a:r>
              <a:rPr lang="en-US" dirty="0"/>
              <a:t>One-way selection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  <a:endParaRPr lang="en-US" dirty="0">
              <a:solidFill>
                <a:schemeClr val="tx1">
                  <a:tint val="75000"/>
                </a:schemeClr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Two-Way Selection (1 of 2)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292388"/>
          </a:xfrm>
        </p:spPr>
        <p:txBody>
          <a:bodyPr/>
          <a:lstStyle/>
          <a:p>
            <a:pPr eaLnBrk="1" hangingPunct="1"/>
            <a:r>
              <a:rPr lang="en-US" altLang="en-US" dirty="0"/>
              <a:t>Two-way selection syntax</a:t>
            </a:r>
          </a:p>
        </p:txBody>
      </p:sp>
      <p:pic>
        <p:nvPicPr>
          <p:cNvPr id="28679" name="Picture 7" descr="if (expression)&#10;    statement1&#10;else&#10;    statement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905000"/>
            <a:ext cx="2352675" cy="1228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1"/>
          </p:nvPr>
        </p:nvSpPr>
        <p:spPr>
          <a:xfrm>
            <a:off x="365125" y="3276601"/>
            <a:ext cx="8415338" cy="1371145"/>
          </a:xfrm>
        </p:spPr>
        <p:txBody>
          <a:bodyPr/>
          <a:lstStyle/>
          <a:p>
            <a:r>
              <a:rPr lang="en-US" altLang="en-US" dirty="0"/>
              <a:t>If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expression</a:t>
            </a:r>
            <a:r>
              <a:rPr lang="en-US" altLang="en-US" dirty="0"/>
              <a:t> is </a:t>
            </a:r>
            <a:r>
              <a:rPr lang="en-US" altLang="en-US" b="1" dirty="0">
                <a:solidFill>
                  <a:srgbClr val="638DAD"/>
                </a:solidFill>
                <a:latin typeface="Courier New" pitchFamily="49" charset="0"/>
              </a:rPr>
              <a:t>true</a:t>
            </a:r>
            <a:r>
              <a:rPr lang="en-US" altLang="en-US" dirty="0"/>
              <a:t>, 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statement1</a:t>
            </a:r>
            <a:r>
              <a:rPr lang="en-US" altLang="en-US" dirty="0"/>
              <a:t> is executed; otherwise, 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statement2</a:t>
            </a:r>
            <a:r>
              <a:rPr lang="en-US" altLang="en-US" dirty="0"/>
              <a:t> is executed</a:t>
            </a:r>
          </a:p>
          <a:p>
            <a:pPr lvl="1"/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statement1</a:t>
            </a:r>
            <a:r>
              <a:rPr lang="en-US" altLang="en-US" dirty="0"/>
              <a:t> and 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statement2</a:t>
            </a:r>
            <a:r>
              <a:rPr lang="en-US" altLang="en-US" dirty="0"/>
              <a:t> are any C++ statements</a:t>
            </a:r>
          </a:p>
          <a:p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  <a:endParaRPr lang="en-US" dirty="0">
              <a:solidFill>
                <a:schemeClr val="tx1">
                  <a:tint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Two-Way Selection (2 of 2)</a:t>
            </a:r>
          </a:p>
        </p:txBody>
      </p:sp>
      <p:pic>
        <p:nvPicPr>
          <p:cNvPr id="29703" name="Picture 7" descr="Figure 4-3 shows the flow of execution of the if. . .else statement (two-way selection)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1776413"/>
            <a:ext cx="6400800" cy="25096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1377696" y="4307441"/>
            <a:ext cx="6949440" cy="297004"/>
          </a:xfrm>
        </p:spPr>
        <p:txBody>
          <a:bodyPr/>
          <a:lstStyle/>
          <a:p>
            <a:r>
              <a:rPr lang="en-US" b="1" dirty="0"/>
              <a:t>FIGURE 4-3 </a:t>
            </a:r>
            <a:r>
              <a:rPr lang="en-US" dirty="0"/>
              <a:t>Two-way selection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  <a:endParaRPr lang="en-US" dirty="0">
              <a:solidFill>
                <a:schemeClr val="tx1">
                  <a:tint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404142"/>
            <a:ext cx="8026400" cy="300467"/>
          </a:xfrm>
        </p:spPr>
        <p:txBody>
          <a:bodyPr/>
          <a:lstStyle/>
          <a:p>
            <a:pPr eaLnBrk="1" hangingPunct="1"/>
            <a:r>
              <a:rPr lang="en-US" altLang="en-US" dirty="0">
                <a:latin typeface="Courier New" pitchFamily="49" charset="0"/>
              </a:rPr>
              <a:t>int</a:t>
            </a:r>
            <a:r>
              <a:rPr lang="en-US" altLang="en-US" dirty="0"/>
              <a:t> Data Type and Logical (Boolean) Expressions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2603790"/>
          </a:xfrm>
        </p:spPr>
        <p:txBody>
          <a:bodyPr/>
          <a:lstStyle/>
          <a:p>
            <a:pPr eaLnBrk="1" hangingPunct="1"/>
            <a:r>
              <a:rPr lang="en-US" altLang="en-US" dirty="0"/>
              <a:t>Earlier versions of C++ did not provide built-in data types that had Boolean values</a:t>
            </a:r>
          </a:p>
          <a:p>
            <a:pPr eaLnBrk="1" hangingPunct="1"/>
            <a:r>
              <a:rPr lang="en-US" altLang="en-US" dirty="0"/>
              <a:t>Logical expressions evaluate to either </a:t>
            </a:r>
            <a:r>
              <a:rPr lang="en-US" altLang="en-US" b="1" dirty="0"/>
              <a:t>1</a:t>
            </a:r>
            <a:r>
              <a:rPr lang="en-US" altLang="en-US" dirty="0"/>
              <a:t> or </a:t>
            </a:r>
            <a:r>
              <a:rPr lang="en-US" altLang="en-US" b="1" dirty="0"/>
              <a:t>0</a:t>
            </a:r>
          </a:p>
          <a:p>
            <a:pPr lvl="1" eaLnBrk="1" hangingPunct="1"/>
            <a:r>
              <a:rPr lang="en-US" altLang="en-US" dirty="0"/>
              <a:t>Logical expression value was stored in a variable of the data type </a:t>
            </a:r>
            <a:r>
              <a:rPr lang="en-US" altLang="en-US" b="1" dirty="0">
                <a:solidFill>
                  <a:srgbClr val="638DAD"/>
                </a:solidFill>
                <a:latin typeface="Courier New" pitchFamily="49" charset="0"/>
              </a:rPr>
              <a:t>int</a:t>
            </a:r>
          </a:p>
          <a:p>
            <a:pPr eaLnBrk="1" hangingPunct="1"/>
            <a:r>
              <a:rPr lang="en-US" altLang="en-US" dirty="0"/>
              <a:t>You can use the </a:t>
            </a:r>
            <a:r>
              <a:rPr lang="en-US" altLang="en-US" b="1" dirty="0">
                <a:solidFill>
                  <a:srgbClr val="638DAD"/>
                </a:solidFill>
                <a:latin typeface="Courier New" pitchFamily="49" charset="0"/>
              </a:rPr>
              <a:t>int</a:t>
            </a:r>
            <a:r>
              <a:rPr lang="en-US" altLang="en-US" dirty="0"/>
              <a:t> data type to manipulate logical (Boolean) expressions</a:t>
            </a:r>
          </a:p>
          <a:p>
            <a:pPr lvl="1" eaLnBrk="1" hangingPunct="1"/>
            <a:endParaRPr lang="en-US" altLang="en-US" dirty="0"/>
          </a:p>
          <a:p>
            <a:pPr eaLnBrk="1" hangingPunct="1"/>
            <a:endParaRPr lang="en-US" alt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  <a:endParaRPr lang="en-US" dirty="0">
              <a:solidFill>
                <a:schemeClr val="tx1">
                  <a:tint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latin typeface="Courier New" pitchFamily="49" charset="0"/>
              </a:rPr>
              <a:t>bool</a:t>
            </a:r>
            <a:r>
              <a:rPr lang="en-US" altLang="en-US" dirty="0"/>
              <a:t> Data Type and Logical (Boolean) Expressions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2170209"/>
          </a:xfrm>
        </p:spPr>
        <p:txBody>
          <a:bodyPr/>
          <a:lstStyle/>
          <a:p>
            <a:pPr eaLnBrk="1" hangingPunct="1"/>
            <a:r>
              <a:rPr lang="en-US" altLang="en-US" dirty="0"/>
              <a:t>The data type </a:t>
            </a:r>
            <a:r>
              <a:rPr lang="en-US" altLang="en-US" b="1" dirty="0">
                <a:solidFill>
                  <a:srgbClr val="638DAD"/>
                </a:solidFill>
                <a:latin typeface="Courier New" pitchFamily="49" charset="0"/>
              </a:rPr>
              <a:t>bool</a:t>
            </a:r>
            <a:r>
              <a:rPr lang="en-US" altLang="en-US" dirty="0">
                <a:solidFill>
                  <a:srgbClr val="638DAD"/>
                </a:solidFill>
              </a:rPr>
              <a:t> </a:t>
            </a:r>
            <a:r>
              <a:rPr lang="en-US" altLang="en-US" dirty="0"/>
              <a:t>has logical (Boolean) values </a:t>
            </a:r>
            <a:r>
              <a:rPr lang="en-US" altLang="en-US" b="1" dirty="0">
                <a:solidFill>
                  <a:srgbClr val="638DAD"/>
                </a:solidFill>
                <a:latin typeface="Courier New" pitchFamily="49" charset="0"/>
              </a:rPr>
              <a:t>true</a:t>
            </a:r>
            <a:r>
              <a:rPr lang="en-US" altLang="en-US" dirty="0"/>
              <a:t> and </a:t>
            </a:r>
            <a:r>
              <a:rPr lang="en-US" altLang="en-US" b="1" dirty="0">
                <a:solidFill>
                  <a:srgbClr val="638DAD"/>
                </a:solidFill>
                <a:latin typeface="Courier New" pitchFamily="49" charset="0"/>
              </a:rPr>
              <a:t>false</a:t>
            </a:r>
          </a:p>
          <a:p>
            <a:pPr eaLnBrk="1" hangingPunct="1"/>
            <a:r>
              <a:rPr lang="en-US" altLang="en-US" b="1" dirty="0">
                <a:solidFill>
                  <a:srgbClr val="638DAD"/>
                </a:solidFill>
                <a:latin typeface="Courier New" pitchFamily="49" charset="0"/>
              </a:rPr>
              <a:t>bool</a:t>
            </a:r>
            <a:r>
              <a:rPr lang="en-US" altLang="en-US" dirty="0"/>
              <a:t>, </a:t>
            </a:r>
            <a:r>
              <a:rPr lang="en-US" altLang="en-US" b="1" dirty="0">
                <a:solidFill>
                  <a:srgbClr val="638DAD"/>
                </a:solidFill>
                <a:latin typeface="Courier New" pitchFamily="49" charset="0"/>
              </a:rPr>
              <a:t>true</a:t>
            </a:r>
            <a:r>
              <a:rPr lang="en-US" altLang="en-US" dirty="0"/>
              <a:t>, and </a:t>
            </a:r>
            <a:r>
              <a:rPr lang="en-US" altLang="en-US" b="1" dirty="0">
                <a:solidFill>
                  <a:srgbClr val="638DAD"/>
                </a:solidFill>
                <a:latin typeface="Courier New" pitchFamily="49" charset="0"/>
              </a:rPr>
              <a:t>false</a:t>
            </a:r>
            <a:r>
              <a:rPr lang="en-US" altLang="en-US" dirty="0"/>
              <a:t> are reserved words</a:t>
            </a:r>
          </a:p>
          <a:p>
            <a:pPr eaLnBrk="1" hangingPunct="1"/>
            <a:r>
              <a:rPr lang="en-US" altLang="en-US" dirty="0"/>
              <a:t>The identifier </a:t>
            </a:r>
            <a:r>
              <a:rPr lang="en-US" altLang="en-US" b="1" dirty="0">
                <a:solidFill>
                  <a:srgbClr val="638DAD"/>
                </a:solidFill>
                <a:latin typeface="Courier New" pitchFamily="49" charset="0"/>
              </a:rPr>
              <a:t>true</a:t>
            </a:r>
            <a:r>
              <a:rPr lang="en-US" altLang="en-US" dirty="0"/>
              <a:t> has the value </a:t>
            </a:r>
            <a:r>
              <a:rPr lang="en-US" altLang="en-US" b="1" dirty="0">
                <a:latin typeface="Courier New" pitchFamily="49" charset="0"/>
              </a:rPr>
              <a:t>1</a:t>
            </a:r>
            <a:r>
              <a:rPr lang="en-US" altLang="en-US" dirty="0"/>
              <a:t> </a:t>
            </a:r>
          </a:p>
          <a:p>
            <a:pPr eaLnBrk="1" hangingPunct="1"/>
            <a:r>
              <a:rPr lang="en-US" altLang="en-US" dirty="0"/>
              <a:t>The identifier </a:t>
            </a:r>
            <a:r>
              <a:rPr lang="en-US" altLang="en-US" b="1" dirty="0">
                <a:solidFill>
                  <a:srgbClr val="638DAD"/>
                </a:solidFill>
                <a:latin typeface="Courier New" pitchFamily="49" charset="0"/>
              </a:rPr>
              <a:t>false</a:t>
            </a:r>
            <a:r>
              <a:rPr lang="en-US" altLang="en-US" dirty="0"/>
              <a:t> has the value </a:t>
            </a:r>
            <a:r>
              <a:rPr lang="en-US" altLang="en-US" b="1" dirty="0">
                <a:latin typeface="Courier New" pitchFamily="49" charset="0"/>
              </a:rPr>
              <a:t>0</a:t>
            </a:r>
          </a:p>
          <a:p>
            <a:pPr eaLnBrk="1" hangingPunct="1"/>
            <a:endParaRPr lang="en-US" altLang="en-US" sz="2600" dirty="0">
              <a:latin typeface="Courier New" pitchFamily="49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  <a:endParaRPr lang="en-US" dirty="0">
              <a:solidFill>
                <a:schemeClr val="tx1">
                  <a:tint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Logical (Boolean) Operators and Logical Expressions (1 of 5)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292388"/>
          </a:xfrm>
        </p:spPr>
        <p:txBody>
          <a:bodyPr/>
          <a:lstStyle/>
          <a:p>
            <a:pPr eaLnBrk="1" hangingPunct="1"/>
            <a:r>
              <a:rPr lang="en-US" altLang="en-US" u="sng" dirty="0"/>
              <a:t>Logical (Boolean) operators</a:t>
            </a:r>
            <a:r>
              <a:rPr lang="en-US" altLang="en-US" dirty="0"/>
              <a:t> enable you to combine logical expressions</a:t>
            </a:r>
          </a:p>
        </p:txBody>
      </p:sp>
      <p:sp>
        <p:nvSpPr>
          <p:cNvPr id="10" name="Text Placeholder 3"/>
          <p:cNvSpPr txBox="1">
            <a:spLocks/>
          </p:cNvSpPr>
          <p:nvPr/>
        </p:nvSpPr>
        <p:spPr>
          <a:xfrm>
            <a:off x="1447800" y="2438400"/>
            <a:ext cx="6949440" cy="297004"/>
          </a:xfrm>
          <a:prstGeom prst="rect">
            <a:avLst/>
          </a:prstGeom>
        </p:spPr>
        <p:txBody>
          <a:bodyPr lIns="45720" rIns="45720"/>
          <a:lstStyle>
            <a:lvl1pPr marL="171450" indent="-171450" algn="l" defTabSz="914400" rtl="0" eaLnBrk="1" latinLnBrk="0" hangingPunct="1">
              <a:lnSpc>
                <a:spcPct val="95000"/>
              </a:lnSpc>
              <a:spcBef>
                <a:spcPts val="12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0050" indent="-171450" algn="l" defTabSz="914400" rtl="0" eaLnBrk="1" latinLnBrk="0" hangingPunct="1">
              <a:lnSpc>
                <a:spcPct val="95000"/>
              </a:lnSpc>
              <a:spcBef>
                <a:spcPts val="600"/>
              </a:spcBef>
              <a:buClr>
                <a:schemeClr val="accent1"/>
              </a:buClr>
              <a:buFont typeface="Arial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71500" indent="-114300" algn="l" defTabSz="914400" rtl="0" eaLnBrk="1" latinLnBrk="0" hangingPunct="1">
              <a:lnSpc>
                <a:spcPct val="95000"/>
              </a:lnSpc>
              <a:spcBef>
                <a:spcPct val="20000"/>
              </a:spcBef>
              <a:buClr>
                <a:schemeClr val="tx1">
                  <a:lumMod val="75000"/>
                  <a:lumOff val="25000"/>
                </a:schemeClr>
              </a:buClr>
              <a:buFont typeface="Arial" pitchFamily="34" charset="0"/>
              <a:buChar char="-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2950" indent="-114300" algn="l" defTabSz="914400" rtl="0" eaLnBrk="1" latinLnBrk="0" hangingPunct="1">
              <a:lnSpc>
                <a:spcPct val="95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14400" indent="-114300" algn="l" defTabSz="914400" rtl="0" eaLnBrk="1" latinLnBrk="0" hangingPunct="1">
              <a:lnSpc>
                <a:spcPct val="95000"/>
              </a:lnSpc>
              <a:spcBef>
                <a:spcPct val="20000"/>
              </a:spcBef>
              <a:buFont typeface="Arial" pitchFamily="34" charset="0"/>
              <a:buChar char="-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lang="en-US" sz="1400" b="1" dirty="0"/>
              <a:t>TABLE 4-2 </a:t>
            </a:r>
            <a:r>
              <a:rPr lang="en-US" sz="1400" dirty="0"/>
              <a:t>Logical (Boolean) Operators in C++</a:t>
            </a:r>
          </a:p>
        </p:txBody>
      </p:sp>
      <p:graphicFrame>
        <p:nvGraphicFramePr>
          <p:cNvPr id="9" name="Table 8" descr="fTable 4-1 lists C++ relational operators along wtih a description of each:&#10;Operator Description&#10;== equal to&#10;!= not equal to&#10;&lt; less than&#10;&lt;= less than or equal to&#10;&gt; greater than&#10;&gt;= greater than or equal to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1542309"/>
              </p:ext>
            </p:extLst>
          </p:nvPr>
        </p:nvGraphicFramePr>
        <p:xfrm>
          <a:off x="1447800" y="2743200"/>
          <a:ext cx="5400676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40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76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1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Operator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D1A7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D1A7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1" i="0" u="none" strike="noStrike" kern="1200" baseline="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!</a:t>
                      </a:r>
                      <a:endParaRPr lang="en-US" sz="14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solidFill>
                      <a:srgbClr val="F2E7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not</a:t>
                      </a:r>
                    </a:p>
                  </a:txBody>
                  <a:tcPr anchor="ctr">
                    <a:solidFill>
                      <a:srgbClr val="F2E7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&amp;&amp;</a:t>
                      </a:r>
                    </a:p>
                  </a:txBody>
                  <a:tcPr anchor="ctr">
                    <a:solidFill>
                      <a:srgbClr val="F2E7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and</a:t>
                      </a:r>
                    </a:p>
                  </a:txBody>
                  <a:tcPr anchor="ctr">
                    <a:solidFill>
                      <a:srgbClr val="F2E7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||</a:t>
                      </a:r>
                    </a:p>
                  </a:txBody>
                  <a:tcPr anchor="ctr">
                    <a:solidFill>
                      <a:srgbClr val="F2E7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or</a:t>
                      </a:r>
                      <a:endParaRPr lang="en-US" sz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solidFill>
                      <a:srgbClr val="F2E7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  <a:endParaRPr lang="en-US" dirty="0">
              <a:solidFill>
                <a:schemeClr val="tx1">
                  <a:tint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1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Logical (Boolean) Operators and Logical Expressions (2 of 5)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990600" y="1340048"/>
            <a:ext cx="6949440" cy="297004"/>
          </a:xfrm>
        </p:spPr>
        <p:txBody>
          <a:bodyPr/>
          <a:lstStyle/>
          <a:p>
            <a:r>
              <a:rPr lang="en-US" b="1" dirty="0"/>
              <a:t>TABLE 4-3 </a:t>
            </a:r>
            <a:r>
              <a:rPr lang="en-US" dirty="0"/>
              <a:t>The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!</a:t>
            </a:r>
            <a:r>
              <a:rPr lang="en-US" b="1" dirty="0"/>
              <a:t> </a:t>
            </a:r>
            <a:r>
              <a:rPr lang="en-US" dirty="0"/>
              <a:t>(Not) Operator</a:t>
            </a:r>
          </a:p>
        </p:txBody>
      </p:sp>
      <p:graphicFrame>
        <p:nvGraphicFramePr>
          <p:cNvPr id="7" name="Table 6" descr="Table 4-3 defines the operator ! (not).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3920470"/>
              </p:ext>
            </p:extLst>
          </p:nvPr>
        </p:nvGraphicFramePr>
        <p:xfrm>
          <a:off x="990600" y="1676400"/>
          <a:ext cx="5400676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40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76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1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Expression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D1A7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!(Expression)</a:t>
                      </a:r>
                    </a:p>
                  </a:txBody>
                  <a:tcPr>
                    <a:solidFill>
                      <a:srgbClr val="D1A7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1" i="0" u="none" strike="noStrike" kern="1200" baseline="0" dirty="0">
                          <a:solidFill>
                            <a:srgbClr val="638DAD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true</a:t>
                      </a:r>
                      <a:r>
                        <a:rPr lang="en-US" sz="1400" b="1" i="0" u="none" strike="noStrike" kern="1200" baseline="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 (nonzero)</a:t>
                      </a:r>
                      <a:endParaRPr lang="en-US" sz="14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solidFill>
                      <a:srgbClr val="F2E7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i="0" u="none" strike="noStrike" kern="1200" baseline="0" dirty="0">
                          <a:solidFill>
                            <a:srgbClr val="638DAD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false</a:t>
                      </a:r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b="1" i="0" u="none" strike="noStrike" kern="1200" baseline="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(0)</a:t>
                      </a:r>
                    </a:p>
                  </a:txBody>
                  <a:tcPr anchor="ctr">
                    <a:solidFill>
                      <a:srgbClr val="F2E7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638DAD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false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(0)</a:t>
                      </a:r>
                    </a:p>
                  </a:txBody>
                  <a:tcPr anchor="ctr">
                    <a:solidFill>
                      <a:srgbClr val="F2E7D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b="1" i="0" u="none" strike="noStrike" kern="1200" baseline="0" dirty="0">
                          <a:solidFill>
                            <a:srgbClr val="638DAD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true</a:t>
                      </a:r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b="1" i="0" u="none" strike="noStrike" kern="1200" baseline="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(1)</a:t>
                      </a:r>
                    </a:p>
                  </a:txBody>
                  <a:tcPr anchor="ctr">
                    <a:solidFill>
                      <a:srgbClr val="F2E7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33798" name="Picture 6" descr="Example 4-10 gives two examples of expressions with the ! operator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3429000"/>
            <a:ext cx="6400800" cy="14120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  <a:endParaRPr lang="en-US" dirty="0">
              <a:solidFill>
                <a:schemeClr val="tx1">
                  <a:tint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Logical (Boolean) Operators and Logical Expressions (3 of 5)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b="1" dirty="0"/>
              <a:t>TABLE 4-4 </a:t>
            </a:r>
            <a:r>
              <a:rPr lang="en-US" dirty="0"/>
              <a:t>The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&amp;&amp;</a:t>
            </a:r>
            <a:r>
              <a:rPr lang="en-US" b="1" dirty="0"/>
              <a:t> </a:t>
            </a:r>
            <a:r>
              <a:rPr lang="en-US" dirty="0"/>
              <a:t>(And) Operator</a:t>
            </a:r>
          </a:p>
        </p:txBody>
      </p:sp>
      <p:graphicFrame>
        <p:nvGraphicFramePr>
          <p:cNvPr id="9" name="Table 8" descr="Table 4-4 defines the operator &amp;&amp; (and).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2862639"/>
              </p:ext>
            </p:extLst>
          </p:nvPr>
        </p:nvGraphicFramePr>
        <p:xfrm>
          <a:off x="990600" y="1676400"/>
          <a:ext cx="6949440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lang="en-US" sz="1600" b="1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Expression1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D1A7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Expression2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D1A7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Expression1 </a:t>
                      </a:r>
                      <a:r>
                        <a:rPr lang="en-US" sz="1600" b="1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&amp;&amp;</a:t>
                      </a:r>
                      <a:r>
                        <a:rPr lang="en-US" sz="1600" b="1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Expression2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D1A7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sz="1400" b="1" i="0" u="none" strike="noStrike" kern="1200" baseline="0" dirty="0">
                          <a:solidFill>
                            <a:srgbClr val="638DAD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true</a:t>
                      </a:r>
                      <a:r>
                        <a:rPr lang="en-US" sz="1400" b="1" i="0" u="none" strike="noStrike" kern="1200" baseline="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 (nonzero)</a:t>
                      </a:r>
                      <a:endParaRPr lang="en-US" sz="14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solidFill>
                      <a:srgbClr val="F2E7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i="0" u="none" strike="noStrike" kern="1200" baseline="0" dirty="0">
                          <a:solidFill>
                            <a:srgbClr val="638DAD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true</a:t>
                      </a:r>
                      <a:r>
                        <a:rPr lang="en-US" sz="1400" b="1" i="0" u="none" strike="noStrike" kern="1200" baseline="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 (nonzero)</a:t>
                      </a:r>
                      <a:endParaRPr lang="en-US" sz="14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solidFill>
                      <a:srgbClr val="F2E7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kern="1200" baseline="0" dirty="0">
                          <a:solidFill>
                            <a:srgbClr val="638DAD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true</a:t>
                      </a:r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b="1" i="0" u="none" strike="noStrike" kern="1200" baseline="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(1)</a:t>
                      </a:r>
                    </a:p>
                  </a:txBody>
                  <a:tcPr anchor="ctr">
                    <a:solidFill>
                      <a:srgbClr val="F2E7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638DAD"/>
                          </a:solidFill>
                          <a:effectLst/>
                          <a:uLnTx/>
                          <a:uFillTx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true</a:t>
                      </a: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 (nonzero)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 anchor="ctr">
                    <a:solidFill>
                      <a:srgbClr val="F2E7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638DAD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false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(0)</a:t>
                      </a:r>
                    </a:p>
                  </a:txBody>
                  <a:tcPr anchor="ctr">
                    <a:solidFill>
                      <a:srgbClr val="F2E7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i="0" u="none" strike="noStrike" kern="1200" baseline="0" dirty="0">
                          <a:solidFill>
                            <a:srgbClr val="638DAD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false</a:t>
                      </a:r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b="1" i="0" u="none" strike="noStrike" kern="1200" baseline="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(0)</a:t>
                      </a:r>
                    </a:p>
                  </a:txBody>
                  <a:tcPr anchor="ctr">
                    <a:solidFill>
                      <a:srgbClr val="F2E7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638DAD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false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(0)</a:t>
                      </a:r>
                    </a:p>
                  </a:txBody>
                  <a:tcPr anchor="ctr">
                    <a:solidFill>
                      <a:srgbClr val="F2E7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kern="1200" baseline="0" dirty="0">
                          <a:solidFill>
                            <a:srgbClr val="638DAD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true</a:t>
                      </a:r>
                      <a:r>
                        <a:rPr lang="en-US" sz="1400" b="1" i="0" u="none" strike="noStrike" kern="1200" baseline="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 (nonzero)</a:t>
                      </a:r>
                      <a:endParaRPr lang="en-US" sz="14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solidFill>
                      <a:srgbClr val="F2E7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i="0" u="none" strike="noStrike" kern="1200" baseline="0" dirty="0">
                          <a:solidFill>
                            <a:srgbClr val="638DAD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false</a:t>
                      </a:r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b="1" i="0" u="none" strike="noStrike" kern="1200" baseline="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(0)</a:t>
                      </a:r>
                    </a:p>
                  </a:txBody>
                  <a:tcPr anchor="ctr">
                    <a:solidFill>
                      <a:srgbClr val="F2E7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rgbClr val="638DAD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false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(0)</a:t>
                      </a:r>
                    </a:p>
                  </a:txBody>
                  <a:tcPr anchor="ctr">
                    <a:solidFill>
                      <a:srgbClr val="F2E7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638DAD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false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(0)</a:t>
                      </a:r>
                    </a:p>
                  </a:txBody>
                  <a:tcPr anchor="ctr">
                    <a:solidFill>
                      <a:srgbClr val="F2E7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i="0" u="none" strike="noStrike" kern="1200" baseline="0" dirty="0">
                          <a:solidFill>
                            <a:srgbClr val="638DAD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false</a:t>
                      </a:r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b="1" i="0" u="none" strike="noStrike" kern="1200" baseline="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(0)</a:t>
                      </a:r>
                    </a:p>
                  </a:txBody>
                  <a:tcPr anchor="ctr">
                    <a:solidFill>
                      <a:srgbClr val="F2E7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34822" name="Picture 6" descr="Example 4-11 gives two examples of expressions with the &amp;&amp; operator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3733800"/>
            <a:ext cx="6400800" cy="2325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  <a:endParaRPr lang="en-US" dirty="0">
              <a:solidFill>
                <a:schemeClr val="tx1">
                  <a:tint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1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Logical (Boolean) Operators and Logical Expressions (4 of 5)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990600" y="1340048"/>
            <a:ext cx="6949440" cy="297004"/>
          </a:xfrm>
        </p:spPr>
        <p:txBody>
          <a:bodyPr/>
          <a:lstStyle/>
          <a:p>
            <a:r>
              <a:rPr lang="en-US" b="1" dirty="0"/>
              <a:t>TABLE 4-5 </a:t>
            </a:r>
            <a:r>
              <a:rPr lang="en-US" dirty="0"/>
              <a:t>The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||</a:t>
            </a:r>
            <a:r>
              <a:rPr lang="en-US" b="1" dirty="0"/>
              <a:t> </a:t>
            </a:r>
            <a:r>
              <a:rPr lang="en-US" dirty="0"/>
              <a:t>(Or) Operator</a:t>
            </a:r>
          </a:p>
        </p:txBody>
      </p:sp>
      <p:graphicFrame>
        <p:nvGraphicFramePr>
          <p:cNvPr id="7" name="Table 6" descr="Table 4-5 defines the operator || (or).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253303"/>
              </p:ext>
            </p:extLst>
          </p:nvPr>
        </p:nvGraphicFramePr>
        <p:xfrm>
          <a:off x="990600" y="1676400"/>
          <a:ext cx="6949440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lang="en-US" sz="1600" b="1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Expression1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D1A7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Expression2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D1A7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Expression1 </a:t>
                      </a:r>
                      <a:r>
                        <a:rPr lang="en-US" sz="1600" b="1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||</a:t>
                      </a:r>
                      <a:r>
                        <a:rPr lang="en-US" sz="1600" b="1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Expression2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D1A7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sz="1400" b="1" i="0" u="none" strike="noStrike" kern="1200" baseline="0" dirty="0">
                          <a:solidFill>
                            <a:srgbClr val="638DAD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true</a:t>
                      </a:r>
                      <a:r>
                        <a:rPr lang="en-US" sz="1400" b="1" i="0" u="none" strike="noStrike" kern="1200" baseline="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 (nonzero)</a:t>
                      </a:r>
                      <a:endParaRPr lang="en-US" sz="14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solidFill>
                      <a:srgbClr val="F2E7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i="0" u="none" strike="noStrike" kern="1200" baseline="0" dirty="0">
                          <a:solidFill>
                            <a:srgbClr val="638DAD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true</a:t>
                      </a:r>
                      <a:r>
                        <a:rPr lang="en-US" sz="1400" b="1" i="0" u="none" strike="noStrike" kern="1200" baseline="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 (nonzero)</a:t>
                      </a:r>
                      <a:endParaRPr lang="en-US" sz="14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solidFill>
                      <a:srgbClr val="F2E7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kern="1200" baseline="0" dirty="0">
                          <a:solidFill>
                            <a:srgbClr val="638DAD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true</a:t>
                      </a:r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b="1" i="0" u="none" strike="noStrike" kern="1200" baseline="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(1)</a:t>
                      </a:r>
                    </a:p>
                  </a:txBody>
                  <a:tcPr anchor="ctr">
                    <a:solidFill>
                      <a:srgbClr val="F2E7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638DAD"/>
                          </a:solidFill>
                          <a:effectLst/>
                          <a:uLnTx/>
                          <a:uFillTx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true</a:t>
                      </a: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 (nonzero)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 anchor="ctr">
                    <a:solidFill>
                      <a:srgbClr val="F2E7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638DAD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false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(0)</a:t>
                      </a:r>
                    </a:p>
                  </a:txBody>
                  <a:tcPr anchor="ctr">
                    <a:solidFill>
                      <a:srgbClr val="F2E7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kern="1200" baseline="0" dirty="0">
                          <a:solidFill>
                            <a:srgbClr val="638DAD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true</a:t>
                      </a:r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b="1" i="0" u="none" strike="noStrike" kern="1200" baseline="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(1)</a:t>
                      </a:r>
                    </a:p>
                  </a:txBody>
                  <a:tcPr anchor="ctr">
                    <a:solidFill>
                      <a:srgbClr val="F2E7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638DAD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false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(0)</a:t>
                      </a:r>
                    </a:p>
                  </a:txBody>
                  <a:tcPr anchor="ctr">
                    <a:solidFill>
                      <a:srgbClr val="F2E7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kern="1200" baseline="0" dirty="0">
                          <a:solidFill>
                            <a:srgbClr val="638DAD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true</a:t>
                      </a:r>
                      <a:r>
                        <a:rPr lang="en-US" sz="1400" b="1" i="0" u="none" strike="noStrike" kern="1200" baseline="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 (nonzero)</a:t>
                      </a:r>
                      <a:endParaRPr lang="en-US" sz="14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solidFill>
                      <a:srgbClr val="F2E7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kern="1200" baseline="0" dirty="0">
                          <a:solidFill>
                            <a:srgbClr val="638DAD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true</a:t>
                      </a:r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b="1" i="0" u="none" strike="noStrike" kern="1200" baseline="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(1)</a:t>
                      </a:r>
                    </a:p>
                  </a:txBody>
                  <a:tcPr anchor="ctr">
                    <a:solidFill>
                      <a:srgbClr val="F2E7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rgbClr val="638DAD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false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(0)</a:t>
                      </a:r>
                    </a:p>
                  </a:txBody>
                  <a:tcPr anchor="ctr">
                    <a:solidFill>
                      <a:srgbClr val="F2E7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638DAD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false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(0)</a:t>
                      </a:r>
                    </a:p>
                  </a:txBody>
                  <a:tcPr anchor="ctr">
                    <a:solidFill>
                      <a:srgbClr val="F2E7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i="0" u="none" strike="noStrike" kern="1200" baseline="0" dirty="0">
                          <a:solidFill>
                            <a:srgbClr val="638DAD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false</a:t>
                      </a:r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b="1" i="0" u="none" strike="noStrike" kern="1200" baseline="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(0)</a:t>
                      </a:r>
                    </a:p>
                  </a:txBody>
                  <a:tcPr anchor="ctr">
                    <a:solidFill>
                      <a:srgbClr val="F2E7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  <a:endParaRPr lang="en-US" dirty="0">
              <a:solidFill>
                <a:schemeClr val="tx1">
                  <a:tint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Logical (Boolean) Operators and Logical Expressions (5 of 5)</a:t>
            </a:r>
            <a:endParaRPr lang="en-US" dirty="0"/>
          </a:p>
        </p:txBody>
      </p:sp>
      <p:pic>
        <p:nvPicPr>
          <p:cNvPr id="157698" name="Picture 2" descr="Example 4-12 gives three examples of expressions with the || operator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1481138"/>
            <a:ext cx="6400800" cy="2938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  <p:extLst>
      <p:ext uri="{BB962C8B-B14F-4D97-AF65-F5344CB8AC3E}">
        <p14:creationId xmlns:p14="http://schemas.microsoft.com/office/powerpoint/2010/main" val="12268916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Order of Precedence (1 of 5)</a:t>
            </a:r>
          </a:p>
        </p:txBody>
      </p:sp>
      <p:sp>
        <p:nvSpPr>
          <p:cNvPr id="36867" name="Rectangle 6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Relational and logical operators are evaluated from left to right</a:t>
            </a:r>
          </a:p>
          <a:p>
            <a:pPr lvl="1" eaLnBrk="1" hangingPunct="1"/>
            <a:r>
              <a:rPr lang="en-US" altLang="en-US" dirty="0"/>
              <a:t>The </a:t>
            </a:r>
            <a:r>
              <a:rPr lang="en-US" altLang="en-US" u="sng" dirty="0"/>
              <a:t>associativity</a:t>
            </a:r>
            <a:r>
              <a:rPr lang="en-US" altLang="en-US" dirty="0"/>
              <a:t> is left to right</a:t>
            </a:r>
          </a:p>
          <a:p>
            <a:pPr eaLnBrk="1" hangingPunct="1"/>
            <a:r>
              <a:rPr lang="en-US" altLang="en-US" dirty="0"/>
              <a:t>Parentheses can override precedence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  <a:endParaRPr lang="en-US" dirty="0">
              <a:solidFill>
                <a:schemeClr val="tx1">
                  <a:tint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Order of Precedence (2 of 5)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990600" y="1340048"/>
            <a:ext cx="6949440" cy="297004"/>
          </a:xfrm>
        </p:spPr>
        <p:txBody>
          <a:bodyPr/>
          <a:lstStyle/>
          <a:p>
            <a:r>
              <a:rPr lang="en-US" b="1" dirty="0"/>
              <a:t>TABLE 4-6 </a:t>
            </a:r>
            <a:r>
              <a:rPr lang="en-US" dirty="0"/>
              <a:t>Precedence of Operators</a:t>
            </a:r>
          </a:p>
        </p:txBody>
      </p:sp>
      <p:graphicFrame>
        <p:nvGraphicFramePr>
          <p:cNvPr id="9" name="Table 8" descr="Table 4-6 shows the order of precedence of some C++ operators, including the arithmetic, relational, and logical operators.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9891300"/>
              </p:ext>
            </p:extLst>
          </p:nvPr>
        </p:nvGraphicFramePr>
        <p:xfrm>
          <a:off x="990600" y="1676400"/>
          <a:ext cx="5400676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74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1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Operators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D1A7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Precedence</a:t>
                      </a:r>
                    </a:p>
                  </a:txBody>
                  <a:tcPr>
                    <a:solidFill>
                      <a:srgbClr val="D1A7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i="0" u="none" strike="noStrike" kern="1200" baseline="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!</a:t>
                      </a:r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1600" b="1" i="0" u="none" strike="noStrike" kern="1200" baseline="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+</a:t>
                      </a:r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1600" b="1" i="0" u="none" strike="noStrike" kern="1200" baseline="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-</a:t>
                      </a:r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(unary operators)</a:t>
                      </a:r>
                    </a:p>
                  </a:txBody>
                  <a:tcPr anchor="ctr">
                    <a:solidFill>
                      <a:srgbClr val="F2E7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first</a:t>
                      </a:r>
                    </a:p>
                  </a:txBody>
                  <a:tcPr anchor="ctr">
                    <a:solidFill>
                      <a:srgbClr val="F2E7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i="0" u="none" strike="noStrike" kern="1200" baseline="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*</a:t>
                      </a:r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1600" b="1" i="0" u="none" strike="noStrike" kern="1200" baseline="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/</a:t>
                      </a:r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1600" b="1" i="0" u="none" strike="noStrike" kern="1200" baseline="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%</a:t>
                      </a:r>
                    </a:p>
                  </a:txBody>
                  <a:tcPr anchor="ctr">
                    <a:solidFill>
                      <a:srgbClr val="F2E7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second</a:t>
                      </a:r>
                    </a:p>
                  </a:txBody>
                  <a:tcPr anchor="ctr">
                    <a:solidFill>
                      <a:srgbClr val="F2E7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i="0" u="none" strike="noStrike" kern="1200" baseline="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+</a:t>
                      </a:r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1600" b="1" i="0" u="none" strike="noStrike" kern="1200" baseline="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-</a:t>
                      </a:r>
                      <a:endParaRPr lang="en-US" sz="16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F2E7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third</a:t>
                      </a:r>
                      <a:endParaRPr lang="en-US" sz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solidFill>
                      <a:srgbClr val="F2E7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i="0" u="none" strike="noStrike" kern="1200" baseline="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&lt;</a:t>
                      </a:r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1600" b="1" i="0" u="none" strike="noStrike" kern="1200" baseline="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&lt;=</a:t>
                      </a:r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1600" b="1" i="0" u="none" strike="noStrike" kern="1200" baseline="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&gt;=</a:t>
                      </a:r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1600" b="1" i="0" u="none" strike="noStrike" kern="1200" baseline="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&gt;</a:t>
                      </a:r>
                    </a:p>
                  </a:txBody>
                  <a:tcPr anchor="ctr">
                    <a:solidFill>
                      <a:srgbClr val="F2E7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fourth</a:t>
                      </a:r>
                    </a:p>
                  </a:txBody>
                  <a:tcPr anchor="ctr">
                    <a:solidFill>
                      <a:srgbClr val="F2E7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i="0" u="none" strike="noStrike" kern="1200" baseline="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==</a:t>
                      </a:r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1600" b="1" i="0" u="none" strike="noStrike" kern="1200" baseline="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!=</a:t>
                      </a:r>
                    </a:p>
                  </a:txBody>
                  <a:tcPr anchor="ctr">
                    <a:solidFill>
                      <a:srgbClr val="F2E7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fifth</a:t>
                      </a:r>
                    </a:p>
                  </a:txBody>
                  <a:tcPr anchor="ctr">
                    <a:solidFill>
                      <a:srgbClr val="F2E7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i="0" u="none" strike="noStrike" kern="1200" baseline="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&amp;&amp;</a:t>
                      </a:r>
                    </a:p>
                  </a:txBody>
                  <a:tcPr anchor="ctr">
                    <a:solidFill>
                      <a:srgbClr val="F2E7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sixth</a:t>
                      </a:r>
                    </a:p>
                  </a:txBody>
                  <a:tcPr anchor="ctr">
                    <a:solidFill>
                      <a:srgbClr val="F2E7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i="0" u="none" strike="noStrike" kern="1200" baseline="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||</a:t>
                      </a:r>
                    </a:p>
                  </a:txBody>
                  <a:tcPr anchor="ctr">
                    <a:solidFill>
                      <a:srgbClr val="F2E7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seventh</a:t>
                      </a:r>
                    </a:p>
                  </a:txBody>
                  <a:tcPr anchor="ctr">
                    <a:solidFill>
                      <a:srgbClr val="F2E7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i="0" u="none" strike="noStrike" kern="1200" baseline="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=</a:t>
                      </a:r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(assignment operator)</a:t>
                      </a:r>
                    </a:p>
                  </a:txBody>
                  <a:tcPr anchor="ctr">
                    <a:solidFill>
                      <a:srgbClr val="F2E7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last</a:t>
                      </a:r>
                    </a:p>
                  </a:txBody>
                  <a:tcPr anchor="ctr">
                    <a:solidFill>
                      <a:srgbClr val="F2E7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  <a:endParaRPr lang="en-US" dirty="0">
              <a:solidFill>
                <a:schemeClr val="tx1">
                  <a:tint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Order of Precedence (3 of 5)</a:t>
            </a:r>
          </a:p>
        </p:txBody>
      </p:sp>
      <p:pic>
        <p:nvPicPr>
          <p:cNvPr id="38918" name="Picture 6" descr="Example 4-13 illustrates how logical expressions consisting of variables are evaluated. This portion shows the declaration of variables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1905000"/>
            <a:ext cx="6400800" cy="20336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  <a:endParaRPr lang="en-US" dirty="0">
              <a:solidFill>
                <a:schemeClr val="tx1">
                  <a:tint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Order of Precedence (4 of 5)</a:t>
            </a:r>
          </a:p>
        </p:txBody>
      </p:sp>
      <p:pic>
        <p:nvPicPr>
          <p:cNvPr id="39942" name="Picture 6" descr="Example 4-13 (continued): A series of five expressions are shown with the resulting value/explanation for each expression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1371600"/>
            <a:ext cx="6400800" cy="4355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  <a:endParaRPr lang="en-US" dirty="0">
              <a:solidFill>
                <a:schemeClr val="tx1">
                  <a:tint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Order of Precedence (5 of 5)</a:t>
            </a:r>
          </a:p>
        </p:txBody>
      </p:sp>
      <p:pic>
        <p:nvPicPr>
          <p:cNvPr id="40966" name="Picture 6" descr="Example 4-13 (continued): Three more expressions are shown with the resulting value/explanation for each expression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1619577"/>
            <a:ext cx="6400800" cy="37906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  <a:endParaRPr lang="en-US" dirty="0">
              <a:solidFill>
                <a:schemeClr val="tx1">
                  <a:tint val="75000"/>
                </a:schemeClr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410490"/>
            <a:ext cx="8026400" cy="287771"/>
          </a:xfrm>
        </p:spPr>
        <p:txBody>
          <a:bodyPr/>
          <a:lstStyle/>
          <a:p>
            <a:r>
              <a:rPr lang="en-US" altLang="en-US" dirty="0"/>
              <a:t>Relational Operators and the </a:t>
            </a:r>
            <a:r>
              <a:rPr lang="en-US" altLang="en-US" dirty="0">
                <a:latin typeface="Courier New" pitchFamily="49" charset="0"/>
                <a:cs typeface="Courier New" pitchFamily="49" charset="0"/>
              </a:rPr>
              <a:t>string</a:t>
            </a:r>
            <a:r>
              <a:rPr lang="en-US" altLang="en-US" dirty="0"/>
              <a:t> Type (1 of 5)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2122119"/>
          </a:xfrm>
        </p:spPr>
        <p:txBody>
          <a:bodyPr/>
          <a:lstStyle/>
          <a:p>
            <a:r>
              <a:rPr lang="en-US" altLang="en-US" dirty="0"/>
              <a:t>Relational operators can be applied to variables of type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</a:p>
          <a:p>
            <a:pPr lvl="1"/>
            <a:r>
              <a:rPr lang="en-US" altLang="en-US" dirty="0"/>
              <a:t>Strings are compared character by character, starting with the first character</a:t>
            </a:r>
          </a:p>
          <a:p>
            <a:pPr lvl="1"/>
            <a:r>
              <a:rPr lang="en-US" altLang="en-US" dirty="0"/>
              <a:t>Comparison continues until either a mismatch is found or all characters are found equal</a:t>
            </a:r>
          </a:p>
          <a:p>
            <a:pPr lvl="1"/>
            <a:r>
              <a:rPr lang="en-US" altLang="en-US" dirty="0"/>
              <a:t>If two strings of different lengths are compared and the comparison is equal to the last character of the shorter string</a:t>
            </a:r>
          </a:p>
          <a:p>
            <a:pPr lvl="2"/>
            <a:r>
              <a:rPr lang="en-US" altLang="en-US" dirty="0"/>
              <a:t>The shorter string is less than the larger string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  <a:endParaRPr lang="en-US" dirty="0">
              <a:solidFill>
                <a:schemeClr val="tx1">
                  <a:tint val="75000"/>
                </a:schemeClr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Relational Operators and the </a:t>
            </a:r>
            <a:r>
              <a:rPr lang="en-US" altLang="en-US" dirty="0">
                <a:latin typeface="Courier New" pitchFamily="49" charset="0"/>
              </a:rPr>
              <a:t>string</a:t>
            </a:r>
            <a:r>
              <a:rPr lang="en-US" altLang="en-US" dirty="0"/>
              <a:t> Type (2 of 5)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  <a:endParaRPr lang="en-US" dirty="0">
              <a:solidFill>
                <a:schemeClr val="tx1">
                  <a:tint val="75000"/>
                </a:schemeClr>
              </a:solidFill>
            </a:endParaRPr>
          </a:p>
        </p:txBody>
      </p:sp>
      <p:pic>
        <p:nvPicPr>
          <p:cNvPr id="43014" name="Picture 6" descr="&#10;Example 4-13 illustrates how logical expressions consisting of variables are evaluated. The example begins with the following declarations:&#10;string str1 = &quot;Hello&quot;;&#10;string str2 = &quot;Hi&quot;;&#10;string str3 = &quot;Air&quot;;&#10;string str4 = &quot;Bill&quot;;&#10;string str4 = &quot;Big&quot;;&#10;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600200"/>
            <a:ext cx="6400800" cy="2006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762000" y="410490"/>
            <a:ext cx="8026400" cy="287771"/>
          </a:xfrm>
        </p:spPr>
        <p:txBody>
          <a:bodyPr/>
          <a:lstStyle/>
          <a:p>
            <a:r>
              <a:rPr lang="en-US" altLang="en-US" dirty="0"/>
              <a:t>Relational Operators and the </a:t>
            </a:r>
            <a:r>
              <a:rPr lang="en-US" altLang="en-US" dirty="0">
                <a:latin typeface="Courier New" pitchFamily="49" charset="0"/>
              </a:rPr>
              <a:t>string</a:t>
            </a:r>
            <a:r>
              <a:rPr lang="en-US" altLang="en-US" dirty="0"/>
              <a:t> Type (3 of 5)</a:t>
            </a:r>
            <a:endParaRPr lang="en-US" dirty="0"/>
          </a:p>
        </p:txBody>
      </p:sp>
      <p:graphicFrame>
        <p:nvGraphicFramePr>
          <p:cNvPr id="6" name="Table 5" descr="Example 4-13 (continued) with these expressions explained:&#10;str1 &lt; str2&#10;str1 &gt; &quot;Hen&quot;&#10;str3 &lt; &quot;An&quot;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8988356"/>
              </p:ext>
            </p:extLst>
          </p:nvPr>
        </p:nvGraphicFramePr>
        <p:xfrm>
          <a:off x="502920" y="1295400"/>
          <a:ext cx="8138161" cy="4668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b="1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Expression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Value/Explanation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i="0" u="none" strike="noStrike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str1 &lt; str2</a:t>
                      </a:r>
                      <a:endParaRPr lang="en-US" sz="1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i="0" u="none" strike="noStrike" kern="1200" baseline="0" dirty="0">
                          <a:solidFill>
                            <a:srgbClr val="638DAD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true</a:t>
                      </a:r>
                    </a:p>
                    <a:p>
                      <a:r>
                        <a:rPr lang="en-US" sz="1600" b="1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str1 = "Hello"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and </a:t>
                      </a:r>
                      <a:r>
                        <a:rPr lang="en-US" sz="1600" b="1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str2 = "Hi"</a:t>
                      </a:r>
                      <a:r>
                        <a:rPr lang="en-US" sz="1800" b="1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.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The first character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of </a:t>
                      </a:r>
                      <a:r>
                        <a:rPr lang="en-US" sz="1600" b="1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str1</a:t>
                      </a:r>
                      <a:r>
                        <a:rPr lang="en-US" sz="1800" b="1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and </a:t>
                      </a:r>
                      <a:r>
                        <a:rPr lang="en-US" sz="1600" b="1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str2</a:t>
                      </a:r>
                      <a:r>
                        <a:rPr lang="en-US" sz="1800" b="1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are the same, but the second character</a:t>
                      </a:r>
                    </a:p>
                    <a:p>
                      <a:r>
                        <a:rPr lang="en-US" sz="1600" b="1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'e'</a:t>
                      </a:r>
                      <a:r>
                        <a:rPr lang="en-US" sz="1800" b="1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of </a:t>
                      </a:r>
                      <a:r>
                        <a:rPr lang="en-US" sz="1600" b="1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str1</a:t>
                      </a:r>
                      <a:r>
                        <a:rPr lang="en-US" sz="1800" b="1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is less than the second character </a:t>
                      </a:r>
                      <a:r>
                        <a:rPr lang="en-US" sz="1600" b="1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'i'</a:t>
                      </a:r>
                      <a:r>
                        <a:rPr lang="en-US" sz="1800" b="1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of </a:t>
                      </a:r>
                      <a:r>
                        <a:rPr lang="en-US" sz="1600" b="1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str2</a:t>
                      </a:r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Therefore, </a:t>
                      </a:r>
                      <a:r>
                        <a:rPr lang="en-US" sz="1600" b="1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str1 &lt; str2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is </a:t>
                      </a:r>
                      <a:r>
                        <a:rPr lang="en-US" sz="1600" b="1" i="0" u="none" strike="noStrike" kern="1200" baseline="0" dirty="0">
                          <a:solidFill>
                            <a:srgbClr val="638DAD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true</a:t>
                      </a:r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str1 &gt; "Hen"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i="0" u="none" strike="noStrike" kern="1200" baseline="0" dirty="0">
                          <a:solidFill>
                            <a:srgbClr val="638DAD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false</a:t>
                      </a:r>
                    </a:p>
                    <a:p>
                      <a:r>
                        <a:rPr lang="en-US" sz="1600" b="1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str1 = "Hello"</a:t>
                      </a:r>
                      <a:r>
                        <a:rPr lang="en-US" sz="1800" b="1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.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The first two characters of </a:t>
                      </a:r>
                      <a:r>
                        <a:rPr lang="en-US" sz="1600" b="1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str1</a:t>
                      </a:r>
                      <a:r>
                        <a:rPr lang="en-US" sz="1800" b="1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and</a:t>
                      </a:r>
                    </a:p>
                    <a:p>
                      <a:r>
                        <a:rPr lang="en-US" sz="1600" b="1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"Hen"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are the same, but the third character </a:t>
                      </a:r>
                      <a:r>
                        <a:rPr lang="en-US" sz="1600" b="1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'l'</a:t>
                      </a:r>
                      <a:r>
                        <a:rPr lang="en-US" sz="1800" b="1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of </a:t>
                      </a:r>
                      <a:r>
                        <a:rPr lang="en-US" sz="1600" b="1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str1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is less than the third </a:t>
                      </a:r>
                      <a:r>
                        <a:rPr lang="en-US" sz="1600" b="1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character</a:t>
                      </a:r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b="1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'n'</a:t>
                      </a:r>
                      <a:r>
                        <a:rPr lang="en-US" sz="1800" b="1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of </a:t>
                      </a:r>
                      <a:r>
                        <a:rPr lang="en-US" sz="1600" b="1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"Hen"</a:t>
                      </a:r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 Therefore,</a:t>
                      </a:r>
                    </a:p>
                    <a:p>
                      <a:r>
                        <a:rPr lang="en-US" sz="1600" b="1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str1 &gt; "Hen</a:t>
                      </a:r>
                      <a:r>
                        <a:rPr lang="en-US" sz="1600" b="0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"</a:t>
                      </a:r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is </a:t>
                      </a:r>
                      <a:r>
                        <a:rPr lang="en-US" sz="1600" b="1" i="0" u="none" strike="noStrike" kern="1200" baseline="0" dirty="0">
                          <a:solidFill>
                            <a:srgbClr val="638DAD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false</a:t>
                      </a:r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str3 &lt; "An"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i="0" u="none" strike="noStrike" kern="1200" baseline="0" dirty="0">
                          <a:solidFill>
                            <a:srgbClr val="638DAD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true</a:t>
                      </a:r>
                    </a:p>
                    <a:p>
                      <a:r>
                        <a:rPr lang="en-US" sz="1600" b="1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str3 = "Air"</a:t>
                      </a:r>
                      <a:r>
                        <a:rPr lang="en-US" sz="1800" b="1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.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The first characters of </a:t>
                      </a:r>
                      <a:r>
                        <a:rPr lang="en-US" sz="1600" b="1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str3</a:t>
                      </a:r>
                      <a:r>
                        <a:rPr lang="en-US" sz="1800" b="1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and </a:t>
                      </a:r>
                      <a:r>
                        <a:rPr lang="en-US" sz="1600" b="1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"An</a:t>
                      </a:r>
                      <a:r>
                        <a:rPr lang="en-US" sz="1800" b="1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"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are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the same, but the second character </a:t>
                      </a:r>
                      <a:r>
                        <a:rPr lang="en-US" sz="1600" b="1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'i'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of </a:t>
                      </a:r>
                      <a:r>
                        <a:rPr lang="en-US" sz="1600" b="1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"Air"</a:t>
                      </a:r>
                      <a:r>
                        <a:rPr lang="en-US" sz="1800" b="1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is less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than the second character </a:t>
                      </a:r>
                      <a:r>
                        <a:rPr lang="en-US" sz="1600" b="1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'n'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of </a:t>
                      </a:r>
                      <a:r>
                        <a:rPr lang="en-US" sz="1600" b="1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"An"</a:t>
                      </a:r>
                      <a:r>
                        <a:rPr lang="en-US" sz="1800" b="1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.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Therefore, </a:t>
                      </a:r>
                      <a:r>
                        <a:rPr lang="en-US" sz="1600" b="1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str3 &lt;</a:t>
                      </a:r>
                    </a:p>
                    <a:p>
                      <a:r>
                        <a:rPr lang="en-US" sz="1600" b="1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"An"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is </a:t>
                      </a:r>
                      <a:r>
                        <a:rPr lang="en-US" sz="1600" b="1" i="0" u="none" strike="noStrike" kern="1200" baseline="0" dirty="0">
                          <a:solidFill>
                            <a:srgbClr val="638DAD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true</a:t>
                      </a:r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  <p:extLst>
      <p:ext uri="{BB962C8B-B14F-4D97-AF65-F5344CB8AC3E}">
        <p14:creationId xmlns:p14="http://schemas.microsoft.com/office/powerpoint/2010/main" val="353328960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762000" y="410490"/>
            <a:ext cx="8026400" cy="287771"/>
          </a:xfrm>
        </p:spPr>
        <p:txBody>
          <a:bodyPr/>
          <a:lstStyle/>
          <a:p>
            <a:r>
              <a:rPr lang="en-US" altLang="en-US" dirty="0"/>
              <a:t>Relational Operators and the </a:t>
            </a:r>
            <a:r>
              <a:rPr lang="en-US" altLang="en-US" dirty="0">
                <a:latin typeface="Courier New" pitchFamily="49" charset="0"/>
              </a:rPr>
              <a:t>string</a:t>
            </a:r>
            <a:r>
              <a:rPr lang="en-US" altLang="en-US" dirty="0"/>
              <a:t> Type (4 of 5)</a:t>
            </a:r>
            <a:endParaRPr lang="en-US" dirty="0"/>
          </a:p>
        </p:txBody>
      </p:sp>
      <p:graphicFrame>
        <p:nvGraphicFramePr>
          <p:cNvPr id="6" name="Table 5" descr="Example 4-13 (continued) with these expressions explained:&#10;str1 == &quot;hello&quot;&#10;str3 &lt;= str4&#10;str2 &gt; str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3370234"/>
              </p:ext>
            </p:extLst>
          </p:nvPr>
        </p:nvGraphicFramePr>
        <p:xfrm>
          <a:off x="502920" y="1295400"/>
          <a:ext cx="8138161" cy="41198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b="1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Expression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Value/Explanation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str1 == "hello"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i="0" u="none" strike="noStrike" kern="1200" baseline="0" dirty="0">
                          <a:solidFill>
                            <a:srgbClr val="638DAD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false</a:t>
                      </a:r>
                    </a:p>
                    <a:p>
                      <a:r>
                        <a:rPr lang="en-US" sz="1600" b="1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str1 = "Hello"</a:t>
                      </a:r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 The first character </a:t>
                      </a:r>
                      <a:r>
                        <a:rPr lang="en-US" sz="1600" b="1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'H'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of </a:t>
                      </a:r>
                      <a:r>
                        <a:rPr lang="en-US" sz="1600" b="1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str1</a:t>
                      </a:r>
                      <a:r>
                        <a:rPr lang="en-US" sz="1800" b="1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is less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than the first character </a:t>
                      </a:r>
                      <a:r>
                        <a:rPr lang="en-US" sz="1600" b="1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'h'</a:t>
                      </a:r>
                      <a:r>
                        <a:rPr lang="en-US" sz="1800" b="1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of </a:t>
                      </a:r>
                      <a:r>
                        <a:rPr lang="en-US" sz="1600" b="1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"hello"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because the ASCII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value of </a:t>
                      </a:r>
                      <a:r>
                        <a:rPr lang="en-US" sz="1600" b="1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'H'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is 72, and the ASCII value of </a:t>
                      </a:r>
                      <a:r>
                        <a:rPr lang="en-US" sz="1600" b="1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'h'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is 104.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Therefore, </a:t>
                      </a:r>
                      <a:r>
                        <a:rPr lang="en-US" sz="1600" b="1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str1 == "hello"</a:t>
                      </a:r>
                      <a:r>
                        <a:rPr lang="en-US" sz="1800" b="1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is </a:t>
                      </a:r>
                      <a:r>
                        <a:rPr lang="en-US" sz="1600" b="1" i="0" u="none" strike="noStrike" kern="1200" baseline="0" dirty="0">
                          <a:solidFill>
                            <a:srgbClr val="638DAD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false</a:t>
                      </a:r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str3 &lt;= str4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i="0" u="none" strike="noStrike" kern="1200" baseline="0" dirty="0">
                          <a:solidFill>
                            <a:srgbClr val="638DAD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true</a:t>
                      </a:r>
                    </a:p>
                    <a:p>
                      <a:r>
                        <a:rPr lang="en-US" sz="1600" b="1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str3 = "Air"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and </a:t>
                      </a:r>
                      <a:r>
                        <a:rPr lang="en-US" sz="1600" b="1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str4 = "Bill"</a:t>
                      </a:r>
                      <a:r>
                        <a:rPr lang="en-US" sz="1800" b="1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.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The first character</a:t>
                      </a:r>
                    </a:p>
                    <a:p>
                      <a:r>
                        <a:rPr lang="en-US" sz="1600" b="1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'A'</a:t>
                      </a:r>
                      <a:r>
                        <a:rPr lang="en-US" sz="1800" b="1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of </a:t>
                      </a:r>
                      <a:r>
                        <a:rPr lang="en-US" sz="1600" b="1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str3</a:t>
                      </a:r>
                      <a:r>
                        <a:rPr lang="en-US" sz="1800" b="1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is less than the first character </a:t>
                      </a:r>
                      <a:r>
                        <a:rPr lang="en-US" sz="1600" b="1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'B'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of </a:t>
                      </a:r>
                      <a:r>
                        <a:rPr lang="en-US" sz="1600" b="1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str4</a:t>
                      </a:r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Therefore, </a:t>
                      </a:r>
                      <a:r>
                        <a:rPr lang="en-US" sz="1600" b="1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str3 &lt;= str4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is </a:t>
                      </a:r>
                      <a:r>
                        <a:rPr lang="en-US" sz="1600" b="1" i="0" u="none" strike="noStrike" kern="1200" baseline="0" dirty="0">
                          <a:solidFill>
                            <a:srgbClr val="638DAD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true</a:t>
                      </a:r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str2 &gt; str4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i="0" u="none" strike="noStrike" kern="1200" baseline="0" dirty="0">
                          <a:solidFill>
                            <a:srgbClr val="638DAD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true</a:t>
                      </a:r>
                    </a:p>
                    <a:p>
                      <a:r>
                        <a:rPr lang="en-US" sz="1600" b="1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str2 = "Hi"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and </a:t>
                      </a:r>
                      <a:r>
                        <a:rPr lang="en-US" sz="1600" b="1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str4 = "Bill"</a:t>
                      </a:r>
                      <a:r>
                        <a:rPr lang="en-US" sz="1800" b="1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.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The first character </a:t>
                      </a:r>
                      <a:r>
                        <a:rPr lang="en-US" sz="1600" b="1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'H'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of </a:t>
                      </a:r>
                      <a:r>
                        <a:rPr lang="en-US" sz="1600" b="1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str2</a:t>
                      </a:r>
                      <a:r>
                        <a:rPr lang="en-US" sz="1800" b="1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is greater than the first character </a:t>
                      </a:r>
                      <a:r>
                        <a:rPr lang="en-US" sz="1600" b="1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'B'</a:t>
                      </a:r>
                      <a:r>
                        <a:rPr lang="en-US" sz="1800" b="1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of </a:t>
                      </a:r>
                      <a:r>
                        <a:rPr lang="en-US" sz="1600" b="1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str4</a:t>
                      </a:r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Therefore, </a:t>
                      </a:r>
                      <a:r>
                        <a:rPr lang="en-US" sz="1600" b="1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str2 &gt; str4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is </a:t>
                      </a:r>
                      <a:r>
                        <a:rPr lang="en-US" sz="1600" b="1" i="0" u="none" strike="noStrike" kern="1200" baseline="0" dirty="0">
                          <a:solidFill>
                            <a:srgbClr val="638DAD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true</a:t>
                      </a:r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  <p:extLst>
      <p:ext uri="{BB962C8B-B14F-4D97-AF65-F5344CB8AC3E}">
        <p14:creationId xmlns:p14="http://schemas.microsoft.com/office/powerpoint/2010/main" val="3375671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762000" y="410490"/>
            <a:ext cx="8026400" cy="287771"/>
          </a:xfrm>
        </p:spPr>
        <p:txBody>
          <a:bodyPr/>
          <a:lstStyle/>
          <a:p>
            <a:r>
              <a:rPr lang="en-US" altLang="en-US" dirty="0"/>
              <a:t>Relational Operators and the </a:t>
            </a:r>
            <a:r>
              <a:rPr lang="en-US" altLang="en-US" dirty="0">
                <a:latin typeface="Courier New" pitchFamily="49" charset="0"/>
              </a:rPr>
              <a:t>string</a:t>
            </a:r>
            <a:r>
              <a:rPr lang="en-US" altLang="en-US" dirty="0"/>
              <a:t> Type (5 of 5)</a:t>
            </a:r>
            <a:endParaRPr lang="en-US" dirty="0"/>
          </a:p>
        </p:txBody>
      </p:sp>
      <p:graphicFrame>
        <p:nvGraphicFramePr>
          <p:cNvPr id="6" name="Table 5" descr="Example 4-13 (continued) with these expressions explained:&#10;str4 &gt;= &quot;Billy&quot;&#10;str5 &lt;= &quot;Bigger&quot;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4699512"/>
              </p:ext>
            </p:extLst>
          </p:nvPr>
        </p:nvGraphicFramePr>
        <p:xfrm>
          <a:off x="502920" y="1295400"/>
          <a:ext cx="8138161" cy="3784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b="1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Expression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Value/Explanation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600" b="1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str4 &gt;= "Billy"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i="0" u="none" strike="noStrike" kern="1200" baseline="0" dirty="0">
                          <a:solidFill>
                            <a:srgbClr val="638DAD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false</a:t>
                      </a:r>
                    </a:p>
                    <a:p>
                      <a:r>
                        <a:rPr lang="en-US" sz="1600" b="1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str4 = "Bill</a:t>
                      </a:r>
                      <a:r>
                        <a:rPr lang="en-US" sz="1800" b="1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 It has four characters and </a:t>
                      </a:r>
                      <a:r>
                        <a:rPr lang="en-US" sz="1600" b="1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"Billy"</a:t>
                      </a:r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has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five characters. Therefore, </a:t>
                      </a:r>
                      <a:r>
                        <a:rPr lang="en-US" sz="1600" b="1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str4</a:t>
                      </a:r>
                      <a:r>
                        <a:rPr lang="en-US" sz="1800" b="1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is the shorter string. All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four characters of </a:t>
                      </a:r>
                      <a:r>
                        <a:rPr lang="en-US" sz="1600" b="1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str4</a:t>
                      </a:r>
                      <a:r>
                        <a:rPr lang="en-US" sz="1800" b="1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are the same as the corresponding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first four characters of </a:t>
                      </a:r>
                      <a:r>
                        <a:rPr lang="en-US" sz="1600" b="1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"Billy"</a:t>
                      </a:r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and </a:t>
                      </a:r>
                      <a:r>
                        <a:rPr lang="en-US" sz="1800" b="1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en-US" sz="1600" b="1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Billy"</a:t>
                      </a:r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is the larger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string. Therefore, </a:t>
                      </a:r>
                      <a:r>
                        <a:rPr lang="en-US" sz="1600" b="1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str4 &gt;= "Billy"</a:t>
                      </a:r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is </a:t>
                      </a:r>
                      <a:r>
                        <a:rPr lang="en-US" sz="1600" b="1" i="0" u="none" strike="noStrike" kern="1200" baseline="0" dirty="0">
                          <a:solidFill>
                            <a:srgbClr val="638DAD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false</a:t>
                      </a:r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600" b="1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str5 &lt;= "Bigger"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i="0" u="none" strike="noStrike" kern="1200" baseline="0" dirty="0">
                          <a:solidFill>
                            <a:srgbClr val="638DAD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true</a:t>
                      </a:r>
                    </a:p>
                    <a:p>
                      <a:r>
                        <a:rPr lang="en-US" sz="1600" b="1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str5 = "Big"</a:t>
                      </a:r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 It has three characters and </a:t>
                      </a:r>
                      <a:r>
                        <a:rPr lang="en-US" sz="1600" b="1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"Bigger"</a:t>
                      </a:r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has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six characters. Therefore, </a:t>
                      </a:r>
                      <a:r>
                        <a:rPr lang="en-US" sz="1600" b="1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str5</a:t>
                      </a:r>
                      <a:r>
                        <a:rPr lang="en-US" sz="1800" b="1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is the shorter string. All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three characters of </a:t>
                      </a:r>
                      <a:r>
                        <a:rPr lang="en-US" sz="1600" b="1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str5</a:t>
                      </a:r>
                      <a:r>
                        <a:rPr lang="en-US" sz="1800" b="1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are the same as the corresponding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first three characters of </a:t>
                      </a:r>
                      <a:r>
                        <a:rPr lang="en-US" sz="1600" b="1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"Bigger"</a:t>
                      </a:r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and </a:t>
                      </a:r>
                      <a:r>
                        <a:rPr lang="en-US" sz="1600" b="1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"Bigger"</a:t>
                      </a:r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is the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larger string. Therefore, </a:t>
                      </a:r>
                      <a:r>
                        <a:rPr lang="en-US" sz="1600" b="1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str5 &lt;= "Bigger"</a:t>
                      </a:r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is </a:t>
                      </a:r>
                      <a:r>
                        <a:rPr lang="en-US" sz="1600" b="1" i="0" u="none" strike="noStrike" kern="1200" baseline="0" dirty="0">
                          <a:solidFill>
                            <a:srgbClr val="638DAD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true</a:t>
                      </a:r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  <p:extLst>
      <p:ext uri="{BB962C8B-B14F-4D97-AF65-F5344CB8AC3E}">
        <p14:creationId xmlns:p14="http://schemas.microsoft.com/office/powerpoint/2010/main" val="34010552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Compound (Block of) Statements (1 of 2)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292388"/>
          </a:xfrm>
        </p:spPr>
        <p:txBody>
          <a:bodyPr/>
          <a:lstStyle/>
          <a:p>
            <a:pPr eaLnBrk="1" hangingPunct="1"/>
            <a:r>
              <a:rPr lang="en-US" altLang="en-US" dirty="0"/>
              <a:t>A </a:t>
            </a:r>
            <a:r>
              <a:rPr lang="en-US" altLang="en-US" u="sng" dirty="0"/>
              <a:t>compound statement</a:t>
            </a:r>
            <a:r>
              <a:rPr lang="en-US" altLang="en-US" dirty="0"/>
              <a:t> (</a:t>
            </a:r>
            <a:r>
              <a:rPr lang="en-US" altLang="en-US" u="sng" dirty="0"/>
              <a:t>block of statements</a:t>
            </a:r>
            <a:r>
              <a:rPr lang="en-US" altLang="en-US" dirty="0"/>
              <a:t>) has this form:</a:t>
            </a:r>
          </a:p>
        </p:txBody>
      </p:sp>
      <p:pic>
        <p:nvPicPr>
          <p:cNvPr id="47111" name="Picture 7" descr="A compound statement takes this form:&#10;{&#10;    statement_1&#10;    statement_2&#10;    .&#10;    .&#10;    .&#10;    statement_n&#10;}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981200"/>
            <a:ext cx="2314575" cy="2190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1"/>
          </p:nvPr>
        </p:nvSpPr>
        <p:spPr>
          <a:xfrm>
            <a:off x="365125" y="4419600"/>
            <a:ext cx="8415338" cy="1142999"/>
          </a:xfrm>
        </p:spPr>
        <p:txBody>
          <a:bodyPr/>
          <a:lstStyle/>
          <a:p>
            <a:r>
              <a:rPr lang="en-US" altLang="en-US" dirty="0"/>
              <a:t>A compound statement functions like a single statement</a:t>
            </a:r>
          </a:p>
          <a:p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  <a:endParaRPr lang="en-US" dirty="0">
              <a:solidFill>
                <a:schemeClr val="tx1">
                  <a:tint val="75000"/>
                </a:schemeClr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Compound (Block of) Statements (2 of 2)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3827202"/>
          </a:xfrm>
        </p:spPr>
        <p:txBody>
          <a:bodyPr/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US" altLang="en-US" sz="2200" b="1" dirty="0">
                <a:solidFill>
                  <a:srgbClr val="638DAD"/>
                </a:solidFill>
                <a:latin typeface="Courier New" pitchFamily="49" charset="0"/>
              </a:rPr>
              <a:t>if</a:t>
            </a:r>
            <a:r>
              <a:rPr lang="en-US" altLang="en-US" sz="2200" b="1" dirty="0">
                <a:solidFill>
                  <a:srgbClr val="0000FF"/>
                </a:solidFill>
                <a:latin typeface="Courier New" pitchFamily="49" charset="0"/>
              </a:rPr>
              <a:t> </a:t>
            </a:r>
            <a:r>
              <a:rPr lang="en-US" altLang="en-US" sz="2200" b="1" dirty="0">
                <a:latin typeface="Courier New" pitchFamily="49" charset="0"/>
              </a:rPr>
              <a:t>(age &gt; 18)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US" altLang="en-US" sz="2200" b="1" dirty="0">
                <a:latin typeface="Courier New" pitchFamily="49" charset="0"/>
              </a:rPr>
              <a:t>{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US" altLang="en-US" sz="2200" b="1" dirty="0">
                <a:latin typeface="Courier New" pitchFamily="49" charset="0"/>
              </a:rPr>
              <a:t>	   cout &lt;&lt; "Eligible to vote." &lt;&lt; endl;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US" altLang="en-US" sz="2200" b="1" dirty="0">
                <a:latin typeface="Courier New" pitchFamily="49" charset="0"/>
              </a:rPr>
              <a:t>    cout &lt;&lt; "No longer a minor." &lt;&lt; endl;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US" altLang="en-US" sz="2200" b="1" dirty="0">
                <a:latin typeface="Courier New" pitchFamily="49" charset="0"/>
              </a:rPr>
              <a:t>} 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US" altLang="en-US" sz="2200" b="1" dirty="0">
                <a:solidFill>
                  <a:srgbClr val="638DAD"/>
                </a:solidFill>
                <a:latin typeface="Courier New" pitchFamily="49" charset="0"/>
              </a:rPr>
              <a:t>else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US" altLang="en-US" sz="2200" b="1" dirty="0">
                <a:latin typeface="Courier New" pitchFamily="49" charset="0"/>
              </a:rPr>
              <a:t>{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US" altLang="en-US" sz="2200" b="1" dirty="0">
                <a:latin typeface="Courier New" pitchFamily="49" charset="0"/>
              </a:rPr>
              <a:t>	   cout &lt;&lt; "Not eligible to vote." &lt;&lt; endl;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US" altLang="en-US" sz="2200" b="1" dirty="0">
                <a:latin typeface="Courier New" pitchFamily="49" charset="0"/>
              </a:rPr>
              <a:t>	   cout &lt;&lt; "Still a minor." &lt;&lt; endl;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US" altLang="en-US" sz="2200" b="1" dirty="0">
                <a:latin typeface="Courier New" pitchFamily="49" charset="0"/>
              </a:rPr>
              <a:t>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en-US" sz="2200" dirty="0">
              <a:latin typeface="Courier New" pitchFamily="49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  <a:endParaRPr lang="en-US" dirty="0">
              <a:solidFill>
                <a:schemeClr val="tx1">
                  <a:tint val="75000"/>
                </a:schemeClr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404142"/>
            <a:ext cx="8026400" cy="300467"/>
          </a:xfrm>
        </p:spPr>
        <p:txBody>
          <a:bodyPr/>
          <a:lstStyle/>
          <a:p>
            <a:pPr eaLnBrk="1" hangingPunct="1"/>
            <a:r>
              <a:rPr lang="en-US" altLang="en-US" dirty="0"/>
              <a:t>Multiple Selections: Nested </a:t>
            </a:r>
            <a:r>
              <a:rPr lang="en-US" altLang="en-US" dirty="0">
                <a:latin typeface="Courier New" pitchFamily="49" charset="0"/>
              </a:rPr>
              <a:t>if</a:t>
            </a:r>
            <a:r>
              <a:rPr lang="en-US" altLang="en-US" dirty="0">
                <a:latin typeface="+mn-lt"/>
              </a:rPr>
              <a:t> (1 of 2)</a:t>
            </a:r>
            <a:endParaRPr lang="en-US" altLang="en-US" dirty="0">
              <a:latin typeface="Courier New" pitchFamily="49" charset="0"/>
            </a:endParaRPr>
          </a:p>
        </p:txBody>
      </p:sp>
      <p:sp>
        <p:nvSpPr>
          <p:cNvPr id="49155" name="Rectangle 3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1031051"/>
          </a:xfrm>
        </p:spPr>
        <p:txBody>
          <a:bodyPr/>
          <a:lstStyle/>
          <a:p>
            <a:r>
              <a:rPr lang="en-US" dirty="0"/>
              <a:t>When one control statement is located within another, it is said to be </a:t>
            </a:r>
            <a:r>
              <a:rPr lang="en-US" u="sng" dirty="0"/>
              <a:t>nested</a:t>
            </a:r>
            <a:endParaRPr lang="en-US" altLang="en-US" u="sng" dirty="0"/>
          </a:p>
          <a:p>
            <a:pPr eaLnBrk="1" hangingPunct="1">
              <a:tabLst>
                <a:tab pos="635000" algn="l"/>
              </a:tabLst>
            </a:pPr>
            <a:r>
              <a:rPr lang="en-US" altLang="en-US" dirty="0"/>
              <a:t>An </a:t>
            </a:r>
            <a:r>
              <a:rPr lang="en-US" altLang="en-US" b="1" dirty="0">
                <a:solidFill>
                  <a:srgbClr val="638DAD"/>
                </a:solidFill>
                <a:latin typeface="Courier New" pitchFamily="49" charset="0"/>
              </a:rPr>
              <a:t>else</a:t>
            </a:r>
            <a:r>
              <a:rPr lang="en-US" altLang="en-US" dirty="0">
                <a:solidFill>
                  <a:srgbClr val="638DAD"/>
                </a:solidFill>
              </a:rPr>
              <a:t> </a:t>
            </a:r>
            <a:r>
              <a:rPr lang="en-US" altLang="en-US" dirty="0"/>
              <a:t>is associated with the most recent </a:t>
            </a:r>
            <a:r>
              <a:rPr lang="en-US" altLang="en-US" b="1" dirty="0">
                <a:solidFill>
                  <a:srgbClr val="638DAD"/>
                </a:solidFill>
                <a:latin typeface="Courier New" pitchFamily="49" charset="0"/>
              </a:rPr>
              <a:t>if</a:t>
            </a:r>
            <a:r>
              <a:rPr lang="en-US" altLang="en-US" dirty="0"/>
              <a:t> that has not been paired with an </a:t>
            </a:r>
            <a:r>
              <a:rPr lang="en-US" altLang="en-US" b="1" dirty="0">
                <a:solidFill>
                  <a:srgbClr val="638DAD"/>
                </a:solidFill>
                <a:latin typeface="Courier New" pitchFamily="49" charset="0"/>
              </a:rPr>
              <a:t>else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  <a:endParaRPr lang="en-US" dirty="0">
              <a:solidFill>
                <a:schemeClr val="tx1">
                  <a:tint val="75000"/>
                </a:schemeClr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6"/>
          <p:cNvSpPr>
            <a:spLocks noGrp="1" noChangeArrowheads="1"/>
          </p:cNvSpPr>
          <p:nvPr>
            <p:ph type="title"/>
          </p:nvPr>
        </p:nvSpPr>
        <p:spPr>
          <a:xfrm>
            <a:off x="762000" y="410490"/>
            <a:ext cx="8026400" cy="287771"/>
          </a:xfrm>
        </p:spPr>
        <p:txBody>
          <a:bodyPr/>
          <a:lstStyle/>
          <a:p>
            <a:pPr eaLnBrk="1" hangingPunct="1"/>
            <a:r>
              <a:rPr lang="en-US" altLang="en-US" dirty="0"/>
              <a:t>Multiple Selections: Nested </a:t>
            </a:r>
            <a:r>
              <a:rPr lang="en-US" altLang="en-US" dirty="0">
                <a:latin typeface="Courier New" pitchFamily="49" charset="0"/>
              </a:rPr>
              <a:t>if</a:t>
            </a:r>
            <a:r>
              <a:rPr lang="en-US" altLang="en-US" dirty="0"/>
              <a:t> (2 of 2)</a:t>
            </a:r>
          </a:p>
        </p:txBody>
      </p:sp>
      <p:pic>
        <p:nvPicPr>
          <p:cNvPr id="50182" name="Picture 6" descr="Example 4-17 illustrates the use of a nested if structure to implement a multiple selection, in this case, assigning a letter grade based on score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1576675"/>
            <a:ext cx="6400800" cy="307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  <a:endParaRPr lang="en-US" dirty="0">
              <a:solidFill>
                <a:schemeClr val="tx1">
                  <a:tint val="75000"/>
                </a:schemeClr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6"/>
          <p:cNvSpPr>
            <a:spLocks noGrp="1" noChangeArrowheads="1"/>
          </p:cNvSpPr>
          <p:nvPr>
            <p:ph type="title"/>
          </p:nvPr>
        </p:nvSpPr>
        <p:spPr>
          <a:xfrm>
            <a:off x="762000" y="410490"/>
            <a:ext cx="8305800" cy="287771"/>
          </a:xfrm>
        </p:spPr>
        <p:txBody>
          <a:bodyPr/>
          <a:lstStyle/>
          <a:p>
            <a:pPr eaLnBrk="1" hangingPunct="1"/>
            <a:r>
              <a:rPr lang="en-US" altLang="en-US" dirty="0"/>
              <a:t>Comparing </a:t>
            </a:r>
            <a:r>
              <a:rPr lang="en-US" altLang="en-US" dirty="0">
                <a:latin typeface="Courier New" pitchFamily="49" charset="0"/>
              </a:rPr>
              <a:t>if…else</a:t>
            </a:r>
            <a:r>
              <a:rPr lang="en-US" altLang="en-US" dirty="0"/>
              <a:t> Statements with a Series of </a:t>
            </a:r>
            <a:r>
              <a:rPr lang="en-US" altLang="en-US" dirty="0">
                <a:latin typeface="Courier New" pitchFamily="49" charset="0"/>
              </a:rPr>
              <a:t>if</a:t>
            </a:r>
            <a:r>
              <a:rPr lang="en-US" altLang="en-US" dirty="0"/>
              <a:t> Statements (1 of </a:t>
            </a:r>
            <a:r>
              <a:rPr lang="en-US" altLang="en-US" dirty="0"/>
              <a:t>1</a:t>
            </a:r>
            <a:r>
              <a:rPr lang="en-US" altLang="en-US" dirty="0" smtClean="0"/>
              <a:t>)</a:t>
            </a:r>
            <a:endParaRPr lang="en-US" altLang="en-US" dirty="0"/>
          </a:p>
        </p:txBody>
      </p:sp>
      <p:pic>
        <p:nvPicPr>
          <p:cNvPr id="51208" name="Picture 8" descr="A C++ program segment written as a sequence of if...else statements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2100" y="1971675"/>
            <a:ext cx="5943600" cy="28777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  <a:endParaRPr lang="en-US" dirty="0">
              <a:solidFill>
                <a:schemeClr val="tx1">
                  <a:tint val="75000"/>
                </a:schemeClr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 smtClean="0"/>
              <a:t>Exercise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2176" y="1149684"/>
            <a:ext cx="8415338" cy="877163"/>
          </a:xfrm>
        </p:spPr>
        <p:txBody>
          <a:bodyPr/>
          <a:lstStyle/>
          <a:p>
            <a:pPr marL="0" indent="0">
              <a:buNone/>
            </a:pPr>
            <a:r>
              <a:rPr lang="en-MY" dirty="0" smtClean="0"/>
              <a:t>Display the grade point for the following statements in C++ program. The program should allow user to enter the grade in capital letter then, system display the following output.</a:t>
            </a:r>
            <a:endParaRPr lang="en-MY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219200" y="2209800"/>
          <a:ext cx="6096000" cy="3942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926327452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4773010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MY" dirty="0" smtClean="0"/>
                        <a:t>Grade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dirty="0" smtClean="0"/>
                        <a:t>Grade</a:t>
                      </a:r>
                      <a:r>
                        <a:rPr lang="en-MY" baseline="0" dirty="0" smtClean="0"/>
                        <a:t> Point</a:t>
                      </a:r>
                      <a:endParaRPr lang="en-MY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59729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MY" dirty="0" smtClean="0"/>
                        <a:t>A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dirty="0" smtClean="0"/>
                        <a:t>4.00</a:t>
                      </a:r>
                    </a:p>
                    <a:p>
                      <a:r>
                        <a:rPr lang="en-MY" dirty="0" smtClean="0"/>
                        <a:t>Distinction</a:t>
                      </a:r>
                      <a:endParaRPr lang="en-MY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83408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MY" dirty="0" smtClean="0"/>
                        <a:t>B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dirty="0" smtClean="0"/>
                        <a:t>3.00</a:t>
                      </a:r>
                    </a:p>
                    <a:p>
                      <a:r>
                        <a:rPr lang="en-MY" dirty="0" smtClean="0"/>
                        <a:t>Credit</a:t>
                      </a:r>
                      <a:endParaRPr lang="en-MY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3696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MY" dirty="0" smtClean="0"/>
                        <a:t>C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dirty="0" smtClean="0"/>
                        <a:t>2.50</a:t>
                      </a:r>
                    </a:p>
                    <a:p>
                      <a:r>
                        <a:rPr lang="en-MY" dirty="0" smtClean="0"/>
                        <a:t>Pass</a:t>
                      </a:r>
                      <a:endParaRPr lang="en-MY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03985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MY" dirty="0" smtClean="0"/>
                        <a:t>D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dirty="0" smtClean="0"/>
                        <a:t>1.00</a:t>
                      </a:r>
                    </a:p>
                    <a:p>
                      <a:r>
                        <a:rPr lang="en-MY" dirty="0" smtClean="0"/>
                        <a:t>Fail</a:t>
                      </a:r>
                      <a:endParaRPr lang="en-MY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55632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MY" dirty="0" smtClean="0"/>
                        <a:t>F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dirty="0" smtClean="0"/>
                        <a:t>0.00</a:t>
                      </a:r>
                    </a:p>
                    <a:p>
                      <a:r>
                        <a:rPr lang="en-MY" dirty="0" smtClean="0"/>
                        <a:t>No Grade</a:t>
                      </a:r>
                      <a:endParaRPr lang="en-MY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40568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MY" dirty="0" smtClean="0"/>
                        <a:t>None of these grade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dirty="0" smtClean="0"/>
                        <a:t>Invalid</a:t>
                      </a:r>
                      <a:endParaRPr lang="en-MY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93335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4363404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1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410490"/>
            <a:ext cx="8026400" cy="287771"/>
          </a:xfrm>
        </p:spPr>
        <p:txBody>
          <a:bodyPr/>
          <a:lstStyle/>
          <a:p>
            <a:pPr eaLnBrk="1" hangingPunct="1"/>
            <a:r>
              <a:rPr lang="en-US" altLang="en-US" dirty="0">
                <a:latin typeface="Courier New" pitchFamily="49" charset="0"/>
              </a:rPr>
              <a:t>switch</a:t>
            </a:r>
            <a:r>
              <a:rPr lang="en-US" altLang="en-US" dirty="0"/>
              <a:t> Structures (1 of 4)</a:t>
            </a:r>
          </a:p>
        </p:txBody>
      </p:sp>
      <p:sp>
        <p:nvSpPr>
          <p:cNvPr id="63492" name="Rectangle 3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3978275" cy="2677656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u="sng" dirty="0"/>
              <a:t>switch structure</a:t>
            </a:r>
            <a:r>
              <a:rPr lang="en-US" altLang="en-US" dirty="0"/>
              <a:t> is an alternate </a:t>
            </a:r>
            <a:br>
              <a:rPr lang="en-US" altLang="en-US" dirty="0"/>
            </a:br>
            <a:r>
              <a:rPr lang="en-US" altLang="en-US" dirty="0"/>
              <a:t>to </a:t>
            </a:r>
            <a:r>
              <a:rPr lang="en-US" altLang="en-US" b="1" dirty="0">
                <a:latin typeface="Courier New" pitchFamily="49" charset="0"/>
              </a:rPr>
              <a:t>if-else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b="1" dirty="0">
                <a:solidFill>
                  <a:srgbClr val="638DAD"/>
                </a:solidFill>
                <a:latin typeface="Courier New" pitchFamily="49" charset="0"/>
              </a:rPr>
              <a:t>switch</a:t>
            </a:r>
            <a:r>
              <a:rPr lang="en-US" altLang="en-US" dirty="0"/>
              <a:t> (integral) expression is evaluated first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Value of the expression determines which corresponding action is taken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Expression is sometimes called the </a:t>
            </a:r>
            <a:r>
              <a:rPr lang="en-US" altLang="en-US" u="sng" dirty="0"/>
              <a:t>selector</a:t>
            </a:r>
          </a:p>
        </p:txBody>
      </p:sp>
      <p:pic>
        <p:nvPicPr>
          <p:cNvPr id="63495" name="Picture 7" descr="switch (expression)&#10;{&#10;    case value1:&#10;    statements1&#10;    break;&#10;    case value2:&#10;    statements2&#10;    break;&#10;    .&#10;    .&#10;    .&#10;    case valuen:&#10;    statementsn&#10;    break;&#10;    default:&#10;    statements&#10;}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1524000"/>
            <a:ext cx="2743200" cy="400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  <a:endParaRPr lang="en-US" dirty="0">
              <a:solidFill>
                <a:schemeClr val="tx1">
                  <a:tint val="75000"/>
                </a:schemeClr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switch</a:t>
            </a:r>
            <a:r>
              <a:rPr lang="en-US" altLang="en-US" dirty="0"/>
              <a:t> Structures (2 of 4)</a:t>
            </a:r>
          </a:p>
        </p:txBody>
      </p:sp>
      <p:pic>
        <p:nvPicPr>
          <p:cNvPr id="158722" name="Picture 2" descr="Figure 4-4 shows the flow of execution of a switch statement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5597" y="1219200"/>
            <a:ext cx="5426403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457200" y="4724400"/>
            <a:ext cx="2438400" cy="501676"/>
          </a:xfrm>
        </p:spPr>
        <p:txBody>
          <a:bodyPr/>
          <a:lstStyle/>
          <a:p>
            <a:r>
              <a:rPr lang="en-US" b="1" dirty="0"/>
              <a:t>FIGURE 4-4 </a:t>
            </a:r>
            <a:r>
              <a:rPr 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switch</a:t>
            </a:r>
            <a:r>
              <a:rPr lang="en-US" b="1" dirty="0">
                <a:solidFill>
                  <a:srgbClr val="638DAD"/>
                </a:solidFill>
              </a:rPr>
              <a:t> </a:t>
            </a:r>
            <a:r>
              <a:rPr lang="en-US" dirty="0"/>
              <a:t>statement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  <p:extLst>
      <p:ext uri="{BB962C8B-B14F-4D97-AF65-F5344CB8AC3E}">
        <p14:creationId xmlns:p14="http://schemas.microsoft.com/office/powerpoint/2010/main" val="37230629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switch</a:t>
            </a:r>
            <a:r>
              <a:rPr lang="en-US" altLang="en-US" dirty="0"/>
              <a:t> Structures (3 of 4)</a:t>
            </a:r>
          </a:p>
        </p:txBody>
      </p:sp>
      <p:sp>
        <p:nvSpPr>
          <p:cNvPr id="65539" name="Rectangle 3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2662267"/>
          </a:xfrm>
        </p:spPr>
        <p:txBody>
          <a:bodyPr/>
          <a:lstStyle/>
          <a:p>
            <a:r>
              <a:rPr lang="en-US" altLang="en-US" dirty="0"/>
              <a:t>One or more statements may follow a </a:t>
            </a:r>
            <a:r>
              <a:rPr lang="en-US" alt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case</a:t>
            </a:r>
            <a:r>
              <a:rPr lang="en-US" altLang="en-US" dirty="0"/>
              <a:t> label</a:t>
            </a:r>
          </a:p>
          <a:p>
            <a:r>
              <a:rPr lang="en-US" altLang="en-US" dirty="0"/>
              <a:t>Braces are not needed to turn multiple statements into a single compound statement</a:t>
            </a:r>
          </a:p>
          <a:p>
            <a:r>
              <a:rPr lang="en-US" altLang="en-US" dirty="0"/>
              <a:t>When a </a:t>
            </a:r>
            <a:r>
              <a:rPr lang="en-US" alt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case</a:t>
            </a:r>
            <a:r>
              <a:rPr lang="en-US" altLang="en-US" dirty="0"/>
              <a:t> value is matched, all statements after it execute until a break is encountered</a:t>
            </a:r>
          </a:p>
          <a:p>
            <a:r>
              <a:rPr lang="en-US" altLang="en-US" dirty="0"/>
              <a:t>The </a:t>
            </a:r>
            <a:r>
              <a:rPr lang="en-US" alt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break</a:t>
            </a:r>
            <a:r>
              <a:rPr lang="en-US" altLang="en-US" dirty="0"/>
              <a:t> statement may or may not appear after each statement</a:t>
            </a:r>
          </a:p>
          <a:p>
            <a:r>
              <a:rPr lang="en-US" alt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switch</a:t>
            </a:r>
            <a:r>
              <a:rPr lang="en-US" altLang="en-US" dirty="0"/>
              <a:t>, </a:t>
            </a:r>
            <a:r>
              <a:rPr lang="en-US" alt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case</a:t>
            </a:r>
            <a:r>
              <a:rPr lang="en-US" altLang="en-US" dirty="0"/>
              <a:t>, </a:t>
            </a:r>
            <a:r>
              <a:rPr lang="en-US" alt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break</a:t>
            </a:r>
            <a:r>
              <a:rPr lang="en-US" altLang="en-US" dirty="0"/>
              <a:t>, and </a:t>
            </a:r>
            <a:r>
              <a:rPr lang="en-US" alt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default</a:t>
            </a:r>
            <a:r>
              <a:rPr lang="en-US" altLang="en-US" dirty="0"/>
              <a:t> are reserved words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 smtClean="0"/>
              <a:t>Exercise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2176" y="1149684"/>
            <a:ext cx="8415338" cy="877163"/>
          </a:xfrm>
        </p:spPr>
        <p:txBody>
          <a:bodyPr/>
          <a:lstStyle/>
          <a:p>
            <a:r>
              <a:rPr lang="en-MY" dirty="0" smtClean="0"/>
              <a:t>Display the grade point for the following statements in C++ program. The program should allow user to enter the grade in capital letter then, system display the following output.</a:t>
            </a:r>
            <a:endParaRPr lang="en-MY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1227850"/>
              </p:ext>
            </p:extLst>
          </p:nvPr>
        </p:nvGraphicFramePr>
        <p:xfrm>
          <a:off x="1219200" y="2209800"/>
          <a:ext cx="6096000" cy="3942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926327452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4773010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MY" dirty="0" smtClean="0"/>
                        <a:t>Grade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dirty="0" smtClean="0"/>
                        <a:t>Grade</a:t>
                      </a:r>
                      <a:r>
                        <a:rPr lang="en-MY" baseline="0" dirty="0" smtClean="0"/>
                        <a:t> Point</a:t>
                      </a:r>
                      <a:endParaRPr lang="en-MY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59729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MY" dirty="0" smtClean="0"/>
                        <a:t>A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dirty="0" smtClean="0"/>
                        <a:t>4.00</a:t>
                      </a:r>
                    </a:p>
                    <a:p>
                      <a:r>
                        <a:rPr lang="en-MY" dirty="0" smtClean="0"/>
                        <a:t>Distinction</a:t>
                      </a:r>
                      <a:endParaRPr lang="en-MY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83408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MY" dirty="0" smtClean="0"/>
                        <a:t>B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dirty="0" smtClean="0"/>
                        <a:t>3.00</a:t>
                      </a:r>
                    </a:p>
                    <a:p>
                      <a:r>
                        <a:rPr lang="en-MY" dirty="0" smtClean="0"/>
                        <a:t>Credit</a:t>
                      </a:r>
                      <a:endParaRPr lang="en-MY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3696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MY" dirty="0" smtClean="0"/>
                        <a:t>C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dirty="0" smtClean="0"/>
                        <a:t>2.50</a:t>
                      </a:r>
                    </a:p>
                    <a:p>
                      <a:r>
                        <a:rPr lang="en-MY" dirty="0" smtClean="0"/>
                        <a:t>Pass</a:t>
                      </a:r>
                      <a:endParaRPr lang="en-MY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03985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MY" dirty="0" smtClean="0"/>
                        <a:t>D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dirty="0" smtClean="0"/>
                        <a:t>1.00</a:t>
                      </a:r>
                    </a:p>
                    <a:p>
                      <a:r>
                        <a:rPr lang="en-MY" dirty="0" smtClean="0"/>
                        <a:t>Fail</a:t>
                      </a:r>
                      <a:endParaRPr lang="en-MY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55632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MY" dirty="0" smtClean="0"/>
                        <a:t>F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dirty="0" smtClean="0"/>
                        <a:t>0.00</a:t>
                      </a:r>
                    </a:p>
                    <a:p>
                      <a:r>
                        <a:rPr lang="en-MY" dirty="0" smtClean="0"/>
                        <a:t>No Grade</a:t>
                      </a:r>
                      <a:endParaRPr lang="en-MY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40568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MY" dirty="0" smtClean="0"/>
                        <a:t>None of these grade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dirty="0" smtClean="0"/>
                        <a:t>Invalid</a:t>
                      </a:r>
                      <a:endParaRPr lang="en-MY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93335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278558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switch</a:t>
            </a:r>
            <a:r>
              <a:rPr lang="en-US" altLang="en-US" dirty="0"/>
              <a:t> Structures (4 of 4)</a:t>
            </a:r>
            <a:endParaRPr lang="en-US" dirty="0"/>
          </a:p>
        </p:txBody>
      </p:sp>
      <p:pic>
        <p:nvPicPr>
          <p:cNvPr id="66566" name="Picture 6" descr="Example 4-22 is an example of C++ code implementing the switch statement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1311118"/>
            <a:ext cx="6400800" cy="45562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  <a:endParaRPr lang="en-US" dirty="0">
              <a:solidFill>
                <a:schemeClr val="tx1">
                  <a:tint val="75000"/>
                </a:schemeClr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Quick Review (1 of 3)</a:t>
            </a:r>
          </a:p>
        </p:txBody>
      </p:sp>
      <p:sp>
        <p:nvSpPr>
          <p:cNvPr id="71683" name="Rectangle 3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2081339"/>
          </a:xfrm>
        </p:spPr>
        <p:txBody>
          <a:bodyPr/>
          <a:lstStyle/>
          <a:p>
            <a:pPr eaLnBrk="1" hangingPunct="1"/>
            <a:r>
              <a:rPr lang="en-US" altLang="en-US" dirty="0"/>
              <a:t>Control structures alter normal control flow</a:t>
            </a:r>
          </a:p>
          <a:p>
            <a:pPr eaLnBrk="1" hangingPunct="1"/>
            <a:r>
              <a:rPr lang="en-US" altLang="en-US" dirty="0"/>
              <a:t>Most common control structures are selection and repetition</a:t>
            </a:r>
          </a:p>
          <a:p>
            <a:pPr eaLnBrk="1" hangingPunct="1"/>
            <a:r>
              <a:rPr lang="en-US" altLang="en-US" dirty="0"/>
              <a:t>Relational operators: </a:t>
            </a:r>
            <a:r>
              <a:rPr lang="en-US" altLang="en-US" b="1" dirty="0">
                <a:latin typeface="Courier New" pitchFamily="49" charset="0"/>
              </a:rPr>
              <a:t>==</a:t>
            </a:r>
            <a:r>
              <a:rPr lang="en-US" altLang="en-US" dirty="0"/>
              <a:t>, </a:t>
            </a:r>
            <a:r>
              <a:rPr lang="en-US" altLang="en-US" b="1" dirty="0">
                <a:latin typeface="Courier New" pitchFamily="49" charset="0"/>
              </a:rPr>
              <a:t>&lt;</a:t>
            </a:r>
            <a:r>
              <a:rPr lang="en-US" altLang="en-US" dirty="0"/>
              <a:t>, </a:t>
            </a:r>
            <a:r>
              <a:rPr lang="en-US" altLang="en-US" b="1" dirty="0">
                <a:latin typeface="Courier New" pitchFamily="49" charset="0"/>
              </a:rPr>
              <a:t>&lt;=</a:t>
            </a:r>
            <a:r>
              <a:rPr lang="en-US" altLang="en-US" dirty="0"/>
              <a:t>, </a:t>
            </a:r>
            <a:r>
              <a:rPr lang="en-US" altLang="en-US" b="1" dirty="0">
                <a:latin typeface="Courier New" pitchFamily="49" charset="0"/>
              </a:rPr>
              <a:t>&gt;</a:t>
            </a:r>
            <a:r>
              <a:rPr lang="en-US" altLang="en-US" dirty="0"/>
              <a:t>, </a:t>
            </a:r>
            <a:r>
              <a:rPr lang="en-US" altLang="en-US" b="1" dirty="0">
                <a:latin typeface="Courier New" pitchFamily="49" charset="0"/>
              </a:rPr>
              <a:t>&gt;=</a:t>
            </a:r>
            <a:r>
              <a:rPr lang="en-US" altLang="en-US" dirty="0"/>
              <a:t>, </a:t>
            </a:r>
            <a:r>
              <a:rPr lang="en-US" altLang="en-US" b="1" dirty="0">
                <a:latin typeface="Courier New" pitchFamily="49" charset="0"/>
              </a:rPr>
              <a:t>!=</a:t>
            </a:r>
          </a:p>
          <a:p>
            <a:pPr eaLnBrk="1" hangingPunct="1"/>
            <a:r>
              <a:rPr lang="en-US" altLang="en-US" dirty="0"/>
              <a:t>Logical expressions evaluate to </a:t>
            </a:r>
            <a:r>
              <a:rPr lang="en-US" altLang="en-US" b="1" dirty="0">
                <a:latin typeface="Courier New" pitchFamily="49" charset="0"/>
              </a:rPr>
              <a:t>1</a:t>
            </a:r>
            <a:r>
              <a:rPr lang="en-US" altLang="en-US" dirty="0"/>
              <a:t> (</a:t>
            </a:r>
            <a:r>
              <a:rPr lang="en-US" altLang="en-US" b="1" dirty="0">
                <a:solidFill>
                  <a:srgbClr val="638DAD"/>
                </a:solidFill>
                <a:latin typeface="Courier New" pitchFamily="49" charset="0"/>
              </a:rPr>
              <a:t>true</a:t>
            </a:r>
            <a:r>
              <a:rPr lang="en-US" altLang="en-US" dirty="0"/>
              <a:t>) or </a:t>
            </a:r>
            <a:r>
              <a:rPr lang="en-US" altLang="en-US" b="1" dirty="0">
                <a:latin typeface="Courier New" pitchFamily="49" charset="0"/>
              </a:rPr>
              <a:t>0</a:t>
            </a:r>
            <a:r>
              <a:rPr lang="en-US" altLang="en-US" dirty="0"/>
              <a:t> (</a:t>
            </a:r>
            <a:r>
              <a:rPr lang="en-US" altLang="en-US" b="1" dirty="0">
                <a:solidFill>
                  <a:srgbClr val="638DAD"/>
                </a:solidFill>
                <a:latin typeface="Courier New" pitchFamily="49" charset="0"/>
              </a:rPr>
              <a:t>false</a:t>
            </a:r>
            <a:r>
              <a:rPr lang="en-US" altLang="en-US" dirty="0"/>
              <a:t>)</a:t>
            </a:r>
          </a:p>
          <a:p>
            <a:pPr eaLnBrk="1" hangingPunct="1"/>
            <a:r>
              <a:rPr lang="en-US" altLang="en-US" dirty="0"/>
              <a:t>Logical operators: </a:t>
            </a:r>
            <a:r>
              <a:rPr lang="en-US" altLang="en-US" b="1" dirty="0">
                <a:latin typeface="Courier New" pitchFamily="49" charset="0"/>
              </a:rPr>
              <a:t>!</a:t>
            </a:r>
            <a:r>
              <a:rPr lang="en-US" altLang="en-US" dirty="0"/>
              <a:t> (not), </a:t>
            </a:r>
            <a:r>
              <a:rPr lang="en-US" altLang="en-US" b="1" dirty="0">
                <a:latin typeface="Courier New" pitchFamily="49" charset="0"/>
              </a:rPr>
              <a:t>&amp;&amp;</a:t>
            </a:r>
            <a:r>
              <a:rPr lang="en-US" altLang="en-US" dirty="0"/>
              <a:t> (and), </a:t>
            </a:r>
            <a:r>
              <a:rPr lang="en-US" altLang="en-US" b="1" dirty="0">
                <a:latin typeface="Courier New" pitchFamily="49" charset="0"/>
              </a:rPr>
              <a:t>||</a:t>
            </a:r>
            <a:r>
              <a:rPr lang="en-US" altLang="en-US" dirty="0"/>
              <a:t> (or)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  <a:endParaRPr lang="en-US" dirty="0">
              <a:solidFill>
                <a:schemeClr val="tx1">
                  <a:tint val="75000"/>
                </a:schemeClr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Quick Review (2 of 3)</a:t>
            </a:r>
          </a:p>
        </p:txBody>
      </p:sp>
      <p:sp>
        <p:nvSpPr>
          <p:cNvPr id="72707" name="Rectangle 3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2585323"/>
          </a:xfrm>
        </p:spPr>
        <p:txBody>
          <a:bodyPr/>
          <a:lstStyle/>
          <a:p>
            <a:pPr eaLnBrk="1" hangingPunct="1"/>
            <a:r>
              <a:rPr lang="en-US" altLang="en-US" dirty="0"/>
              <a:t>Two selection structures are one-way selection and two-way selection</a:t>
            </a:r>
          </a:p>
          <a:p>
            <a:pPr eaLnBrk="1" hangingPunct="1"/>
            <a:r>
              <a:rPr lang="en-US" altLang="en-US" dirty="0"/>
              <a:t>The expression in an </a:t>
            </a:r>
            <a:r>
              <a:rPr lang="en-US" altLang="en-US" b="1" dirty="0">
                <a:solidFill>
                  <a:srgbClr val="638DAD"/>
                </a:solidFill>
                <a:latin typeface="Courier New" pitchFamily="49" charset="0"/>
              </a:rPr>
              <a:t>if</a:t>
            </a:r>
            <a:r>
              <a:rPr lang="en-US" altLang="en-US" dirty="0">
                <a:solidFill>
                  <a:srgbClr val="638DAD"/>
                </a:solidFill>
              </a:rPr>
              <a:t> </a:t>
            </a:r>
            <a:r>
              <a:rPr lang="en-US" altLang="en-US" dirty="0"/>
              <a:t>or </a:t>
            </a:r>
            <a:r>
              <a:rPr lang="en-US" altLang="en-US" b="1" dirty="0">
                <a:solidFill>
                  <a:srgbClr val="638DAD"/>
                </a:solidFill>
                <a:latin typeface="Courier New" pitchFamily="49" charset="0"/>
              </a:rPr>
              <a:t>if...else </a:t>
            </a:r>
            <a:r>
              <a:rPr lang="en-US" altLang="en-US" dirty="0"/>
              <a:t>structure is usually a logical expression</a:t>
            </a:r>
          </a:p>
          <a:p>
            <a:pPr eaLnBrk="1" hangingPunct="1"/>
            <a:r>
              <a:rPr lang="en-US" altLang="en-US" dirty="0"/>
              <a:t>No stand-alone </a:t>
            </a:r>
            <a:r>
              <a:rPr lang="en-US" altLang="en-US" b="1" dirty="0">
                <a:solidFill>
                  <a:srgbClr val="638DAD"/>
                </a:solidFill>
                <a:latin typeface="Courier New" pitchFamily="49" charset="0"/>
              </a:rPr>
              <a:t>else</a:t>
            </a:r>
            <a:r>
              <a:rPr lang="en-US" altLang="en-US" dirty="0"/>
              <a:t> statement exists in C++</a:t>
            </a:r>
          </a:p>
          <a:p>
            <a:pPr lvl="1" eaLnBrk="1" hangingPunct="1"/>
            <a:r>
              <a:rPr lang="en-US" altLang="en-US" dirty="0"/>
              <a:t>Every </a:t>
            </a:r>
            <a:r>
              <a:rPr lang="en-US" alt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n-US" altLang="en-US" dirty="0"/>
              <a:t> has a related </a:t>
            </a:r>
            <a:r>
              <a:rPr lang="en-US" alt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</a:p>
          <a:p>
            <a:pPr eaLnBrk="1" hangingPunct="1"/>
            <a:r>
              <a:rPr lang="en-US" altLang="en-US" dirty="0"/>
              <a:t>A sequence of statements enclosed between braces, </a:t>
            </a:r>
            <a:r>
              <a:rPr lang="en-US" altLang="en-US" b="1" dirty="0">
                <a:latin typeface="Courier New" pitchFamily="49" charset="0"/>
              </a:rPr>
              <a:t>{</a:t>
            </a:r>
            <a:r>
              <a:rPr lang="en-US" altLang="en-US" dirty="0"/>
              <a:t> and </a:t>
            </a:r>
            <a:r>
              <a:rPr lang="en-US" altLang="en-US" b="1" dirty="0">
                <a:latin typeface="Courier New" pitchFamily="49" charset="0"/>
              </a:rPr>
              <a:t>}</a:t>
            </a:r>
            <a:r>
              <a:rPr lang="en-US" altLang="en-US" dirty="0"/>
              <a:t>, is called a compound statement or a block of statements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  <a:endParaRPr lang="en-US" dirty="0">
              <a:solidFill>
                <a:schemeClr val="tx1">
                  <a:tint val="75000"/>
                </a:schemeClr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Quick Review (3 of 3)</a:t>
            </a:r>
          </a:p>
        </p:txBody>
      </p:sp>
      <p:sp>
        <p:nvSpPr>
          <p:cNvPr id="73731" name="Rectangle 5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1184940"/>
          </a:xfrm>
        </p:spPr>
        <p:txBody>
          <a:bodyPr/>
          <a:lstStyle/>
          <a:p>
            <a:pPr eaLnBrk="1" hangingPunct="1"/>
            <a:r>
              <a:rPr lang="en-US" altLang="en-US" dirty="0"/>
              <a:t>Using assignment in place of the equality operator creates a semantic error</a:t>
            </a:r>
          </a:p>
          <a:p>
            <a:pPr eaLnBrk="1" hangingPunct="1"/>
            <a:r>
              <a:rPr lang="en-US" altLang="en-US" dirty="0"/>
              <a:t>The execution of a </a:t>
            </a:r>
            <a:r>
              <a:rPr lang="en-US" altLang="en-US" b="1" dirty="0">
                <a:solidFill>
                  <a:srgbClr val="638DAD"/>
                </a:solidFill>
                <a:latin typeface="Courier New" pitchFamily="49" charset="0"/>
              </a:rPr>
              <a:t>switch</a:t>
            </a:r>
            <a:r>
              <a:rPr lang="en-US" altLang="en-US" dirty="0"/>
              <a:t> structure handles multiway selection</a:t>
            </a:r>
            <a:endParaRPr lang="en-US" altLang="en-US" dirty="0">
              <a:solidFill>
                <a:schemeClr val="tx1"/>
              </a:solidFill>
            </a:endParaRPr>
          </a:p>
          <a:p>
            <a:r>
              <a:rPr lang="en-US" altLang="en-US" dirty="0"/>
              <a:t>The execution of a </a:t>
            </a:r>
            <a:r>
              <a:rPr lang="en-US" altLang="en-US" b="1" dirty="0">
                <a:solidFill>
                  <a:srgbClr val="638DAD"/>
                </a:solidFill>
                <a:latin typeface="Courier New" pitchFamily="49" charset="0"/>
              </a:rPr>
              <a:t>break</a:t>
            </a:r>
            <a:r>
              <a:rPr lang="en-US" altLang="en-US" dirty="0"/>
              <a:t> statement ends a </a:t>
            </a:r>
            <a:r>
              <a:rPr lang="en-US" altLang="en-US" b="1" dirty="0">
                <a:solidFill>
                  <a:srgbClr val="638DAD"/>
                </a:solidFill>
                <a:latin typeface="Courier New" pitchFamily="49" charset="0"/>
              </a:rPr>
              <a:t>switch</a:t>
            </a:r>
            <a:r>
              <a:rPr lang="en-US" altLang="en-US" dirty="0"/>
              <a:t> </a:t>
            </a:r>
            <a:r>
              <a:rPr lang="en-US" altLang="en-US" dirty="0" smtClean="0"/>
              <a:t>statement</a:t>
            </a:r>
            <a:endParaRPr lang="en-US" alt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  <a:endParaRPr lang="en-US" dirty="0">
              <a:solidFill>
                <a:schemeClr val="tx1">
                  <a:tint val="75000"/>
                </a:schemeClr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Malik_cpp">
  <a:themeElements>
    <a:clrScheme name="Cengage">
      <a:dk1>
        <a:srgbClr val="000000"/>
      </a:dk1>
      <a:lt1>
        <a:srgbClr val="FFFFFF"/>
      </a:lt1>
      <a:dk2>
        <a:srgbClr val="000000"/>
      </a:dk2>
      <a:lt2>
        <a:srgbClr val="AAAEB4"/>
      </a:lt2>
      <a:accent1>
        <a:srgbClr val="0D3857"/>
      </a:accent1>
      <a:accent2>
        <a:srgbClr val="055C91"/>
      </a:accent2>
      <a:accent3>
        <a:srgbClr val="81C0DA"/>
      </a:accent3>
      <a:accent4>
        <a:srgbClr val="B0D3DF"/>
      </a:accent4>
      <a:accent5>
        <a:srgbClr val="E0DCCD"/>
      </a:accent5>
      <a:accent6>
        <a:srgbClr val="7C7666"/>
      </a:accent6>
      <a:hlink>
        <a:srgbClr val="055C91"/>
      </a:hlink>
      <a:folHlink>
        <a:srgbClr val="81C0DA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8041</TotalTime>
  <Words>3951</Words>
  <Application>Microsoft Office PowerPoint</Application>
  <PresentationFormat>On-screen Show (4:3)</PresentationFormat>
  <Paragraphs>391</Paragraphs>
  <Slides>43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8" baseType="lpstr">
      <vt:lpstr>Arial</vt:lpstr>
      <vt:lpstr>Calibri</vt:lpstr>
      <vt:lpstr>Calibri Light</vt:lpstr>
      <vt:lpstr>Courier New</vt:lpstr>
      <vt:lpstr>Malik_cpp</vt:lpstr>
      <vt:lpstr>Chapter 4</vt:lpstr>
      <vt:lpstr>Objectives (1 of 1)</vt:lpstr>
      <vt:lpstr>Control Structures (1 of 2)</vt:lpstr>
      <vt:lpstr>Control Structures (2 of 2)</vt:lpstr>
      <vt:lpstr>Selection: if and if...else</vt:lpstr>
      <vt:lpstr>Relational Operators</vt:lpstr>
      <vt:lpstr>Relational Operators and Simple Data Types</vt:lpstr>
      <vt:lpstr>Comparing Characters</vt:lpstr>
      <vt:lpstr>One-Way Selection (1 of 2)</vt:lpstr>
      <vt:lpstr>One-Way Selection (2 of 2)</vt:lpstr>
      <vt:lpstr>Two-Way Selection (1 of 2)</vt:lpstr>
      <vt:lpstr>Two-Way Selection (2 of 2)</vt:lpstr>
      <vt:lpstr>int Data Type and Logical (Boolean) Expressions</vt:lpstr>
      <vt:lpstr>bool Data Type and Logical (Boolean) Expressions</vt:lpstr>
      <vt:lpstr>Logical (Boolean) Operators and Logical Expressions (1 of 5)</vt:lpstr>
      <vt:lpstr>Logical (Boolean) Operators and Logical Expressions (2 of 5)</vt:lpstr>
      <vt:lpstr>Logical (Boolean) Operators and Logical Expressions (3 of 5)</vt:lpstr>
      <vt:lpstr>Logical (Boolean) Operators and Logical Expressions (4 of 5)</vt:lpstr>
      <vt:lpstr>Logical (Boolean) Operators and Logical Expressions (5 of 5)</vt:lpstr>
      <vt:lpstr>Order of Precedence (1 of 5)</vt:lpstr>
      <vt:lpstr>Order of Precedence (2 of 5)</vt:lpstr>
      <vt:lpstr>Order of Precedence (3 of 5)</vt:lpstr>
      <vt:lpstr>Order of Precedence (4 of 5)</vt:lpstr>
      <vt:lpstr>Order of Precedence (5 of 5)</vt:lpstr>
      <vt:lpstr>Relational Operators and the string Type (1 of 5)</vt:lpstr>
      <vt:lpstr>Relational Operators and the string Type (2 of 5)</vt:lpstr>
      <vt:lpstr>Relational Operators and the string Type (3 of 5)</vt:lpstr>
      <vt:lpstr>Relational Operators and the string Type (4 of 5)</vt:lpstr>
      <vt:lpstr>Relational Operators and the string Type (5 of 5)</vt:lpstr>
      <vt:lpstr>Compound (Block of) Statements (1 of 2)</vt:lpstr>
      <vt:lpstr>Compound (Block of) Statements (2 of 2)</vt:lpstr>
      <vt:lpstr>Multiple Selections: Nested if (1 of 2)</vt:lpstr>
      <vt:lpstr>Multiple Selections: Nested if (2 of 2)</vt:lpstr>
      <vt:lpstr>Comparing if…else Statements with a Series of if Statements (1 of 1)</vt:lpstr>
      <vt:lpstr>Exercise</vt:lpstr>
      <vt:lpstr>switch Structures (1 of 4)</vt:lpstr>
      <vt:lpstr>switch Structures (2 of 4)</vt:lpstr>
      <vt:lpstr>switch Structures (3 of 4)</vt:lpstr>
      <vt:lpstr>Exercise</vt:lpstr>
      <vt:lpstr>switch Structures (4 of 4)</vt:lpstr>
      <vt:lpstr>Quick Review (1 of 3)</vt:lpstr>
      <vt:lpstr>Quick Review (2 of 3)</vt:lpstr>
      <vt:lpstr>Quick Review (3 of 3)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C++ Programming:   Program Design Including  Data Structures, Fifth Edition</dc:title>
  <dc:creator>Ang</dc:creator>
  <cp:lastModifiedBy>Windows User</cp:lastModifiedBy>
  <cp:revision>405</cp:revision>
  <cp:lastPrinted>2009-04-22T19:24:48Z</cp:lastPrinted>
  <dcterms:created xsi:type="dcterms:W3CDTF">2002-07-27T03:19:07Z</dcterms:created>
  <dcterms:modified xsi:type="dcterms:W3CDTF">2020-03-09T00:37:48Z</dcterms:modified>
</cp:coreProperties>
</file>