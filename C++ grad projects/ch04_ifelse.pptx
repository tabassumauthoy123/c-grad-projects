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03" r:id="rId1"/>
  </p:sldMasterIdLst>
  <p:notesMasterIdLst>
    <p:notesMasterId r:id="rId45"/>
  </p:notesMasterIdLst>
  <p:sldIdLst>
    <p:sldId id="370" r:id="rId2"/>
    <p:sldId id="261" r:id="rId3"/>
    <p:sldId id="347" r:id="rId4"/>
    <p:sldId id="262" r:id="rId5"/>
    <p:sldId id="265" r:id="rId6"/>
    <p:sldId id="264" r:id="rId7"/>
    <p:sldId id="390" r:id="rId8"/>
    <p:sldId id="263" r:id="rId9"/>
    <p:sldId id="348" r:id="rId10"/>
    <p:sldId id="308" r:id="rId11"/>
    <p:sldId id="276" r:id="rId12"/>
    <p:sldId id="378" r:id="rId13"/>
    <p:sldId id="379" r:id="rId14"/>
    <p:sldId id="380" r:id="rId15"/>
    <p:sldId id="381" r:id="rId16"/>
    <p:sldId id="382" r:id="rId17"/>
    <p:sldId id="383" r:id="rId18"/>
    <p:sldId id="384" r:id="rId19"/>
    <p:sldId id="385" r:id="rId20"/>
    <p:sldId id="391" r:id="rId21"/>
    <p:sldId id="386" r:id="rId22"/>
    <p:sldId id="387" r:id="rId23"/>
    <p:sldId id="388" r:id="rId24"/>
    <p:sldId id="389" r:id="rId25"/>
    <p:sldId id="338" r:id="rId26"/>
    <p:sldId id="267" r:id="rId27"/>
    <p:sldId id="268" r:id="rId28"/>
    <p:sldId id="392" r:id="rId29"/>
    <p:sldId id="393" r:id="rId30"/>
    <p:sldId id="394" r:id="rId31"/>
    <p:sldId id="279" r:id="rId32"/>
    <p:sldId id="280" r:id="rId33"/>
    <p:sldId id="281" r:id="rId34"/>
    <p:sldId id="332" r:id="rId35"/>
    <p:sldId id="333" r:id="rId36"/>
    <p:sldId id="375" r:id="rId37"/>
    <p:sldId id="282" r:id="rId38"/>
    <p:sldId id="395" r:id="rId39"/>
    <p:sldId id="283" r:id="rId40"/>
    <p:sldId id="369" r:id="rId41"/>
    <p:sldId id="301" r:id="rId42"/>
    <p:sldId id="302" r:id="rId43"/>
    <p:sldId id="303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7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8DAD"/>
    <a:srgbClr val="3333FF"/>
    <a:srgbClr val="333399"/>
    <a:srgbClr val="B2B2B2"/>
    <a:srgbClr val="800000"/>
    <a:srgbClr val="996600"/>
    <a:srgbClr val="FF9999"/>
    <a:srgbClr val="33CC33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4" autoAdjust="0"/>
    <p:restoredTop sz="94775" autoAdjust="0"/>
  </p:normalViewPr>
  <p:slideViewPr>
    <p:cSldViewPr>
      <p:cViewPr varScale="1">
        <p:scale>
          <a:sx n="66" d="100"/>
          <a:sy n="66" d="100"/>
        </p:scale>
        <p:origin x="1470" y="60"/>
      </p:cViewPr>
      <p:guideLst>
        <p:guide orient="horz" pos="912"/>
        <p:guide pos="7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18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47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6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6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59CA03D-014C-469A-BD23-D6E29E34367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477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ACF4E6F-3F10-4579-8D42-AF5DAE85CBE0}" type="slidenum">
              <a:rPr lang="en-US" altLang="en-US" smtClean="0"/>
              <a:pPr eaLnBrk="1" hangingPunct="1"/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B0B7AA-409E-4D54-87CC-F61949BE64E3}" type="slidenum">
              <a:rPr lang="en-US" altLang="en-US" smtClean="0"/>
              <a:pPr eaLnBrk="1" hangingPunct="1"/>
              <a:t>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E649854-6ED7-4BE9-8744-EE8AEBF52132}" type="slidenum">
              <a:rPr lang="en-US" altLang="en-US" smtClean="0"/>
              <a:pPr eaLnBrk="1" hangingPunct="1"/>
              <a:t>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7F32FBA-54FD-458E-A6CA-46B8A8ADA615}" type="slidenum">
              <a:rPr lang="en-US" altLang="en-US" smtClean="0"/>
              <a:pPr eaLnBrk="1" hangingPunct="1"/>
              <a:t>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23D7F3-B071-4152-8406-D12EC1554BD7}" type="slidenum">
              <a:rPr lang="en-US" altLang="en-US" smtClean="0"/>
              <a:pPr eaLnBrk="1" hangingPunct="1"/>
              <a:t>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0CD93F-6240-4E9E-8FAC-2D462515F296}" type="slidenum">
              <a:rPr lang="en-US" altLang="en-US" smtClean="0"/>
              <a:pPr eaLnBrk="1" hangingPunct="1"/>
              <a:t>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D01D205-FA06-4AD2-97CB-C42553C1CFBE}" type="slidenum">
              <a:rPr lang="en-US" altLang="en-US" smtClean="0"/>
              <a:pPr eaLnBrk="1" hangingPunct="1"/>
              <a:t>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ACCFBC4-D0F3-40B5-B5EB-9B56DF6FCF85}" type="slidenum">
              <a:rPr lang="en-US" altLang="en-US" smtClean="0"/>
              <a:pPr eaLnBrk="1" hangingPunct="1"/>
              <a:t>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FC8AE40-CC40-4949-A5AA-5047C13CF68A}" type="slidenum">
              <a:rPr lang="en-US" altLang="en-US" smtClean="0"/>
              <a:pPr eaLnBrk="1" hangingPunct="1"/>
              <a:t>10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A03DB6-97D9-4339-9BC1-1BCDB8022701}" type="slidenum">
              <a:rPr lang="en-US" altLang="en-US" smtClean="0"/>
              <a:pPr eaLnBrk="1" hangingPunct="1"/>
              <a:t>11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9EAC11-F2F0-4DDE-A451-5E6DC781D68A}" type="slidenum">
              <a:rPr lang="en-US" altLang="en-US" smtClean="0"/>
              <a:pPr eaLnBrk="1" hangingPunct="1"/>
              <a:t>12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DE7D9BE-3D5B-453D-A48A-4AC7FF65A133}" type="slidenum">
              <a:rPr lang="en-US" altLang="en-US" smtClean="0"/>
              <a:pPr eaLnBrk="1" hangingPunct="1"/>
              <a:t>13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6183265-043E-4192-BAB6-D13DB7F2316D}" type="slidenum">
              <a:rPr lang="en-US" altLang="en-US" smtClean="0"/>
              <a:pPr eaLnBrk="1" hangingPunct="1"/>
              <a:t>14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D2FBF4-25E9-467B-8EA8-8F3D12C7E03C}" type="slidenum">
              <a:rPr lang="en-US" altLang="en-US" smtClean="0"/>
              <a:pPr eaLnBrk="1" hangingPunct="1"/>
              <a:t>15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B96ECD-8EEA-45DE-823E-C8EAEC43F65D}" type="slidenum">
              <a:rPr lang="en-US" altLang="en-US" smtClean="0"/>
              <a:pPr eaLnBrk="1" hangingPunct="1"/>
              <a:t>16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EF50D3E-7AA7-475F-85B8-CA6F4E87C94B}" type="slidenum">
              <a:rPr lang="en-US" altLang="en-US" smtClean="0"/>
              <a:pPr eaLnBrk="1" hangingPunct="1"/>
              <a:t>17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2FD417D-4955-4DE3-9F92-CBC19C799F52}" type="slidenum">
              <a:rPr lang="en-US" altLang="en-US" smtClean="0"/>
              <a:pPr eaLnBrk="1" hangingPunct="1"/>
              <a:t>18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4C3EE76-DAE8-412C-B625-03678B4904AB}" type="slidenum">
              <a:rPr lang="en-US" altLang="en-US" smtClean="0"/>
              <a:pPr eaLnBrk="1" hangingPunct="1"/>
              <a:t>19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B320B91-A586-4A50-9E1C-32A0D9D6D9C4}" type="slidenum">
              <a:rPr lang="en-US" altLang="en-US" smtClean="0"/>
              <a:pPr eaLnBrk="1" hangingPunct="1"/>
              <a:t>21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267825-5324-4FC1-9AD2-2632E0133E05}" type="slidenum">
              <a:rPr lang="en-US" altLang="en-US" smtClean="0"/>
              <a:pPr eaLnBrk="1" hangingPunct="1"/>
              <a:t>22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6AE348B-B785-4B13-853C-852DEEB4D840}" type="slidenum">
              <a:rPr lang="en-US" altLang="en-US" smtClean="0"/>
              <a:pPr eaLnBrk="1" hangingPunct="1"/>
              <a:t>23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89D1420-3536-49D7-A6D3-8AE5FDC4CE3E}" type="slidenum">
              <a:rPr lang="en-US" altLang="en-US" smtClean="0"/>
              <a:pPr eaLnBrk="1" hangingPunct="1"/>
              <a:t>24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FA06E47-99B4-4D62-B1F5-B1205971E3F6}" type="slidenum">
              <a:rPr lang="en-US" altLang="en-US" smtClean="0"/>
              <a:pPr eaLnBrk="1" hangingPunct="1"/>
              <a:t>25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67A1B2-FA4D-48DB-A63C-1BDE873BEE1D}" type="slidenum">
              <a:rPr lang="en-US" altLang="en-US" smtClean="0"/>
              <a:pPr eaLnBrk="1" hangingPunct="1"/>
              <a:t>26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1620967-0D51-489D-BC3C-68D1E86DD140}" type="slidenum">
              <a:rPr lang="en-US" altLang="en-US" smtClean="0"/>
              <a:pPr eaLnBrk="1" hangingPunct="1"/>
              <a:t>27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35BDF27-FBEA-4819-AD5E-85DF2449A5CE}" type="slidenum">
              <a:rPr lang="en-US" altLang="en-US" smtClean="0"/>
              <a:pPr eaLnBrk="1" hangingPunct="1"/>
              <a:t>31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E6D163-9F7A-4FCD-B622-BC7CEED16B5C}" type="slidenum">
              <a:rPr lang="en-US" altLang="en-US" smtClean="0"/>
              <a:pPr eaLnBrk="1" hangingPunct="1"/>
              <a:t>32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1751453-C574-402B-801F-00FB825877D1}" type="slidenum">
              <a:rPr lang="en-US" altLang="en-US" smtClean="0"/>
              <a:pPr eaLnBrk="1" hangingPunct="1"/>
              <a:t>33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C12A1F9-86CC-49DD-B060-36360CDAA5B3}" type="slidenum">
              <a:rPr lang="en-US" altLang="en-US" smtClean="0"/>
              <a:pPr eaLnBrk="1" hangingPunct="1"/>
              <a:t>34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FF0241E-F7A8-4AF6-9B5F-9D1C26B343A1}" type="slidenum">
              <a:rPr lang="en-US" altLang="en-US" smtClean="0"/>
              <a:pPr eaLnBrk="1" hangingPunct="1"/>
              <a:t>35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9A3EC66-E6E7-4634-8588-C0FCFF72132B}" type="slidenum">
              <a:rPr lang="en-US" altLang="en-US" smtClean="0"/>
              <a:pPr eaLnBrk="1" hangingPunct="1"/>
              <a:t>36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5FCC264-D30B-4478-8128-93723256D61C}" type="slidenum">
              <a:rPr lang="en-US" altLang="en-US" smtClean="0"/>
              <a:pPr eaLnBrk="1" hangingPunct="1"/>
              <a:t>37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5FCC264-D30B-4478-8128-93723256D61C}" type="slidenum">
              <a:rPr lang="en-US" altLang="en-US" smtClean="0"/>
              <a:pPr eaLnBrk="1" hangingPunct="1"/>
              <a:t>38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74BE8CE-1989-4BA9-BCDC-3D1B4239FE15}" type="slidenum">
              <a:rPr lang="en-US" altLang="en-US" smtClean="0"/>
              <a:pPr eaLnBrk="1" hangingPunct="1"/>
              <a:t>39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DE909D0-D092-4B5F-BFC7-5F0BE745D62A}" type="slidenum">
              <a:rPr lang="en-US" altLang="en-US" smtClean="0"/>
              <a:pPr eaLnBrk="1" hangingPunct="1"/>
              <a:t>40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59EECF9-5E02-4B6E-9DB8-78EC853E8AB7}" type="slidenum">
              <a:rPr lang="en-US" altLang="en-US" smtClean="0"/>
              <a:pPr eaLnBrk="1" hangingPunct="1"/>
              <a:t>41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3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9BF5B04-F0F8-43DD-AEAD-187325F84E8D}" type="slidenum">
              <a:rPr lang="en-US" altLang="en-US" smtClean="0"/>
              <a:pPr eaLnBrk="1" hangingPunct="1"/>
              <a:t>42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B1F73AE-3D95-4F86-B56A-3E28DEE144B0}" type="slidenum">
              <a:rPr lang="en-US" altLang="en-US" smtClean="0"/>
              <a:pPr eaLnBrk="1" hangingPunct="1"/>
              <a:t>43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3090672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pic>
        <p:nvPicPr>
          <p:cNvPr id="8" name="Picture 7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80" y="6257889"/>
            <a:ext cx="634845" cy="262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5924" y="6222910"/>
            <a:ext cx="6400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2"/>
                </a:solidFill>
              </a:rPr>
              <a:t>C++ Programming: From Problem Analysis to Program Design, Eighth</a:t>
            </a:r>
            <a:r>
              <a:rPr lang="en-US" sz="900" baseline="0" dirty="0">
                <a:solidFill>
                  <a:schemeClr val="accent2"/>
                </a:solidFill>
              </a:rPr>
              <a:t> </a:t>
            </a:r>
            <a:r>
              <a:rPr lang="en-US" sz="900" dirty="0">
                <a:solidFill>
                  <a:schemeClr val="accent2"/>
                </a:solidFill>
              </a:rPr>
              <a:t>Edition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015922" y="6456817"/>
            <a:ext cx="6399830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CL_Logo_DRAW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plit 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53305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84904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5102423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1539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28790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3673475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5722796"/>
            <a:ext cx="4114800" cy="297004"/>
          </a:xfrm>
        </p:spPr>
        <p:txBody>
          <a:bodyPr lIns="91440" tIns="45720" rIns="9144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23912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14984" y="6455663"/>
            <a:ext cx="64008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06" r:id="rId3"/>
    <p:sldLayoutId id="2147484007" r:id="rId4"/>
    <p:sldLayoutId id="2147484008" r:id="rId5"/>
    <p:sldLayoutId id="2147484009" r:id="rId6"/>
    <p:sldLayoutId id="2147484010" r:id="rId7"/>
    <p:sldLayoutId id="2147484011" r:id="rId8"/>
    <p:sldLayoutId id="2147484012" r:id="rId9"/>
    <p:sldLayoutId id="2147484013" r:id="rId1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698500" y="3101444"/>
            <a:ext cx="7747000" cy="366254"/>
          </a:xfrm>
        </p:spPr>
        <p:txBody>
          <a:bodyPr/>
          <a:lstStyle/>
          <a:p>
            <a:r>
              <a:rPr lang="en-US" altLang="en-US" dirty="0"/>
              <a:t>Chapter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233910"/>
          </a:xfrm>
        </p:spPr>
        <p:txBody>
          <a:bodyPr/>
          <a:lstStyle/>
          <a:p>
            <a:r>
              <a:rPr lang="en-US" altLang="en-US" dirty="0"/>
              <a:t>Control Structures I (Selection)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 (1 of 2)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32946"/>
          </a:xfrm>
        </p:spPr>
        <p:txBody>
          <a:bodyPr/>
          <a:lstStyle/>
          <a:p>
            <a:pPr eaLnBrk="1" hangingPunct="1"/>
            <a:r>
              <a:rPr lang="en-US" altLang="en-US" dirty="0"/>
              <a:t>In this chapter, you will:</a:t>
            </a:r>
          </a:p>
          <a:p>
            <a:pPr lvl="1"/>
            <a:r>
              <a:rPr lang="en-US" altLang="en-US" dirty="0"/>
              <a:t>Learn about control structures</a:t>
            </a:r>
          </a:p>
          <a:p>
            <a:pPr lvl="1"/>
            <a:r>
              <a:rPr lang="en-US" altLang="en-US" dirty="0"/>
              <a:t>Examine relational operators</a:t>
            </a:r>
          </a:p>
          <a:p>
            <a:pPr lvl="1"/>
            <a:r>
              <a:rPr lang="en-US" altLang="en-US" dirty="0"/>
              <a:t>Discover how to use the selection control structures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if…else</a:t>
            </a:r>
          </a:p>
          <a:p>
            <a:pPr lvl="1"/>
            <a:r>
              <a:rPr lang="en-US" altLang="en-US" dirty="0"/>
              <a:t>Examine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altLang="en-US" dirty="0"/>
              <a:t> data types and logical (Boolean) expressions</a:t>
            </a:r>
          </a:p>
          <a:p>
            <a:pPr lvl="1"/>
            <a:r>
              <a:rPr lang="en-US" altLang="en-US" dirty="0"/>
              <a:t>Examine logical operators</a:t>
            </a:r>
          </a:p>
          <a:p>
            <a:pPr lvl="1"/>
            <a:r>
              <a:rPr lang="en-US" dirty="0"/>
              <a:t>Explore how to form and evaluate logical (Boolean) expressions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 (2 of 2)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303708"/>
          </a:xfrm>
        </p:spPr>
        <p:txBody>
          <a:bodyPr/>
          <a:lstStyle/>
          <a:p>
            <a:pPr lvl="1">
              <a:defRPr/>
            </a:pPr>
            <a:r>
              <a:rPr lang="en-US" dirty="0"/>
              <a:t>Learn how relational operators work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/>
              <a:t> type</a:t>
            </a:r>
          </a:p>
          <a:p>
            <a:pPr lvl="1">
              <a:defRPr/>
            </a:pPr>
            <a:r>
              <a:rPr lang="en-US" dirty="0"/>
              <a:t>Become aware of short-circuit evaluation</a:t>
            </a:r>
          </a:p>
          <a:p>
            <a:pPr lvl="1">
              <a:defRPr/>
            </a:pPr>
            <a:r>
              <a:rPr lang="en-US" dirty="0"/>
              <a:t>Learn how the conditional operator,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?:</a:t>
            </a:r>
            <a:r>
              <a:rPr lang="en-US" dirty="0"/>
              <a:t>, works</a:t>
            </a:r>
          </a:p>
          <a:p>
            <a:pPr lvl="1">
              <a:defRPr/>
            </a:pPr>
            <a:r>
              <a:rPr lang="en-US" dirty="0"/>
              <a:t>Learn how to use pseudocode to develop, test, and debug a program</a:t>
            </a:r>
          </a:p>
          <a:p>
            <a:pPr lvl="1"/>
            <a:r>
              <a:rPr lang="en-US" altLang="en-US" dirty="0"/>
              <a:t>Discover how to use a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switch</a:t>
            </a:r>
            <a:r>
              <a:rPr lang="en-US" altLang="en-US" dirty="0"/>
              <a:t> statement in a program</a:t>
            </a:r>
          </a:p>
          <a:p>
            <a:pPr lvl="1"/>
            <a:r>
              <a:rPr lang="en-US" altLang="en-US" dirty="0"/>
              <a:t>Learn how to avoid bugs by avoiding partially understood concepts</a:t>
            </a:r>
          </a:p>
          <a:p>
            <a:pPr lvl="1"/>
            <a:r>
              <a:rPr lang="en-US" altLang="en-US" dirty="0"/>
              <a:t>Learn how to use the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assert</a:t>
            </a:r>
            <a:r>
              <a:rPr lang="en-US" altLang="en-US" dirty="0"/>
              <a:t> function to terminate a program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Control Structures (1 of 2)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779222"/>
          </a:xfrm>
        </p:spPr>
        <p:txBody>
          <a:bodyPr/>
          <a:lstStyle/>
          <a:p>
            <a:pPr eaLnBrk="1" hangingPunct="1"/>
            <a:r>
              <a:rPr lang="en-US" altLang="en-US" dirty="0"/>
              <a:t>A computer can proceed:</a:t>
            </a:r>
          </a:p>
          <a:p>
            <a:pPr lvl="1" eaLnBrk="1" hangingPunct="1"/>
            <a:r>
              <a:rPr lang="en-US" altLang="en-US" dirty="0"/>
              <a:t>In sequence</a:t>
            </a:r>
          </a:p>
          <a:p>
            <a:pPr lvl="1" eaLnBrk="1" hangingPunct="1"/>
            <a:r>
              <a:rPr lang="en-US" altLang="en-US" dirty="0"/>
              <a:t>Selectively (branch): making a choice</a:t>
            </a:r>
          </a:p>
          <a:p>
            <a:pPr lvl="1" eaLnBrk="1" hangingPunct="1"/>
            <a:r>
              <a:rPr lang="en-US" altLang="en-US" dirty="0"/>
              <a:t>Repetitively: looping</a:t>
            </a:r>
          </a:p>
          <a:p>
            <a:pPr lvl="1" eaLnBrk="1" hangingPunct="1"/>
            <a:r>
              <a:rPr lang="en-US" altLang="en-US" dirty="0"/>
              <a:t>By calling a function</a:t>
            </a:r>
          </a:p>
          <a:p>
            <a:pPr eaLnBrk="1" hangingPunct="1"/>
            <a:r>
              <a:rPr lang="en-US" altLang="en-US" dirty="0"/>
              <a:t>The two most common control structures are:</a:t>
            </a:r>
          </a:p>
          <a:p>
            <a:pPr lvl="1" eaLnBrk="1" hangingPunct="1"/>
            <a:r>
              <a:rPr lang="en-US" altLang="en-US" dirty="0"/>
              <a:t>Selection</a:t>
            </a:r>
          </a:p>
          <a:p>
            <a:pPr lvl="1" eaLnBrk="1" hangingPunct="1"/>
            <a:r>
              <a:rPr lang="en-US" altLang="en-US" dirty="0"/>
              <a:t>Repetition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Control Structures (2 of 2)</a:t>
            </a:r>
          </a:p>
        </p:txBody>
      </p:sp>
      <p:pic>
        <p:nvPicPr>
          <p:cNvPr id="20488" name="Picture 8" descr="Figure 4-1 illustrates three types of program flow: sequence, selection, and repeti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315200" cy="3985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685800" y="5378572"/>
            <a:ext cx="6949440" cy="297004"/>
          </a:xfrm>
        </p:spPr>
        <p:txBody>
          <a:bodyPr/>
          <a:lstStyle/>
          <a:p>
            <a:r>
              <a:rPr lang="en-US" b="1" dirty="0"/>
              <a:t>FIGURE 4-1 </a:t>
            </a:r>
            <a:r>
              <a:rPr lang="en-US" dirty="0"/>
              <a:t>Flow of execution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Selection: </a:t>
            </a:r>
            <a:r>
              <a:rPr lang="en-US" altLang="en-US" dirty="0">
                <a:latin typeface="Courier New" pitchFamily="49" charset="0"/>
              </a:rPr>
              <a:t>if</a:t>
            </a:r>
            <a:r>
              <a:rPr lang="en-US" altLang="en-US" dirty="0"/>
              <a:t> and </a:t>
            </a:r>
            <a:r>
              <a:rPr lang="en-US" altLang="en-US" dirty="0">
                <a:latin typeface="Courier New" pitchFamily="49" charset="0"/>
              </a:rPr>
              <a:t>if...else</a:t>
            </a:r>
            <a:endParaRPr lang="en-US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expression that evaluates to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altLang="en-US" dirty="0">
                <a:cs typeface="Courier New" pitchFamily="49" charset="0"/>
              </a:rPr>
              <a:t> is called a logical expression</a:t>
            </a:r>
          </a:p>
          <a:p>
            <a:pPr lvl="1"/>
            <a:r>
              <a:rPr lang="en-US" altLang="en-US" dirty="0">
                <a:cs typeface="Courier New" pitchFamily="49" charset="0"/>
              </a:rPr>
              <a:t>“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 is greater than 3</a:t>
            </a:r>
            <a:r>
              <a:rPr lang="en-US" altLang="en-US" dirty="0">
                <a:cs typeface="Courier New" pitchFamily="49" charset="0"/>
              </a:rPr>
              <a:t>” is true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/>
              <a:t>TABLE 4-1 </a:t>
            </a:r>
            <a:r>
              <a:rPr lang="en-US" dirty="0"/>
              <a:t>Relational Operators in C++</a:t>
            </a:r>
          </a:p>
        </p:txBody>
      </p:sp>
      <p:graphicFrame>
        <p:nvGraphicFramePr>
          <p:cNvPr id="5" name="Table 4" descr="Table 4-1 lists C++ relational operators along wtih a description of each:&#10;Operator Description&#10;== equal to&#10;!= not equal to&#10;&lt; less than&#10;&lt;= less than or equal to&#10;&gt; greater than&#10;&gt;= greater than or equal 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175249"/>
              </p:ext>
            </p:extLst>
          </p:nvPr>
        </p:nvGraphicFramePr>
        <p:xfrm>
          <a:off x="990600" y="1676400"/>
          <a:ext cx="540067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==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equal to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!=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equal to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&lt;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 than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 than or equal to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greater than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&gt;=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greater than or equal to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65125" y="4671536"/>
            <a:ext cx="8415338" cy="738664"/>
          </a:xfrm>
        </p:spPr>
        <p:txBody>
          <a:bodyPr/>
          <a:lstStyle/>
          <a:p>
            <a:r>
              <a:rPr lang="en-US" dirty="0"/>
              <a:t>Each relational operator is a binary operator (requires two operands)</a:t>
            </a:r>
          </a:p>
          <a:p>
            <a:r>
              <a:rPr lang="en-US" dirty="0"/>
              <a:t>Expressions using these operators always evaluate to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38183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Relational Operators and Simple Data Types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r>
              <a:rPr lang="en-US" dirty="0"/>
              <a:t>You can use the relational operators with all three simple data types</a:t>
            </a:r>
          </a:p>
        </p:txBody>
      </p:sp>
      <p:pic>
        <p:nvPicPr>
          <p:cNvPr id="23558" name="Picture 6" descr="Example 4-1 shows expressions using both integers and real number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6400800" cy="2272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Comparing Characters</a:t>
            </a:r>
          </a:p>
        </p:txBody>
      </p:sp>
      <p:sp>
        <p:nvSpPr>
          <p:cNvPr id="25603" name="Content Placeholder 5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439129"/>
          </a:xfrm>
        </p:spPr>
        <p:txBody>
          <a:bodyPr/>
          <a:lstStyle/>
          <a:p>
            <a:pPr eaLnBrk="1" hangingPunct="1"/>
            <a:r>
              <a:rPr lang="en-US" altLang="en-US" dirty="0"/>
              <a:t>In an expression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altLang="en-US" dirty="0"/>
              <a:t> values using relational operators:</a:t>
            </a:r>
          </a:p>
          <a:p>
            <a:pPr lvl="1" eaLnBrk="1" hangingPunct="1"/>
            <a:r>
              <a:rPr lang="en-US" altLang="en-US" dirty="0"/>
              <a:t>The result depends on the machine’s collating sequence</a:t>
            </a:r>
          </a:p>
          <a:p>
            <a:pPr lvl="2"/>
            <a:r>
              <a:rPr lang="en-US" altLang="en-US" dirty="0"/>
              <a:t>ASCII character set</a:t>
            </a:r>
          </a:p>
          <a:p>
            <a:pPr eaLnBrk="1" hangingPunct="1"/>
            <a:r>
              <a:rPr lang="en-US" altLang="en-US" dirty="0"/>
              <a:t>Logical (Boolean) expressions:</a:t>
            </a:r>
          </a:p>
          <a:p>
            <a:pPr lvl="1" eaLnBrk="1" hangingPunct="1"/>
            <a:r>
              <a:rPr lang="en-US" altLang="en-US" dirty="0"/>
              <a:t>Include expressions such as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4 &lt; 6</a:t>
            </a:r>
            <a:r>
              <a:rPr lang="en-US" altLang="en-US" b="1" dirty="0"/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'R' &gt; 'T’</a:t>
            </a:r>
          </a:p>
          <a:p>
            <a:pPr lvl="1" eaLnBrk="1" hangingPunct="1"/>
            <a:r>
              <a:rPr lang="en-US" altLang="en-US" dirty="0"/>
              <a:t>Return an integer value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altLang="en-US" dirty="0"/>
              <a:t> if the logical expression evaluates to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  <a:cs typeface="Courier New" pitchFamily="49" charset="0"/>
              </a:rPr>
              <a:t>true</a:t>
            </a:r>
            <a:endParaRPr lang="en-US" altLang="en-US" b="1" dirty="0">
              <a:solidFill>
                <a:srgbClr val="638DAD"/>
              </a:solidFill>
            </a:endParaRPr>
          </a:p>
          <a:p>
            <a:pPr lvl="1" eaLnBrk="1" hangingPunct="1"/>
            <a:r>
              <a:rPr lang="en-US" altLang="en-US" dirty="0"/>
              <a:t>Return an integer value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altLang="en-US" dirty="0"/>
              <a:t> otherwise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One-Way Selection (1 of 2)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>
              <a:spcBef>
                <a:spcPts val="675"/>
              </a:spcBef>
            </a:pPr>
            <a:r>
              <a:rPr lang="en-US" altLang="en-US" dirty="0"/>
              <a:t>One-way selection syntax</a:t>
            </a:r>
          </a:p>
        </p:txBody>
      </p:sp>
      <p:pic>
        <p:nvPicPr>
          <p:cNvPr id="26631" name="Picture 7" descr="if (expression)&#10;    stat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22669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2819401"/>
            <a:ext cx="8415338" cy="220881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en-US" dirty="0"/>
              <a:t>The statement is:</a:t>
            </a:r>
          </a:p>
          <a:p>
            <a:pPr lvl="1">
              <a:spcBef>
                <a:spcPts val="675"/>
              </a:spcBef>
            </a:pPr>
            <a:r>
              <a:rPr lang="en-US" altLang="en-US" dirty="0"/>
              <a:t>Executed if the value of the expression is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</a:p>
          <a:p>
            <a:pPr lvl="1">
              <a:spcBef>
                <a:spcPts val="675"/>
              </a:spcBef>
            </a:pPr>
            <a:r>
              <a:rPr lang="en-US" altLang="en-US" dirty="0"/>
              <a:t>Bypassed if the value is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  <a:r>
              <a:rPr lang="en-US" altLang="en-US" dirty="0"/>
              <a:t>;  program goes to the next statement</a:t>
            </a:r>
          </a:p>
          <a:p>
            <a:pPr>
              <a:spcBef>
                <a:spcPts val="675"/>
              </a:spcBef>
            </a:pPr>
            <a:r>
              <a:rPr lang="en-US" altLang="en-US" dirty="0"/>
              <a:t>The </a:t>
            </a:r>
            <a:r>
              <a:rPr lang="en-US" altLang="en-US" b="1" dirty="0">
                <a:latin typeface="Courier New" pitchFamily="49" charset="0"/>
              </a:rPr>
              <a:t>expression</a:t>
            </a:r>
            <a:r>
              <a:rPr lang="en-US" altLang="en-US" dirty="0">
                <a:latin typeface="Courier New" pitchFamily="49" charset="0"/>
              </a:rPr>
              <a:t> </a:t>
            </a:r>
            <a:r>
              <a:rPr lang="en-US" altLang="en-US" dirty="0"/>
              <a:t>is also called a </a:t>
            </a:r>
            <a:r>
              <a:rPr lang="en-US" altLang="en-US" u="sng" dirty="0"/>
              <a:t>decision maker</a:t>
            </a:r>
          </a:p>
          <a:p>
            <a:pPr>
              <a:spcBef>
                <a:spcPts val="675"/>
              </a:spcBef>
            </a:pPr>
            <a:r>
              <a:rPr lang="en-US" altLang="en-US" dirty="0"/>
              <a:t>The statement following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dirty="0"/>
              <a:t> is also called the </a:t>
            </a:r>
            <a:r>
              <a:rPr lang="en-US" altLang="en-US" u="sng" dirty="0"/>
              <a:t>action statement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One-Way Selection (2 of 2)</a:t>
            </a:r>
          </a:p>
        </p:txBody>
      </p:sp>
      <p:pic>
        <p:nvPicPr>
          <p:cNvPr id="27655" name="Picture 7" descr="Figure 4-2 shows the flow of execution of the if statement (one-way selection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75461"/>
            <a:ext cx="6400800" cy="2482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0600" y="4288326"/>
            <a:ext cx="6949440" cy="297004"/>
          </a:xfrm>
        </p:spPr>
        <p:txBody>
          <a:bodyPr/>
          <a:lstStyle/>
          <a:p>
            <a:r>
              <a:rPr lang="en-US" b="1" dirty="0"/>
              <a:t>FIGURE 4-2 </a:t>
            </a:r>
            <a:r>
              <a:rPr lang="en-US" dirty="0"/>
              <a:t>One-way selection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Two-Way Selection (1 of 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/>
            <a:r>
              <a:rPr lang="en-US" altLang="en-US" dirty="0"/>
              <a:t>Two-way selection syntax</a:t>
            </a:r>
          </a:p>
        </p:txBody>
      </p:sp>
      <p:pic>
        <p:nvPicPr>
          <p:cNvPr id="28679" name="Picture 7" descr="if (expression)&#10;    statement1&#10;else&#10;    statement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23526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3276601"/>
            <a:ext cx="8415338" cy="1371145"/>
          </a:xfrm>
        </p:spPr>
        <p:txBody>
          <a:bodyPr/>
          <a:lstStyle/>
          <a:p>
            <a:r>
              <a:rPr lang="en-US" altLang="en-US" dirty="0"/>
              <a:t>If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statement1</a:t>
            </a:r>
            <a:r>
              <a:rPr lang="en-US" altLang="en-US" dirty="0"/>
              <a:t> is executed; otherwise,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statement2</a:t>
            </a:r>
            <a:r>
              <a:rPr lang="en-US" altLang="en-US" dirty="0"/>
              <a:t> is executed</a:t>
            </a:r>
          </a:p>
          <a:p>
            <a:pPr lvl="1"/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statement1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statement2</a:t>
            </a:r>
            <a:r>
              <a:rPr lang="en-US" altLang="en-US" dirty="0"/>
              <a:t> are any C++ statements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Two-Way Selection (2 of 2)</a:t>
            </a:r>
          </a:p>
        </p:txBody>
      </p:sp>
      <p:pic>
        <p:nvPicPr>
          <p:cNvPr id="29703" name="Picture 7" descr="Figure 4-3 shows the flow of execution of the if. . .else statement (two-way selection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76413"/>
            <a:ext cx="6400800" cy="250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77696" y="4307441"/>
            <a:ext cx="6949440" cy="297004"/>
          </a:xfrm>
        </p:spPr>
        <p:txBody>
          <a:bodyPr/>
          <a:lstStyle/>
          <a:p>
            <a:r>
              <a:rPr lang="en-US" b="1" dirty="0"/>
              <a:t>FIGURE 4-3 </a:t>
            </a:r>
            <a:r>
              <a:rPr lang="en-US" dirty="0"/>
              <a:t>Two-way selection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04142"/>
            <a:ext cx="8026400" cy="300467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urier New" pitchFamily="49" charset="0"/>
              </a:rPr>
              <a:t>int</a:t>
            </a:r>
            <a:r>
              <a:rPr lang="en-US" altLang="en-US" dirty="0"/>
              <a:t> Data Type and Logical (Boolean) Expressions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603790"/>
          </a:xfrm>
        </p:spPr>
        <p:txBody>
          <a:bodyPr/>
          <a:lstStyle/>
          <a:p>
            <a:pPr eaLnBrk="1" hangingPunct="1"/>
            <a:r>
              <a:rPr lang="en-US" altLang="en-US" dirty="0"/>
              <a:t>Earlier versions of C++ did not provide built-in data types that had Boolean values</a:t>
            </a:r>
          </a:p>
          <a:p>
            <a:pPr eaLnBrk="1" hangingPunct="1"/>
            <a:r>
              <a:rPr lang="en-US" altLang="en-US" dirty="0"/>
              <a:t>Logical expressions evaluate to either </a:t>
            </a:r>
            <a:r>
              <a:rPr lang="en-US" altLang="en-US" b="1" dirty="0"/>
              <a:t>1</a:t>
            </a:r>
            <a:r>
              <a:rPr lang="en-US" altLang="en-US" dirty="0"/>
              <a:t> or </a:t>
            </a:r>
            <a:r>
              <a:rPr lang="en-US" altLang="en-US" b="1" dirty="0"/>
              <a:t>0</a:t>
            </a:r>
          </a:p>
          <a:p>
            <a:pPr lvl="1" eaLnBrk="1" hangingPunct="1"/>
            <a:r>
              <a:rPr lang="en-US" altLang="en-US" dirty="0"/>
              <a:t>Logical expression value was stored in a variable of the data type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int</a:t>
            </a:r>
          </a:p>
          <a:p>
            <a:pPr eaLnBrk="1" hangingPunct="1"/>
            <a:r>
              <a:rPr lang="en-US" altLang="en-US" dirty="0"/>
              <a:t>You can use the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int</a:t>
            </a:r>
            <a:r>
              <a:rPr lang="en-US" altLang="en-US" dirty="0"/>
              <a:t> data type to manipulate logical (Boolean) expressions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Courier New" pitchFamily="49" charset="0"/>
              </a:rPr>
              <a:t>bool</a:t>
            </a:r>
            <a:r>
              <a:rPr lang="en-US" altLang="en-US" dirty="0"/>
              <a:t> Data Type and Logical (Boolean) Expressions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70209"/>
          </a:xfrm>
        </p:spPr>
        <p:txBody>
          <a:bodyPr/>
          <a:lstStyle/>
          <a:p>
            <a:pPr eaLnBrk="1" hangingPunct="1"/>
            <a:r>
              <a:rPr lang="en-US" altLang="en-US" dirty="0"/>
              <a:t>The data type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bool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has logical (Boolean) values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</a:p>
          <a:p>
            <a:pPr eaLnBrk="1" hangingPunct="1"/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bool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  <a:r>
              <a:rPr lang="en-US" altLang="en-US" dirty="0"/>
              <a:t> are reserved words</a:t>
            </a:r>
          </a:p>
          <a:p>
            <a:pPr eaLnBrk="1" hangingPunct="1"/>
            <a:r>
              <a:rPr lang="en-US" altLang="en-US" dirty="0"/>
              <a:t>The identifier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 has the value </a:t>
            </a:r>
            <a:r>
              <a:rPr lang="en-US" altLang="en-US" b="1" dirty="0">
                <a:latin typeface="Courier New" pitchFamily="49" charset="0"/>
              </a:rPr>
              <a:t>1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/>
              <a:t>The identifier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  <a:r>
              <a:rPr lang="en-US" altLang="en-US" dirty="0"/>
              <a:t> has the value </a:t>
            </a:r>
            <a:r>
              <a:rPr lang="en-US" altLang="en-US" b="1" dirty="0">
                <a:latin typeface="Courier New" pitchFamily="49" charset="0"/>
              </a:rPr>
              <a:t>0</a:t>
            </a:r>
          </a:p>
          <a:p>
            <a:pPr eaLnBrk="1" hangingPunct="1"/>
            <a:endParaRPr lang="en-US" altLang="en-US" sz="2600" dirty="0">
              <a:latin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(Boolean) Operators and Logical Expressions (1 of 5)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/>
            <a:r>
              <a:rPr lang="en-US" altLang="en-US" u="sng" dirty="0"/>
              <a:t>Logical (Boolean) operators</a:t>
            </a:r>
            <a:r>
              <a:rPr lang="en-US" altLang="en-US" dirty="0"/>
              <a:t> enable you to combine logical expressions</a:t>
            </a:r>
          </a:p>
        </p:txBody>
      </p:sp>
      <p:sp>
        <p:nvSpPr>
          <p:cNvPr id="10" name="Text Placeholder 3"/>
          <p:cNvSpPr txBox="1">
            <a:spLocks/>
          </p:cNvSpPr>
          <p:nvPr/>
        </p:nvSpPr>
        <p:spPr>
          <a:xfrm>
            <a:off x="1447800" y="2438400"/>
            <a:ext cx="6949440" cy="297004"/>
          </a:xfrm>
          <a:prstGeom prst="rect">
            <a:avLst/>
          </a:prstGeom>
        </p:spPr>
        <p:txBody>
          <a:bodyPr lIns="45720" rIns="45720"/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1400" b="1" dirty="0"/>
              <a:t>TABLE 4-2 </a:t>
            </a:r>
            <a:r>
              <a:rPr lang="en-US" sz="1400" dirty="0"/>
              <a:t>Logical (Boolean) Operators in C++</a:t>
            </a:r>
          </a:p>
        </p:txBody>
      </p:sp>
      <p:graphicFrame>
        <p:nvGraphicFramePr>
          <p:cNvPr id="9" name="Table 8" descr="fTable 4-1 lists C++ relational operators along wtih a description of each:&#10;Operator Description&#10;== equal to&#10;!= not equal to&#10;&lt; less than&#10;&lt;= less than or equal to&#10;&gt; greater than&#10;&gt;= greater than or equal 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42309"/>
              </p:ext>
            </p:extLst>
          </p:nvPr>
        </p:nvGraphicFramePr>
        <p:xfrm>
          <a:off x="1447800" y="2743200"/>
          <a:ext cx="54006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Operator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!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&amp;&amp;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||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(Boolean) Operators and Logical Expressions (2 of 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0600" y="1340048"/>
            <a:ext cx="6949440" cy="297004"/>
          </a:xfrm>
        </p:spPr>
        <p:txBody>
          <a:bodyPr/>
          <a:lstStyle/>
          <a:p>
            <a:r>
              <a:rPr lang="en-US" b="1" dirty="0"/>
              <a:t>TABLE 4-3 </a:t>
            </a: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dirty="0"/>
              <a:t> </a:t>
            </a:r>
            <a:r>
              <a:rPr lang="en-US" dirty="0"/>
              <a:t>(Not) Operator</a:t>
            </a:r>
          </a:p>
        </p:txBody>
      </p:sp>
      <p:graphicFrame>
        <p:nvGraphicFramePr>
          <p:cNvPr id="7" name="Table 6" descr="Table 4-3 defines the operator ! (not)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920470"/>
              </p:ext>
            </p:extLst>
          </p:nvPr>
        </p:nvGraphicFramePr>
        <p:xfrm>
          <a:off x="990600" y="1676400"/>
          <a:ext cx="54006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!(Expression)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3798" name="Picture 6" descr="Example 4-10 gives two examples of expressions with the ! operato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29000"/>
            <a:ext cx="6400800" cy="1412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(Boolean) Operators and Logical Expressions (3 of 5)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/>
              <a:t>TABLE 4-4 </a:t>
            </a: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b="1" dirty="0"/>
              <a:t> </a:t>
            </a:r>
            <a:r>
              <a:rPr lang="en-US" dirty="0"/>
              <a:t>(And) Operator</a:t>
            </a:r>
          </a:p>
        </p:txBody>
      </p:sp>
      <p:graphicFrame>
        <p:nvGraphicFramePr>
          <p:cNvPr id="9" name="Table 8" descr="Table 4-4 defines the operator &amp;&amp; (and)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862639"/>
              </p:ext>
            </p:extLst>
          </p:nvPr>
        </p:nvGraphicFramePr>
        <p:xfrm>
          <a:off x="990600" y="1676400"/>
          <a:ext cx="694944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Expression1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&amp;&amp;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Expression2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38DAD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822" name="Picture 6" descr="Example 4-11 gives two examples of expressions with the &amp;&amp; operato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733800"/>
            <a:ext cx="6400800" cy="232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(Boolean) Operators and Logical Expressions (4 of 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0600" y="1340048"/>
            <a:ext cx="6949440" cy="297004"/>
          </a:xfrm>
        </p:spPr>
        <p:txBody>
          <a:bodyPr/>
          <a:lstStyle/>
          <a:p>
            <a:r>
              <a:rPr lang="en-US" b="1" dirty="0"/>
              <a:t>TABLE 4-5 </a:t>
            </a: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b="1" dirty="0"/>
              <a:t> </a:t>
            </a:r>
            <a:r>
              <a:rPr lang="en-US" dirty="0"/>
              <a:t>(Or) Operator</a:t>
            </a:r>
          </a:p>
        </p:txBody>
      </p:sp>
      <p:graphicFrame>
        <p:nvGraphicFramePr>
          <p:cNvPr id="7" name="Table 6" descr="Table 4-5 defines the operator || (or)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3303"/>
              </p:ext>
            </p:extLst>
          </p:nvPr>
        </p:nvGraphicFramePr>
        <p:xfrm>
          <a:off x="990600" y="1676400"/>
          <a:ext cx="694944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Expression1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||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Expression2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38DAD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(nonzero)</a:t>
                      </a:r>
                      <a:endParaRPr lang="en-US" sz="14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(1)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(0)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Logical (Boolean) Operators and Logical Expressions (5 of 5)</a:t>
            </a:r>
            <a:endParaRPr lang="en-US" dirty="0"/>
          </a:p>
        </p:txBody>
      </p:sp>
      <p:pic>
        <p:nvPicPr>
          <p:cNvPr id="157698" name="Picture 2" descr="Example 4-12 gives three examples of expressions with the || operato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81138"/>
            <a:ext cx="6400800" cy="293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226891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(1 of 5)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Relational and logical operators are evaluated from left to right</a:t>
            </a:r>
          </a:p>
          <a:p>
            <a:pPr lvl="1" eaLnBrk="1" hangingPunct="1"/>
            <a:r>
              <a:rPr lang="en-US" altLang="en-US" dirty="0"/>
              <a:t>The </a:t>
            </a:r>
            <a:r>
              <a:rPr lang="en-US" altLang="en-US" u="sng" dirty="0"/>
              <a:t>associativity</a:t>
            </a:r>
            <a:r>
              <a:rPr lang="en-US" altLang="en-US" dirty="0"/>
              <a:t> is left to right</a:t>
            </a:r>
          </a:p>
          <a:p>
            <a:pPr eaLnBrk="1" hangingPunct="1"/>
            <a:r>
              <a:rPr lang="en-US" altLang="en-US" dirty="0"/>
              <a:t>Parentheses can override precedence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(2 of 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0600" y="1340048"/>
            <a:ext cx="6949440" cy="297004"/>
          </a:xfrm>
        </p:spPr>
        <p:txBody>
          <a:bodyPr/>
          <a:lstStyle/>
          <a:p>
            <a:r>
              <a:rPr lang="en-US" b="1" dirty="0"/>
              <a:t>TABLE 4-6 </a:t>
            </a:r>
            <a:r>
              <a:rPr lang="en-US" dirty="0"/>
              <a:t>Precedence of Operators</a:t>
            </a:r>
          </a:p>
        </p:txBody>
      </p:sp>
      <p:graphicFrame>
        <p:nvGraphicFramePr>
          <p:cNvPr id="9" name="Table 8" descr="Table 4-6 shows the order of precedence of some C++ operators, including the arithmetic, relational, and logical operators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891300"/>
              </p:ext>
            </p:extLst>
          </p:nvPr>
        </p:nvGraphicFramePr>
        <p:xfrm>
          <a:off x="990600" y="1676400"/>
          <a:ext cx="540067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Operators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A7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Precedence</a:t>
                      </a:r>
                    </a:p>
                  </a:txBody>
                  <a:tcPr>
                    <a:solidFill>
                      <a:srgbClr val="D1A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!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(unary operators)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/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%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-</a:t>
                      </a:r>
                      <a:endParaRPr lang="en-US" sz="16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third</a:t>
                      </a:r>
                      <a:endParaRPr lang="en-US" sz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&gt;=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fourth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!=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fifth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&amp;&amp;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sixth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||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seventh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(assignment operator)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</a:t>
                      </a:r>
                    </a:p>
                  </a:txBody>
                  <a:tcPr anchor="ctr">
                    <a:solidFill>
                      <a:srgbClr val="F2E7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(3 of 5)</a:t>
            </a:r>
          </a:p>
        </p:txBody>
      </p:sp>
      <p:pic>
        <p:nvPicPr>
          <p:cNvPr id="38918" name="Picture 6" descr="Example 4-13 illustrates how logical expressions consisting of variables are evaluated. This portion shows the declaration of variabl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05000"/>
            <a:ext cx="6400800" cy="2033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(4 of 5)</a:t>
            </a:r>
          </a:p>
        </p:txBody>
      </p:sp>
      <p:pic>
        <p:nvPicPr>
          <p:cNvPr id="39942" name="Picture 6" descr="Example 4-13 (continued): A series of five expressions are shown with the resulting value/explanation for each express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71600"/>
            <a:ext cx="6400800" cy="435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Order of Precedence (5 of 5)</a:t>
            </a:r>
          </a:p>
        </p:txBody>
      </p:sp>
      <p:pic>
        <p:nvPicPr>
          <p:cNvPr id="40966" name="Picture 6" descr="Example 4-13 (continued): Three more expressions are shown with the resulting value/explanation for each express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19577"/>
            <a:ext cx="6400800" cy="3790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altLang="en-US" dirty="0"/>
              <a:t> Type (1 of 5)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122119"/>
          </a:xfrm>
        </p:spPr>
        <p:txBody>
          <a:bodyPr/>
          <a:lstStyle/>
          <a:p>
            <a:r>
              <a:rPr lang="en-US" altLang="en-US" dirty="0"/>
              <a:t>Relational operators can be applied to variables of type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</a:p>
          <a:p>
            <a:pPr lvl="1"/>
            <a:r>
              <a:rPr lang="en-US" altLang="en-US" dirty="0"/>
              <a:t>Strings are compared character by character, starting with the first character</a:t>
            </a:r>
          </a:p>
          <a:p>
            <a:pPr lvl="1"/>
            <a:r>
              <a:rPr lang="en-US" altLang="en-US" dirty="0"/>
              <a:t>Comparison continues until either a mismatch is found or all characters are found equal</a:t>
            </a:r>
          </a:p>
          <a:p>
            <a:pPr lvl="1"/>
            <a:r>
              <a:rPr lang="en-US" altLang="en-US" dirty="0"/>
              <a:t>If two strings of different lengths are compared and the comparison is equal to the last character of the shorter string</a:t>
            </a:r>
          </a:p>
          <a:p>
            <a:pPr lvl="2"/>
            <a:r>
              <a:rPr lang="en-US" altLang="en-US" dirty="0"/>
              <a:t>The shorter string is less than the larger string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Type (2 of 5)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43014" name="Picture 6" descr="&#10;Example 4-13 illustrates how logical expressions consisting of variables are evaluated. The example begins with the following declarations:&#10;string str1 = &quot;Hello&quot;;&#10;string str2 = &quot;Hi&quot;;&#10;string str3 = &quot;Air&quot;;&#10;string str4 = &quot;Bill&quot;;&#10;string str4 = &quot;Big&quot;;&#10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6400800" cy="2006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Type (3 of 5)</a:t>
            </a:r>
            <a:endParaRPr lang="en-US" dirty="0"/>
          </a:p>
        </p:txBody>
      </p:sp>
      <p:graphicFrame>
        <p:nvGraphicFramePr>
          <p:cNvPr id="6" name="Table 5" descr="Example 4-13 (continued) with these expressions explained:&#10;str1 &lt; str2&#10;str1 &gt; &quot;Hen&quot;&#10;str3 &lt; &quot;An&quo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88356"/>
              </p:ext>
            </p:extLst>
          </p:nvPr>
        </p:nvGraphicFramePr>
        <p:xfrm>
          <a:off x="502920" y="1295400"/>
          <a:ext cx="8138161" cy="4668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Value/Explanation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str1 &lt; str2</a:t>
                      </a:r>
                      <a:endParaRPr lang="en-US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 "Hello"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 = "Hi"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character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 the same, but the second character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'e'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 than the second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'i'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&lt; str2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&gt; "Hen"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 "Hello"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two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"Hen"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 the same, but the third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'l'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 than the third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character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'n'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"Hen"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Therefore,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&gt; "Hen</a:t>
                      </a:r>
                      <a:r>
                        <a:rPr lang="en-US" sz="1600" b="0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&lt; "An"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= "Air"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"An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same, but the second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'i'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"Air"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than the second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'n'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"An"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&lt;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"An"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533289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Type (4 of 5)</a:t>
            </a:r>
            <a:endParaRPr lang="en-US" dirty="0"/>
          </a:p>
        </p:txBody>
      </p:sp>
      <p:graphicFrame>
        <p:nvGraphicFramePr>
          <p:cNvPr id="6" name="Table 5" descr="Example 4-13 (continued) with these expressions explained:&#10;str1 == &quot;hello&quot;&#10;str3 &lt;= str4&#10;str2 &gt; str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370234"/>
              </p:ext>
            </p:extLst>
          </p:nvPr>
        </p:nvGraphicFramePr>
        <p:xfrm>
          <a:off x="502920" y="1295400"/>
          <a:ext cx="8138161" cy="4119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Value/Explanation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== "hello"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 "Hello"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than 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"hello"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because the ASCII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72, and the ASCII value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104.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str1 == "hello"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&lt;= str4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= "Air"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= "Bill"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character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'A'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less than 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'B'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str3 &lt;= str4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 &gt; str4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 = "Hi"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= "Bill"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ourier New" panose="02070309020205020404" pitchFamily="49" charset="0"/>
                        </a:rPr>
                        <a:t>.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'H'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greater than the first character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'B'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str2 &gt; str4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37567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r>
              <a:rPr lang="en-US" altLang="en-US" dirty="0"/>
              <a:t>Relational Operators and the </a:t>
            </a:r>
            <a:r>
              <a:rPr lang="en-US" altLang="en-US" dirty="0">
                <a:latin typeface="Courier New" pitchFamily="49" charset="0"/>
              </a:rPr>
              <a:t>string</a:t>
            </a:r>
            <a:r>
              <a:rPr lang="en-US" altLang="en-US" dirty="0"/>
              <a:t> Type (5 of 5)</a:t>
            </a:r>
            <a:endParaRPr lang="en-US" dirty="0"/>
          </a:p>
        </p:txBody>
      </p:sp>
      <p:graphicFrame>
        <p:nvGraphicFramePr>
          <p:cNvPr id="6" name="Table 5" descr="Example 4-13 (continued) with these expressions explained:&#10;str4 &gt;= &quot;Billy&quot;&#10;str5 &lt;= &quot;Bigger&quot;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99512"/>
              </p:ext>
            </p:extLst>
          </p:nvPr>
        </p:nvGraphicFramePr>
        <p:xfrm>
          <a:off x="502920" y="1295400"/>
          <a:ext cx="8138161" cy="378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Expression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Value/Explanation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&gt;= "Billy"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= "Bill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It has four characters 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"Billy"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has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five characters. 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the shorter string. All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four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 the same as the corresponding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 four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"Billy"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Billy"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the larger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string. 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str4 &gt;= "Billy"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false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 &lt;= "Bigger"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 = "Big"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It has three characters 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"Bigger"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has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six characters. 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 the shorter string. All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three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</a:t>
                      </a:r>
                      <a:r>
                        <a:rPr lang="en-US" sz="18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are the same as the corresponding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first three characters of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"Bigger"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and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"Bigger"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the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larger string. Therefore, </a:t>
                      </a:r>
                      <a:r>
                        <a:rPr lang="en-US" sz="1600" b="1" i="0" u="none" strike="noStrike" kern="120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str5 &lt;= "Bigger"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</a:t>
                      </a:r>
                      <a:r>
                        <a:rPr lang="en-US" sz="1600" b="1" i="0" u="none" strike="noStrike" kern="1200" baseline="0" dirty="0">
                          <a:solidFill>
                            <a:srgbClr val="638DAD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true</a:t>
                      </a:r>
                      <a:r>
                        <a:rPr 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401055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Compound (Block of) Statements (1 of 2)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 eaLnBrk="1" hangingPunct="1"/>
            <a:r>
              <a:rPr lang="en-US" altLang="en-US" dirty="0"/>
              <a:t>A </a:t>
            </a:r>
            <a:r>
              <a:rPr lang="en-US" altLang="en-US" u="sng" dirty="0"/>
              <a:t>compound statement</a:t>
            </a:r>
            <a:r>
              <a:rPr lang="en-US" altLang="en-US" dirty="0"/>
              <a:t> (</a:t>
            </a:r>
            <a:r>
              <a:rPr lang="en-US" altLang="en-US" u="sng" dirty="0"/>
              <a:t>block of statements</a:t>
            </a:r>
            <a:r>
              <a:rPr lang="en-US" altLang="en-US" dirty="0"/>
              <a:t>) has this form:</a:t>
            </a:r>
          </a:p>
        </p:txBody>
      </p:sp>
      <p:pic>
        <p:nvPicPr>
          <p:cNvPr id="47111" name="Picture 7" descr="A compound statement takes this form:&#10;{&#10;    statement_1&#10;    statement_2&#10;    .&#10;    .&#10;    .&#10;    statement_n&#10;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81200"/>
            <a:ext cx="231457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365125" y="4419600"/>
            <a:ext cx="8415338" cy="1142999"/>
          </a:xfrm>
        </p:spPr>
        <p:txBody>
          <a:bodyPr/>
          <a:lstStyle/>
          <a:p>
            <a:r>
              <a:rPr lang="en-US" altLang="en-US" dirty="0"/>
              <a:t>A compound statement functions like a single statement</a:t>
            </a:r>
          </a:p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Compound (Block of) Statements (2 of 2)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827202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638DAD"/>
                </a:solidFill>
                <a:latin typeface="Courier New" pitchFamily="49" charset="0"/>
              </a:rPr>
              <a:t>if</a:t>
            </a:r>
            <a:r>
              <a:rPr lang="en-US" altLang="en-US" sz="22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altLang="en-US" sz="2200" b="1" dirty="0">
                <a:latin typeface="Courier New" pitchFamily="49" charset="0"/>
              </a:rPr>
              <a:t>(age &gt; 18)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	   cout &lt;&lt; "Eligible to vote." &lt;&lt; endl;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    cout &lt;&lt; "No longer a minor." &lt;&lt; endl;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} 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638DAD"/>
                </a:solidFill>
                <a:latin typeface="Courier New" pitchFamily="49" charset="0"/>
              </a:rPr>
              <a:t>else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	   cout &lt;&lt; "Not eligible to vote." &lt;&lt; endl;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	   cout &lt;&lt; "Still a minor." &lt;&lt; endl;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2200" b="1" dirty="0">
                <a:latin typeface="Courier New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200" dirty="0">
              <a:latin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04142"/>
            <a:ext cx="8026400" cy="300467"/>
          </a:xfrm>
        </p:spPr>
        <p:txBody>
          <a:bodyPr/>
          <a:lstStyle/>
          <a:p>
            <a:pPr eaLnBrk="1" hangingPunct="1"/>
            <a:r>
              <a:rPr lang="en-US" altLang="en-US" dirty="0"/>
              <a:t>Multiple Selections: Nested </a:t>
            </a:r>
            <a:r>
              <a:rPr lang="en-US" altLang="en-US" dirty="0">
                <a:latin typeface="Courier New" pitchFamily="49" charset="0"/>
              </a:rPr>
              <a:t>if</a:t>
            </a:r>
            <a:r>
              <a:rPr lang="en-US" altLang="en-US" dirty="0">
                <a:latin typeface="+mn-lt"/>
              </a:rPr>
              <a:t> (1 of 2)</a:t>
            </a: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031051"/>
          </a:xfrm>
        </p:spPr>
        <p:txBody>
          <a:bodyPr/>
          <a:lstStyle/>
          <a:p>
            <a:r>
              <a:rPr lang="en-US" dirty="0"/>
              <a:t>When one control statement is located within another, it is said to be </a:t>
            </a:r>
            <a:r>
              <a:rPr lang="en-US" u="sng" dirty="0"/>
              <a:t>nested</a:t>
            </a:r>
            <a:endParaRPr lang="en-US" altLang="en-US" u="sng" dirty="0"/>
          </a:p>
          <a:p>
            <a:pPr eaLnBrk="1" hangingPunct="1">
              <a:tabLst>
                <a:tab pos="635000" algn="l"/>
              </a:tabLst>
            </a:pPr>
            <a:r>
              <a:rPr lang="en-US" altLang="en-US" dirty="0"/>
              <a:t>An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else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is associated with the most recent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if</a:t>
            </a:r>
            <a:r>
              <a:rPr lang="en-US" altLang="en-US" dirty="0"/>
              <a:t> that has not been paired with an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else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/>
              <a:t>Multiple Selections: Nested </a:t>
            </a:r>
            <a:r>
              <a:rPr lang="en-US" altLang="en-US" dirty="0">
                <a:latin typeface="Courier New" pitchFamily="49" charset="0"/>
              </a:rPr>
              <a:t>if</a:t>
            </a:r>
            <a:r>
              <a:rPr lang="en-US" altLang="en-US" dirty="0"/>
              <a:t> (2 of 2)</a:t>
            </a:r>
          </a:p>
        </p:txBody>
      </p:sp>
      <p:pic>
        <p:nvPicPr>
          <p:cNvPr id="50182" name="Picture 6" descr="Example 4-17 illustrates the use of a nested if structure to implement a multiple selection, in this case, assigning a letter grade based on scor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76675"/>
            <a:ext cx="6400800" cy="30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0" y="266605"/>
            <a:ext cx="8305800" cy="575542"/>
          </a:xfrm>
        </p:spPr>
        <p:txBody>
          <a:bodyPr/>
          <a:lstStyle/>
          <a:p>
            <a:pPr eaLnBrk="1" hangingPunct="1"/>
            <a:r>
              <a:rPr lang="en-US" altLang="en-US" dirty="0"/>
              <a:t>Comparing </a:t>
            </a:r>
            <a:r>
              <a:rPr lang="en-US" altLang="en-US" dirty="0">
                <a:latin typeface="Courier New" pitchFamily="49" charset="0"/>
              </a:rPr>
              <a:t>if…else</a:t>
            </a:r>
            <a:r>
              <a:rPr lang="en-US" altLang="en-US" dirty="0"/>
              <a:t> Statements with a Series of </a:t>
            </a:r>
            <a:r>
              <a:rPr lang="en-US" altLang="en-US" dirty="0">
                <a:latin typeface="Courier New" pitchFamily="49" charset="0"/>
              </a:rPr>
              <a:t>if</a:t>
            </a:r>
            <a:r>
              <a:rPr lang="en-US" altLang="en-US" dirty="0"/>
              <a:t> Statements (1 of 2)</a:t>
            </a:r>
          </a:p>
        </p:txBody>
      </p:sp>
      <p:pic>
        <p:nvPicPr>
          <p:cNvPr id="51208" name="Picture 8" descr="A C++ program segment written as a sequence of if...else statement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971675"/>
            <a:ext cx="5943600" cy="2877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0" y="404142"/>
            <a:ext cx="8229600" cy="300467"/>
          </a:xfrm>
        </p:spPr>
        <p:txBody>
          <a:bodyPr/>
          <a:lstStyle/>
          <a:p>
            <a:pPr eaLnBrk="1" hangingPunct="1"/>
            <a:r>
              <a:rPr lang="en-US" altLang="en-US" dirty="0"/>
              <a:t>Comparing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if…else</a:t>
            </a:r>
            <a:r>
              <a:rPr lang="en-US" altLang="en-US" dirty="0"/>
              <a:t> Statements with a Series of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en-US" dirty="0"/>
              <a:t> Statements (2 of 2)</a:t>
            </a:r>
          </a:p>
        </p:txBody>
      </p:sp>
      <p:pic>
        <p:nvPicPr>
          <p:cNvPr id="52230" name="Picture 6" descr="A C++ program segment written as a series of if statements. This code produces the same output as the previous cod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354" y="1943100"/>
            <a:ext cx="4191293" cy="288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10490"/>
            <a:ext cx="8026400" cy="287771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ourier New" pitchFamily="49" charset="0"/>
              </a:rPr>
              <a:t>switch</a:t>
            </a:r>
            <a:r>
              <a:rPr lang="en-US" altLang="en-US" dirty="0"/>
              <a:t> Structures (1 of 4)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3978275" cy="267765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u="sng" dirty="0"/>
              <a:t>switch structure</a:t>
            </a:r>
            <a:r>
              <a:rPr lang="en-US" altLang="en-US" dirty="0"/>
              <a:t> is an alternate </a:t>
            </a:r>
            <a:br>
              <a:rPr lang="en-US" altLang="en-US" dirty="0"/>
            </a:br>
            <a:r>
              <a:rPr lang="en-US" altLang="en-US" dirty="0"/>
              <a:t>to </a:t>
            </a:r>
            <a:r>
              <a:rPr lang="en-US" altLang="en-US" b="1" dirty="0">
                <a:latin typeface="Courier New" pitchFamily="49" charset="0"/>
              </a:rPr>
              <a:t>if-else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switch</a:t>
            </a:r>
            <a:r>
              <a:rPr lang="en-US" altLang="en-US" dirty="0"/>
              <a:t> (integral) expression is evaluated first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Value of the expression determines which corresponding action is taken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Expression is sometimes called the </a:t>
            </a:r>
            <a:r>
              <a:rPr lang="en-US" altLang="en-US" u="sng" dirty="0"/>
              <a:t>selector</a:t>
            </a:r>
          </a:p>
        </p:txBody>
      </p:sp>
      <p:pic>
        <p:nvPicPr>
          <p:cNvPr id="63495" name="Picture 7" descr="switch (expression)&#10;{&#10;    case value1:&#10;    statements1&#10;    break;&#10;    case value2:&#10;    statements2&#10;    break;&#10;    .&#10;    .&#10;    .&#10;    case valuen:&#10;    statementsn&#10;    break;&#10;    default:&#10;    statements&#10;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524000"/>
            <a:ext cx="27432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en-US" dirty="0"/>
              <a:t> Structures (2 of 4)</a:t>
            </a:r>
          </a:p>
        </p:txBody>
      </p:sp>
      <p:pic>
        <p:nvPicPr>
          <p:cNvPr id="158722" name="Picture 2" descr="Figure 4-4 shows the flow of execution of a switch statemen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597" y="1219200"/>
            <a:ext cx="542640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57200" y="4724400"/>
            <a:ext cx="2438400" cy="501676"/>
          </a:xfrm>
        </p:spPr>
        <p:txBody>
          <a:bodyPr/>
          <a:lstStyle/>
          <a:p>
            <a:r>
              <a:rPr lang="en-US" b="1" dirty="0"/>
              <a:t>FIGURE 4-4 </a:t>
            </a:r>
            <a:r>
              <a:rPr 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b="1" dirty="0">
                <a:solidFill>
                  <a:srgbClr val="638DAD"/>
                </a:solidFill>
              </a:rPr>
              <a:t> </a:t>
            </a:r>
            <a:r>
              <a:rPr lang="en-US" dirty="0"/>
              <a:t>statement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723062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en-US" dirty="0"/>
              <a:t> Structures (3 of 4)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662267"/>
          </a:xfrm>
        </p:spPr>
        <p:txBody>
          <a:bodyPr/>
          <a:lstStyle/>
          <a:p>
            <a:r>
              <a:rPr lang="en-US" altLang="en-US" dirty="0"/>
              <a:t>One or more statements may follow a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en-US" dirty="0"/>
              <a:t> label</a:t>
            </a:r>
          </a:p>
          <a:p>
            <a:r>
              <a:rPr lang="en-US" altLang="en-US" dirty="0"/>
              <a:t>Braces are not needed to turn multiple statements into a single compound statement</a:t>
            </a:r>
          </a:p>
          <a:p>
            <a:r>
              <a:rPr lang="en-US" altLang="en-US" dirty="0"/>
              <a:t>When a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en-US" dirty="0"/>
              <a:t> value is matched, all statements after it execute until a break is encountered</a:t>
            </a:r>
          </a:p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en-US" dirty="0"/>
              <a:t> statement may or may not appear after each statement</a:t>
            </a:r>
          </a:p>
          <a:p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altLang="en-US" dirty="0"/>
              <a:t> are reserved words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en-US" dirty="0"/>
              <a:t> Structures (4 of 4)</a:t>
            </a:r>
            <a:endParaRPr lang="en-US" dirty="0"/>
          </a:p>
        </p:txBody>
      </p:sp>
      <p:pic>
        <p:nvPicPr>
          <p:cNvPr id="66566" name="Picture 6" descr="Example 4-22 is an example of C++ code implementing the switch statemen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311118"/>
            <a:ext cx="6400800" cy="4556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 Review (1 of 3)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081339"/>
          </a:xfrm>
        </p:spPr>
        <p:txBody>
          <a:bodyPr/>
          <a:lstStyle/>
          <a:p>
            <a:pPr eaLnBrk="1" hangingPunct="1"/>
            <a:r>
              <a:rPr lang="en-US" altLang="en-US" dirty="0"/>
              <a:t>Control structures alter normal control flow</a:t>
            </a:r>
          </a:p>
          <a:p>
            <a:pPr eaLnBrk="1" hangingPunct="1"/>
            <a:r>
              <a:rPr lang="en-US" altLang="en-US" dirty="0"/>
              <a:t>Most common control structures are selection and repetition</a:t>
            </a:r>
          </a:p>
          <a:p>
            <a:pPr eaLnBrk="1" hangingPunct="1"/>
            <a:r>
              <a:rPr lang="en-US" altLang="en-US" dirty="0"/>
              <a:t>Relational operators: </a:t>
            </a:r>
            <a:r>
              <a:rPr lang="en-US" altLang="en-US" b="1" dirty="0">
                <a:latin typeface="Courier New" pitchFamily="49" charset="0"/>
              </a:rPr>
              <a:t>==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&lt;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&lt;=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&gt;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&gt;=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itchFamily="49" charset="0"/>
              </a:rPr>
              <a:t>!=</a:t>
            </a:r>
          </a:p>
          <a:p>
            <a:pPr eaLnBrk="1" hangingPunct="1"/>
            <a:r>
              <a:rPr lang="en-US" altLang="en-US" dirty="0"/>
              <a:t>Logical expressions evaluate to </a:t>
            </a:r>
            <a:r>
              <a:rPr lang="en-US" altLang="en-US" b="1" dirty="0">
                <a:latin typeface="Courier New" pitchFamily="49" charset="0"/>
              </a:rPr>
              <a:t>1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true</a:t>
            </a:r>
            <a:r>
              <a:rPr lang="en-US" altLang="en-US" dirty="0"/>
              <a:t>) or </a:t>
            </a:r>
            <a:r>
              <a:rPr lang="en-US" altLang="en-US" b="1" dirty="0">
                <a:latin typeface="Courier New" pitchFamily="49" charset="0"/>
              </a:rPr>
              <a:t>0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false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dirty="0"/>
              <a:t>Logical operators: </a:t>
            </a:r>
            <a:r>
              <a:rPr lang="en-US" altLang="en-US" b="1" dirty="0">
                <a:latin typeface="Courier New" pitchFamily="49" charset="0"/>
              </a:rPr>
              <a:t>!</a:t>
            </a:r>
            <a:r>
              <a:rPr lang="en-US" altLang="en-US" dirty="0"/>
              <a:t> (not), </a:t>
            </a:r>
            <a:r>
              <a:rPr lang="en-US" altLang="en-US" b="1" dirty="0">
                <a:latin typeface="Courier New" pitchFamily="49" charset="0"/>
              </a:rPr>
              <a:t>&amp;&amp;</a:t>
            </a:r>
            <a:r>
              <a:rPr lang="en-US" altLang="en-US" dirty="0"/>
              <a:t> (and), </a:t>
            </a:r>
            <a:r>
              <a:rPr lang="en-US" altLang="en-US" b="1" dirty="0">
                <a:latin typeface="Courier New" pitchFamily="49" charset="0"/>
              </a:rPr>
              <a:t>||</a:t>
            </a:r>
            <a:r>
              <a:rPr lang="en-US" altLang="en-US" dirty="0"/>
              <a:t> (or)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(2 of 3)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2585323"/>
          </a:xfrm>
        </p:spPr>
        <p:txBody>
          <a:bodyPr/>
          <a:lstStyle/>
          <a:p>
            <a:pPr eaLnBrk="1" hangingPunct="1"/>
            <a:r>
              <a:rPr lang="en-US" altLang="en-US" dirty="0"/>
              <a:t>Two selection structures are one-way selection and two-way selection</a:t>
            </a:r>
          </a:p>
          <a:p>
            <a:pPr eaLnBrk="1" hangingPunct="1"/>
            <a:r>
              <a:rPr lang="en-US" altLang="en-US" dirty="0"/>
              <a:t>The expression in an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if</a:t>
            </a:r>
            <a:r>
              <a:rPr lang="en-US" altLang="en-US" dirty="0">
                <a:solidFill>
                  <a:srgbClr val="638DAD"/>
                </a:solidFill>
              </a:rPr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if...else </a:t>
            </a:r>
            <a:r>
              <a:rPr lang="en-US" altLang="en-US" dirty="0"/>
              <a:t>structure is usually a logical expression</a:t>
            </a:r>
          </a:p>
          <a:p>
            <a:pPr eaLnBrk="1" hangingPunct="1"/>
            <a:r>
              <a:rPr lang="en-US" altLang="en-US" dirty="0"/>
              <a:t>No stand-alone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else</a:t>
            </a:r>
            <a:r>
              <a:rPr lang="en-US" altLang="en-US" dirty="0"/>
              <a:t> statement exists in C++</a:t>
            </a:r>
          </a:p>
          <a:p>
            <a:pPr lvl="1" eaLnBrk="1" hangingPunct="1"/>
            <a:r>
              <a:rPr lang="en-US" altLang="en-US" dirty="0"/>
              <a:t>Every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/>
              <a:t> has a related </a:t>
            </a:r>
            <a:r>
              <a:rPr lang="en-US" altLang="en-US" b="1" dirty="0">
                <a:solidFill>
                  <a:srgbClr val="638D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 eaLnBrk="1" hangingPunct="1"/>
            <a:r>
              <a:rPr lang="en-US" altLang="en-US" dirty="0"/>
              <a:t>A sequence of statements enclosed between braces, </a:t>
            </a:r>
            <a:r>
              <a:rPr lang="en-US" altLang="en-US" b="1" dirty="0">
                <a:latin typeface="Courier New" pitchFamily="49" charset="0"/>
              </a:rPr>
              <a:t>{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}</a:t>
            </a:r>
            <a:r>
              <a:rPr lang="en-US" altLang="en-US" dirty="0"/>
              <a:t>, is called a compound statement or a block of statements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Quick Review (3 of 3)</a:t>
            </a:r>
          </a:p>
        </p:txBody>
      </p:sp>
      <p:sp>
        <p:nvSpPr>
          <p:cNvPr id="73731" name="Rectangle 5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1635063"/>
          </a:xfrm>
        </p:spPr>
        <p:txBody>
          <a:bodyPr/>
          <a:lstStyle/>
          <a:p>
            <a:pPr eaLnBrk="1" hangingPunct="1"/>
            <a:r>
              <a:rPr lang="en-US" altLang="en-US" dirty="0"/>
              <a:t>Using assignment in place of the equality operator creates a semantic error</a:t>
            </a:r>
          </a:p>
          <a:p>
            <a:pPr eaLnBrk="1" hangingPunct="1"/>
            <a:r>
              <a:rPr lang="en-US" altLang="en-US" dirty="0"/>
              <a:t>The execution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switch</a:t>
            </a:r>
            <a:r>
              <a:rPr lang="en-US" altLang="en-US" dirty="0"/>
              <a:t> structure handles multiway selection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The execution of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break</a:t>
            </a:r>
            <a:r>
              <a:rPr lang="en-US" altLang="en-US" dirty="0"/>
              <a:t> statement ends a </a:t>
            </a:r>
            <a:r>
              <a:rPr lang="en-US" altLang="en-US" b="1" dirty="0">
                <a:solidFill>
                  <a:srgbClr val="638DAD"/>
                </a:solidFill>
                <a:latin typeface="Courier New" pitchFamily="49" charset="0"/>
              </a:rPr>
              <a:t>switch</a:t>
            </a:r>
            <a:r>
              <a:rPr lang="en-US" altLang="en-US" dirty="0"/>
              <a:t> statement</a:t>
            </a:r>
          </a:p>
          <a:p>
            <a:pPr eaLnBrk="1" hangingPunct="1"/>
            <a:r>
              <a:rPr lang="en-US" altLang="en-US" dirty="0"/>
              <a:t>Use </a:t>
            </a:r>
            <a:r>
              <a:rPr lang="en-US" altLang="en-US" b="1" dirty="0">
                <a:latin typeface="Courier New" pitchFamily="49" charset="0"/>
              </a:rPr>
              <a:t>assert</a:t>
            </a:r>
            <a:r>
              <a:rPr lang="en-US" altLang="en-US" dirty="0"/>
              <a:t> to terminate a program if certain conditions are not met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alik_cpp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8014</TotalTime>
  <Words>3936</Words>
  <Application>Microsoft Office PowerPoint</Application>
  <PresentationFormat>On-screen Show (4:3)</PresentationFormat>
  <Paragraphs>361</Paragraphs>
  <Slides>43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Courier New</vt:lpstr>
      <vt:lpstr>Malik_cpp</vt:lpstr>
      <vt:lpstr>Chapter 4</vt:lpstr>
      <vt:lpstr>Objectives (1 of 2)</vt:lpstr>
      <vt:lpstr>Objectives (2 of 2)</vt:lpstr>
      <vt:lpstr>Control Structures (1 of 2)</vt:lpstr>
      <vt:lpstr>Control Structures (2 of 2)</vt:lpstr>
      <vt:lpstr>Selection: if and if...else</vt:lpstr>
      <vt:lpstr>Relational Operators</vt:lpstr>
      <vt:lpstr>Relational Operators and Simple Data Types</vt:lpstr>
      <vt:lpstr>Comparing Characters</vt:lpstr>
      <vt:lpstr>One-Way Selection (1 of 2)</vt:lpstr>
      <vt:lpstr>One-Way Selection (2 of 2)</vt:lpstr>
      <vt:lpstr>Two-Way Selection (1 of 2)</vt:lpstr>
      <vt:lpstr>Two-Way Selection (2 of 2)</vt:lpstr>
      <vt:lpstr>int Data Type and Logical (Boolean) Expressions</vt:lpstr>
      <vt:lpstr>bool Data Type and Logical (Boolean) Expressions</vt:lpstr>
      <vt:lpstr>Logical (Boolean) Operators and Logical Expressions (1 of 5)</vt:lpstr>
      <vt:lpstr>Logical (Boolean) Operators and Logical Expressions (2 of 5)</vt:lpstr>
      <vt:lpstr>Logical (Boolean) Operators and Logical Expressions (3 of 5)</vt:lpstr>
      <vt:lpstr>Logical (Boolean) Operators and Logical Expressions (4 of 5)</vt:lpstr>
      <vt:lpstr>Logical (Boolean) Operators and Logical Expressions (5 of 5)</vt:lpstr>
      <vt:lpstr>Order of Precedence (1 of 5)</vt:lpstr>
      <vt:lpstr>Order of Precedence (2 of 5)</vt:lpstr>
      <vt:lpstr>Order of Precedence (3 of 5)</vt:lpstr>
      <vt:lpstr>Order of Precedence (4 of 5)</vt:lpstr>
      <vt:lpstr>Order of Precedence (5 of 5)</vt:lpstr>
      <vt:lpstr>Relational Operators and the string Type (1 of 5)</vt:lpstr>
      <vt:lpstr>Relational Operators and the string Type (2 of 5)</vt:lpstr>
      <vt:lpstr>Relational Operators and the string Type (3 of 5)</vt:lpstr>
      <vt:lpstr>Relational Operators and the string Type (4 of 5)</vt:lpstr>
      <vt:lpstr>Relational Operators and the string Type (5 of 5)</vt:lpstr>
      <vt:lpstr>Compound (Block of) Statements (1 of 2)</vt:lpstr>
      <vt:lpstr>Compound (Block of) Statements (2 of 2)</vt:lpstr>
      <vt:lpstr>Multiple Selections: Nested if (1 of 2)</vt:lpstr>
      <vt:lpstr>Multiple Selections: Nested if (2 of 2)</vt:lpstr>
      <vt:lpstr>Comparing if…else Statements with a Series of if Statements (1 of 2)</vt:lpstr>
      <vt:lpstr>Comparing if…else Statements with a Series of if Statements (2 of 2)</vt:lpstr>
      <vt:lpstr>switch Structures (1 of 4)</vt:lpstr>
      <vt:lpstr>switch Structures (2 of 4)</vt:lpstr>
      <vt:lpstr>switch Structures (3 of 4)</vt:lpstr>
      <vt:lpstr>switch Structures (4 of 4)</vt:lpstr>
      <vt:lpstr>Quick Review (1 of 3)</vt:lpstr>
      <vt:lpstr>Quick Review (2 of 3)</vt:lpstr>
      <vt:lpstr>Quick Review (3 of 3)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Programming:   Program Design Including  Data Structures, Fifth Edition</dc:title>
  <dc:creator>Ang</dc:creator>
  <cp:lastModifiedBy>Windows User</cp:lastModifiedBy>
  <cp:revision>402</cp:revision>
  <cp:lastPrinted>2009-04-22T19:24:48Z</cp:lastPrinted>
  <dcterms:created xsi:type="dcterms:W3CDTF">2002-07-27T03:19:07Z</dcterms:created>
  <dcterms:modified xsi:type="dcterms:W3CDTF">2020-01-06T06:24:53Z</dcterms:modified>
</cp:coreProperties>
</file>